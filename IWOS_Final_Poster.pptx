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8346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32918400" cy="91440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65760"/>
            <a:ext cx="3474720" cy="2011680"/>
          </a:xfrm>
          <a:prstGeom prst="roundRect">
            <a:avLst/>
          </a:prstGeom>
          <a:solidFill>
            <a:srgbClr val="0E1F35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ABFBF"/>
                </a:solidFill>
              </a:rPr>
              <a:t>GEORGIAN
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AA"/>
                </a:solidFill>
              </a:rPr>
              <a:t>← replace with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56032"/>
            <a:ext cx="24231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</a:rPr>
              <a:t>INTELLIGENT TALENT-TO-PROJECT ALIGNMENT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2423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ABFBF"/>
                </a:solidFill>
              </a:rPr>
              <a:t>A Data-Driven Framework for Optimizing Technical Workforce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67712"/>
            <a:ext cx="2423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0DC"/>
                </a:solidFill>
              </a:rPr>
              <a:t>Femachi Ajoku  &amp;  Peter Egessa   ·   Georgian College   ·   RISE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0" y="365760"/>
            <a:ext cx="3886200" cy="2011680"/>
          </a:xfrm>
          <a:prstGeom prst="roundRect">
            <a:avLst/>
          </a:prstGeom>
          <a:solidFill>
            <a:srgbClr val="0E1F35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49320" y="457200"/>
            <a:ext cx="3611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2ABFBF"/>
                </a:solidFill>
              </a:rPr>
              <a:t>RISE
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49320" y="153619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DC"/>
                </a:solidFill>
              </a:rPr>
              <a:t>Innovation Showcase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94592" y="2999232"/>
            <a:ext cx="36576" cy="1828800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78872" y="2999232"/>
            <a:ext cx="36576" cy="1828800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3136392"/>
            <a:ext cx="11155680" cy="850392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" y="3337560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3337560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3822192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  SECTION 1 — PROBLEM STATEMENT  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959352"/>
            <a:ext cx="3523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361688"/>
            <a:ext cx="35234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Modern organizations rely on static proxies — résumés, job titles, and years of experience — to assign talent to projects. These fail to reflect real, current technical capability.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6136" y="3959352"/>
            <a:ext cx="3523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9288" y="4361688"/>
            <a:ext cx="3432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Mismatched teams &amp; reduced project velocity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9288" y="4754880"/>
            <a:ext cx="3432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Keyword-based vs. competency-based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9288" y="5148072"/>
            <a:ext cx="3432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Underutilized talent &amp; generic training waste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9288" y="5541264"/>
            <a:ext cx="3432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No feedback loop from past allocation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1064" y="3959352"/>
            <a:ext cx="3523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Industry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51064" y="4361688"/>
            <a:ext cx="3523488" cy="749808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0792" y="4453128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BFBF"/>
                </a:solidFill>
              </a:rPr>
              <a:t>"Platforms like Jira and Asana track tasks — not talent. The gap is wide open."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11804904"/>
            <a:ext cx="11155680" cy="822960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" y="12006072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" y="12006072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208" y="12490704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12070080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🧩  SECTION 3 — PROPOSED SOLUTION  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12627864"/>
            <a:ext cx="5294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Concept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0176" y="12627864"/>
            <a:ext cx="5294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13011912"/>
            <a:ext cx="5294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An intelligent closed-loop allocation framework continuously evaluates live skill profiles and dynamically aligns them to evolving project requirements.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176" y="13011912"/>
            <a:ext cx="5294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Instead of static assignment: every project cycle feeds performance data back into the model — improving future accuracy automatically.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13908024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" y="14310360"/>
            <a:ext cx="2240280" cy="129844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14356080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9AA"/>
                </a:solidFill>
              </a:rP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1481328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
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1527962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Raw skills &amp;
requirements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36392" y="1476756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83864" y="14310360"/>
            <a:ext cx="2240280" cy="129844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83864" y="14356080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8A8A"/>
                </a:solidFill>
              </a:rP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83864" y="1481328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COMPETENCY
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3864" y="1527962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Multi-factor
scoring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1476756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71616" y="14310360"/>
            <a:ext cx="2240280" cy="129844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71616" y="14356080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71616" y="1481328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MATCHING
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71616" y="1527962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Profile
alignment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1476756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59368" y="14310360"/>
            <a:ext cx="2240280" cy="129844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9368" y="14356080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CAF50"/>
                </a:solidFill>
              </a:rPr>
              <a:t>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481328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ASSIGNMENT
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9368" y="1527962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Optimized
teams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32154" y="15700248"/>
            <a:ext cx="9331452" cy="36576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32154" y="15700248"/>
            <a:ext cx="36576" cy="25603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27030" y="15700248"/>
            <a:ext cx="36576" cy="25603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77874" y="1570024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9286" y="1570024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9626" y="15700248"/>
            <a:ext cx="89474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ABFBF"/>
                </a:solidFill>
              </a:rPr>
              <a:t>↺  Feedback Loop — project outcomes continuously refine model parameters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" y="16139160"/>
            <a:ext cx="10753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Module Descriptions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" y="16504920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📥  Input 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8" y="1683410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Captures skills &amp; project requirements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9544" y="16504920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◉  Competency Eval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9544" y="1683410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Processes multi-factor capability indicators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16504920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⬡  Matching Engine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80" y="1683410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Aligns individuals to tasks via live profiles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86216" y="16504920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↺  Feedback Loop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86216" y="1683410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Continuously improves alignment accuracy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0040" y="20199096"/>
            <a:ext cx="11155680" cy="950976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1208" y="20400264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21208" y="20400264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1208" y="20884896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20464272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💡  SECTION 5 — INNOVATION  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1208" y="21022056"/>
            <a:ext cx="2642616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2106777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9AA"/>
                </a:solidFill>
              </a:rPr>
              <a:t>Traditional Methods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63824" y="21022056"/>
            <a:ext cx="2642616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36976" y="2106777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Our Dynamic 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" y="21406104"/>
            <a:ext cx="5285232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1208" y="21406104"/>
            <a:ext cx="5285232" cy="1371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21470112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✗  Static résumé-based assignment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36976" y="21470112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✓  Dynamic competency-based alignment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1208" y="21845016"/>
            <a:ext cx="5285232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1208" y="21845016"/>
            <a:ext cx="5285232" cy="1371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21909024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✗  Keyword-based matching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6976" y="21909024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✓  Multi-dimensional skill scoring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1208" y="22283928"/>
            <a:ext cx="5285232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21208" y="22283928"/>
            <a:ext cx="5285232" cy="1371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22347936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✗  Manual, gut-feel decisions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36976" y="22347936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✓  Data-driven, automated framework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1208" y="22722840"/>
            <a:ext cx="5285232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21208" y="22722840"/>
            <a:ext cx="5285232" cy="1371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360" y="22786848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✗  No adaptability after assignment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36976" y="22786848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✓  Continuous, iterative optimization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1208" y="23161752"/>
            <a:ext cx="5285232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21208" y="23161752"/>
            <a:ext cx="5285232" cy="1371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4360" y="23225760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✗  Siloed learning &amp; HR systems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36976" y="23225760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✓  Unified closed-loop intelligence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89320" y="21040344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Innovations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80760" y="2142439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Intelligent interpretation of real technical capability — not surface credentials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80760" y="21845016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Dynamic responsiveness to evolving project complexity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80760" y="2226564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Integration of evaluation, assignment &amp; learning into one unified system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0760" y="22686264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Proprietary competency engine shielded for competitive protection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704320" y="3136392"/>
            <a:ext cx="11155680" cy="507492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905488" y="3337560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905488" y="3337560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905488" y="3822192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042648" y="3401568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  SECTION 2 — OBJECTIVES  ⚙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905488" y="3959352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14" name="Oval 113"/>
          <p:cNvSpPr/>
          <p:nvPr/>
        </p:nvSpPr>
        <p:spPr>
          <a:xfrm>
            <a:off x="11905488" y="4425696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905488" y="4425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89536" y="4361688"/>
            <a:ext cx="10341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Evaluate multi-dimensional technical competencies beyond résumés and titles</a:t>
            </a:r>
          </a:p>
        </p:txBody>
      </p:sp>
      <p:sp>
        <p:nvSpPr>
          <p:cNvPr id="117" name="Oval 116"/>
          <p:cNvSpPr/>
          <p:nvPr/>
        </p:nvSpPr>
        <p:spPr>
          <a:xfrm>
            <a:off x="11905488" y="4901184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905488" y="49011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289536" y="4837176"/>
            <a:ext cx="10341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Enable dynamic, real-time matching of skill profiles to active project requirements</a:t>
            </a:r>
          </a:p>
        </p:txBody>
      </p:sp>
      <p:sp>
        <p:nvSpPr>
          <p:cNvPr id="120" name="Oval 119"/>
          <p:cNvSpPr/>
          <p:nvPr/>
        </p:nvSpPr>
        <p:spPr>
          <a:xfrm>
            <a:off x="11905488" y="5376672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905488" y="5376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289536" y="5312664"/>
            <a:ext cx="10341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Reduce team formation time while improving assignment accuracy and scalability</a:t>
            </a:r>
          </a:p>
        </p:txBody>
      </p:sp>
      <p:sp>
        <p:nvSpPr>
          <p:cNvPr id="123" name="Oval 122"/>
          <p:cNvSpPr/>
          <p:nvPr/>
        </p:nvSpPr>
        <p:spPr>
          <a:xfrm>
            <a:off x="11905488" y="5852160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05488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289536" y="5788152"/>
            <a:ext cx="10341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Introduce a continuous feedback loop that refines allocation decisions over time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704320" y="8375904"/>
            <a:ext cx="11155680" cy="690372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905488" y="8577072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905488" y="8577072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905488" y="9061704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042648" y="8641080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🔧  SECTION 4 — METHODOLOGY  🔧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905488" y="9198864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905488" y="9601200"/>
            <a:ext cx="107533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A structured, multi-factor evaluation framework assesses alignment between individuals and project requirements using iterative feedback to sharpen matching accuracy over time.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905488" y="10479024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Methodological Elements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1905488" y="10881360"/>
            <a:ext cx="10753344" cy="713232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042648" y="10972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◉  Assessment: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420088" y="10972800"/>
            <a:ext cx="8101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Structured scoring across 6+ technical skill dimensions — depth &amp; breadth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905488" y="11722608"/>
            <a:ext cx="10753344" cy="713232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042648" y="11814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🔍  Pattern Analysis: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420088" y="11814048"/>
            <a:ext cx="8101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Evaluates skill relevance relative to real, live project context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905488" y="12563856"/>
            <a:ext cx="10753344" cy="713232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042648" y="126552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🎯  Adaptive Matching: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420088" y="12655296"/>
            <a:ext cx="8101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Aligns individuals to tasks using live profile data, not static records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905488" y="13405104"/>
            <a:ext cx="10753344" cy="713232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042648" y="13496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↺  Iterative Refinement: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420088" y="13496544"/>
            <a:ext cx="8101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Feedback integration sharpens model accuracy with every project cycle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905488" y="14337792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Rigor &amp; Feasibility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996928" y="14740128"/>
            <a:ext cx="10661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Scalable across teams, departments, and organizations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96928" y="15142464"/>
            <a:ext cx="10661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Compatible with existing PM ecosystems (Jira, Asana, etc.)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996928" y="15544800"/>
            <a:ext cx="10661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Supports real-time decision-making environments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905488" y="16038576"/>
            <a:ext cx="10753344" cy="713232"/>
          </a:xfrm>
          <a:prstGeom prst="roundRect">
            <a:avLst/>
          </a:prstGeom>
          <a:solidFill>
            <a:srgbClr val="0D3B4B"/>
          </a:solidFill>
          <a:ln w="15240">
            <a:solidFill>
              <a:srgbClr val="E8B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042648" y="16166592"/>
            <a:ext cx="10524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B931"/>
                </a:solidFill>
              </a:rPr>
              <a:t>🔒  Certain technical components are proprietary and have been intentionally abstracted.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704320" y="15444216"/>
            <a:ext cx="11155680" cy="5705856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905488" y="15645384"/>
            <a:ext cx="1075334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905488" y="15645384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905488" y="16130016"/>
            <a:ext cx="1075334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042648" y="15709392"/>
            <a:ext cx="10524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🌍  SECTION 6 — REAL-WORLD IMPACT  🌍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905488" y="16267176"/>
            <a:ext cx="10753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Expected Outcomes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905488" y="16669512"/>
            <a:ext cx="3493008" cy="120700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905488" y="1672437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0">
                <a:solidFill>
                  <a:srgbClr val="2ABFBF"/>
                </a:solidFill>
              </a:rPr>
              <a:t>📉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905488" y="17181576"/>
            <a:ext cx="34930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Reduced Team Formation Time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416784" y="171450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5535656" y="16669512"/>
            <a:ext cx="3493008" cy="120700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5535656" y="1672437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0">
                <a:solidFill>
                  <a:srgbClr val="1A8A8A"/>
                </a:solidFill>
              </a:rPr>
              <a:t>⚡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535656" y="17181576"/>
            <a:ext cx="34930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Enhanced Workforce Utilization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9046952" y="171450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9165824" y="16669512"/>
            <a:ext cx="3493008" cy="1207008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9165824" y="1672437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0">
                <a:solidFill>
                  <a:srgbClr val="4CAF50"/>
                </a:solidFill>
              </a:rPr>
              <a:t>📈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9165824" y="17181576"/>
            <a:ext cx="34930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Higher Project Success Rates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996928" y="18041112"/>
            <a:ext cx="10753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↑  Higher project success via skill-matched team formation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996928" y="18443448"/>
            <a:ext cx="10753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↓  Reduced time-to-team-formation vs. manual assignment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996928" y="18845784"/>
            <a:ext cx="10753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🎯  Personalized learning paths accelerate individual expertise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996928" y="19248120"/>
            <a:ext cx="10753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🔄  Continuous loop eliminates stale team configurations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905488" y="19741896"/>
            <a:ext cx="10753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814048" y="20107656"/>
            <a:ext cx="11018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Software engineering &amp; product teams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814048" y="20537424"/>
            <a:ext cx="11018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IT service &amp; support organizations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814048" y="20967192"/>
            <a:ext cx="11018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Technical training &amp; upskilling platforms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905488" y="21488400"/>
            <a:ext cx="10753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Societal Relevance — United Nations SDGs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1905488" y="21854160"/>
            <a:ext cx="2585466" cy="1024128"/>
          </a:xfrm>
          <a:prstGeom prst="roundRect">
            <a:avLst/>
          </a:prstGeom>
          <a:solidFill>
            <a:srgbClr val="A21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905488" y="21927312"/>
            <a:ext cx="2585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8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905488" y="22402800"/>
            <a:ext cx="258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Decent Work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4628114" y="21854160"/>
            <a:ext cx="2585466" cy="1024128"/>
          </a:xfrm>
          <a:prstGeom prst="roundRect">
            <a:avLst/>
          </a:prstGeom>
          <a:solidFill>
            <a:srgbClr val="FD6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4628114" y="21927312"/>
            <a:ext cx="2585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9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628114" y="22402800"/>
            <a:ext cx="258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Innovation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7350740" y="21854160"/>
            <a:ext cx="2585466" cy="1024128"/>
          </a:xfrm>
          <a:prstGeom prst="roundRect">
            <a:avLst/>
          </a:prstGeom>
          <a:solidFill>
            <a:srgbClr val="C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7350740" y="21927312"/>
            <a:ext cx="2585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7350740" y="22402800"/>
            <a:ext cx="258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0073366" y="21854160"/>
            <a:ext cx="2585466" cy="1024128"/>
          </a:xfrm>
          <a:prstGeom prst="roundRect">
            <a:avLst/>
          </a:prstGeom>
          <a:solidFill>
            <a:srgbClr val="DD1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0073366" y="21927312"/>
            <a:ext cx="2585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0073366" y="22402800"/>
            <a:ext cx="258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Equality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3088600" y="3136392"/>
            <a:ext cx="9509760" cy="950976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3289768" y="3337560"/>
            <a:ext cx="910742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3289768" y="3337560"/>
            <a:ext cx="910742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23289768" y="3822192"/>
            <a:ext cx="910742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3426928" y="3401568"/>
            <a:ext cx="8878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SECTION 7 — ENTREPRENEURIAL THINKING  🚀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3289768" y="3959352"/>
            <a:ext cx="9107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Problem-Solving Approach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3381208" y="4343400"/>
            <a:ext cx="9107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Identifies inefficiency gap in workforce allocation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3381208" y="4745736"/>
            <a:ext cx="9107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Applies structured analytical thinking to redesign the assignment process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3381208" y="5148072"/>
            <a:ext cx="9107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Bridges gap between technical capability and project demand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3289768" y="5660136"/>
            <a:ext cx="9107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3289768" y="6044184"/>
            <a:ext cx="9107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Clear market gap: no existing tool unifies skill assessment + team formation + adaptive learning into one continuous intelligence loop.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3289768" y="6885432"/>
            <a:ext cx="2944368" cy="1508760"/>
          </a:xfrm>
          <a:prstGeom prst="roundRect">
            <a:avLst/>
          </a:prstGeom>
          <a:solidFill>
            <a:srgbClr val="10253E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3289768" y="6940296"/>
            <a:ext cx="29443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📈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3289768" y="7397496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Growing demand
for intelligent
workforce tools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26371296" y="6885432"/>
            <a:ext cx="2944368" cy="1508760"/>
          </a:xfrm>
          <a:prstGeom prst="roundRect">
            <a:avLst/>
          </a:prstGeom>
          <a:solidFill>
            <a:srgbClr val="10253E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6371296" y="6940296"/>
            <a:ext cx="29443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🔌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6371296" y="7397496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Enterprise API
integrations
(Jira, Workday)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29452824" y="6885432"/>
            <a:ext cx="2944368" cy="1508760"/>
          </a:xfrm>
          <a:prstGeom prst="roundRect">
            <a:avLst/>
          </a:prstGeom>
          <a:solidFill>
            <a:srgbClr val="10253E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9452824" y="6940296"/>
            <a:ext cx="29443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☁️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9452824" y="7397496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Scalable SaaS
subscription
deployment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3289768" y="8549640"/>
            <a:ext cx="9107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Competitive Moat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3198328" y="8933688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Proprietary competency evaluation engine (intentionally abstracted)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3198328" y="9363456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Target: upskilling companies, enterprise HR tech, training platforms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3198328" y="9793224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Compatible with REST API layer → Jira, Workday, SAP SuccessFactors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3289768" y="10332720"/>
            <a:ext cx="9107424" cy="658368"/>
          </a:xfrm>
          <a:prstGeom prst="roundRect">
            <a:avLst/>
          </a:prstGeom>
          <a:solidFill>
            <a:srgbClr val="0D3B4B"/>
          </a:solidFill>
          <a:ln w="1397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3426928" y="10442448"/>
            <a:ext cx="8906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BFBF"/>
                </a:solidFill>
              </a:rPr>
              <a:t>🌐  Deployable as a SaaS platform with tiered subscription by team size and usage volume.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23088600" y="12810744"/>
            <a:ext cx="9509760" cy="475488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3289768" y="13011912"/>
            <a:ext cx="910742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3289768" y="13011912"/>
            <a:ext cx="910742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3289768" y="13496544"/>
            <a:ext cx="9107424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3426928" y="13075920"/>
            <a:ext cx="8878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SECTION 8 — FUTURE WORK  🎯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3289768" y="13633704"/>
            <a:ext cx="9107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222" name="Oval 221"/>
          <p:cNvSpPr/>
          <p:nvPr/>
        </p:nvSpPr>
        <p:spPr>
          <a:xfrm>
            <a:off x="23289768" y="14100048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3289768" y="14100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3673816" y="14036040"/>
            <a:ext cx="8695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Refine proprietary evaluation models using live organizational datasets</a:t>
            </a:r>
          </a:p>
        </p:txBody>
      </p:sp>
      <p:sp>
        <p:nvSpPr>
          <p:cNvPr id="225" name="Oval 224"/>
          <p:cNvSpPr/>
          <p:nvPr/>
        </p:nvSpPr>
        <p:spPr>
          <a:xfrm>
            <a:off x="23289768" y="14593824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289768" y="145938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3673816" y="14529816"/>
            <a:ext cx="8695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Expand system with real-world pilot testing across 2–3 partner companies</a:t>
            </a:r>
          </a:p>
        </p:txBody>
      </p:sp>
      <p:sp>
        <p:nvSpPr>
          <p:cNvPr id="228" name="Oval 227"/>
          <p:cNvSpPr/>
          <p:nvPr/>
        </p:nvSpPr>
        <p:spPr>
          <a:xfrm>
            <a:off x="23289768" y="15087600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23289768" y="1508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3673816" y="15023592"/>
            <a:ext cx="8695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Build native integrations with enterprise PM and HRIS platforms</a:t>
            </a:r>
          </a:p>
        </p:txBody>
      </p:sp>
      <p:sp>
        <p:nvSpPr>
          <p:cNvPr id="231" name="Oval 230"/>
          <p:cNvSpPr/>
          <p:nvPr/>
        </p:nvSpPr>
        <p:spPr>
          <a:xfrm>
            <a:off x="23289768" y="15581376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3289768" y="15581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3673816" y="15517368"/>
            <a:ext cx="8695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Optimize matching algorithm performance at scale using production feedback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23088600" y="17730216"/>
            <a:ext cx="9509760" cy="3419856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3289768" y="17931384"/>
            <a:ext cx="9107424" cy="53035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3289768" y="17931384"/>
            <a:ext cx="9107424" cy="4572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3289768" y="18416016"/>
            <a:ext cx="9107424" cy="4572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3426928" y="17995392"/>
            <a:ext cx="8878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📚  REFERENCES  📚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3289768" y="1855317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1. McKinsey &amp; Co. (2023). AI in workforce optimization. mckinsey.com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3289768" y="1891893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2. HBR (2021). Reskilling in the age of automation. hbr.org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3289768" y="1928469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3. Gartner (2023). Future of Work Trends. gartner.com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3289768" y="1965045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4. UN (2015). Sustainable Development Goals. un.org/sdgs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3289768" y="2001621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5. IEEE (2023). Adaptive learning systems in enterprise.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3289768" y="2038197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6. Teneo AI (2024). Intelligent matching systems. teneo.ai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3289768" y="2074773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7. ResearchGate (2022). Competency-based talent management.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3289768" y="2111349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8. Fuel Innovation Orillia (2025). Bright Minds Challenge.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3289768" y="2147925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9. Georgian College RISE (2026). Project submission guidelines.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3289768" y="21845016"/>
            <a:ext cx="9107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10. Roboflow (n.d.). Computer vision capability tools. roboflow.com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21287232"/>
            <a:ext cx="32918400" cy="6583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21287232"/>
            <a:ext cx="32918400" cy="7315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57200" y="21378672"/>
            <a:ext cx="2743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C"/>
                </a:solidFill>
              </a:rPr>
              <a:t>Femachi Ajoku  &amp;  Peter Egessa   ·   Georgian College  ·  RISE 2026   ·   Intelligent Systems  ·  Workforce Development  ·  Adaptive Learning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57200" y="21744432"/>
            <a:ext cx="3200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