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329184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3200400" cy="2011680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11480"/>
            <a:ext cx="3200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GEORGIAN
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A728A"/>
                </a:solidFill>
              </a:rPr>
              <a:t>← upload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20040"/>
            <a:ext cx="23774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INTELLIGENT TALENT-TO-PROJECT ALIGNMENT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00200"/>
            <a:ext cx="2377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4D8"/>
                </a:solidFill>
              </a:rPr>
              <a:t>A Data-Driven Framework for Optimizing Technical Workforce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31720"/>
            <a:ext cx="2377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8E4EE"/>
                </a:solidFill>
              </a:rPr>
              <a:t>Femachi Ajoku  &amp;  Peter Egessa   ·   Georgian College  ·  RISE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29280" y="411480"/>
            <a:ext cx="3931920" cy="2011680"/>
          </a:xfrm>
          <a:prstGeom prst="rect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66440" y="548640"/>
            <a:ext cx="3657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RISE
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66440" y="1645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8E4EE"/>
                </a:solidFill>
              </a:rPr>
              <a:t>Innovation
Showcase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0" y="3154680"/>
            <a:ext cx="54864" cy="18150840"/>
          </a:xfrm>
          <a:prstGeom prst="rect">
            <a:avLst/>
          </a:prstGeom>
          <a:solidFill>
            <a:srgbClr val="D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62720" y="3154680"/>
            <a:ext cx="54864" cy="18150840"/>
          </a:xfrm>
          <a:prstGeom prst="rect">
            <a:avLst/>
          </a:prstGeom>
          <a:solidFill>
            <a:srgbClr val="D8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33832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SECTION 1 — 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10195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2"/>
                </a:solidFill>
              </a:rPr>
              <a:t>The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10195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Modern project environments rely on static assignment methods that fail to account for the depth, adaptability, and real-world capability of technical talent.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49240"/>
            <a:ext cx="10195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52"/>
                </a:solidFill>
              </a:rPr>
              <a:t>Key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06440"/>
            <a:ext cx="10149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• Skill matching is keyword-based, not competency-based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217920"/>
            <a:ext cx="10149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• Project allocation lacks dynamic adaptability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629400"/>
            <a:ext cx="10149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• Misalignment → reduced 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7040880"/>
            <a:ext cx="10149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• Increased project failure 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7452360"/>
            <a:ext cx="10149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• Underutilization of skilled individuals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8001000"/>
            <a:ext cx="10195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52"/>
                </a:solidFill>
              </a:rPr>
              <a:t>Industry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8458200"/>
            <a:ext cx="10195560" cy="109728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845820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8595360"/>
            <a:ext cx="9921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2A"/>
                </a:solidFill>
              </a:rPr>
              <a:t>Existing platforms (Jira, Asana) support task tracking — not intelligent talent allocation. The gap is wide open.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12458700"/>
            <a:ext cx="54864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124587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SECTION 5 — INNOVATION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2961620"/>
            <a:ext cx="10195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2"/>
                </a:solidFill>
              </a:rPr>
              <a:t>What Makes This Unique?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3510260"/>
            <a:ext cx="10195560" cy="123444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13510260"/>
            <a:ext cx="73152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137845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D1B2A"/>
                </a:solidFill>
              </a:rPr>
              <a:t>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13674852"/>
            <a:ext cx="9098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Intelligent interpretation
of technical capability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14927580"/>
            <a:ext cx="10195560" cy="123444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14927580"/>
            <a:ext cx="73152" cy="1234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152019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D1B2A"/>
                </a:solidFill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15092172"/>
            <a:ext cx="9098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Dynamic responsiveness
to project complexity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16344900"/>
            <a:ext cx="10195560" cy="123444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6344900"/>
            <a:ext cx="73152" cy="1234440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166192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D1B2A"/>
                </a:solidFill>
              </a:rPr>
              <a:t>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16509492"/>
            <a:ext cx="9098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Unified evaluation &amp;
assignment system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0" y="3383280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93424" y="33832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SECTION 2 — OBJECTIVES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3886200"/>
            <a:ext cx="10195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2"/>
                </a:solidFill>
              </a:rPr>
              <a:t>Project Goals</a:t>
            </a:r>
          </a:p>
        </p:txBody>
      </p:sp>
      <p:sp>
        <p:nvSpPr>
          <p:cNvPr id="48" name="Oval 47"/>
          <p:cNvSpPr/>
          <p:nvPr/>
        </p:nvSpPr>
        <p:spPr>
          <a:xfrm>
            <a:off x="11265408" y="4462272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67160" y="4389120"/>
            <a:ext cx="9875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Evaluate multi-dimensional technical competencies</a:t>
            </a:r>
          </a:p>
        </p:txBody>
      </p:sp>
      <p:sp>
        <p:nvSpPr>
          <p:cNvPr id="50" name="Oval 49"/>
          <p:cNvSpPr/>
          <p:nvPr/>
        </p:nvSpPr>
        <p:spPr>
          <a:xfrm>
            <a:off x="11265408" y="4892040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567160" y="4818888"/>
            <a:ext cx="9875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Enable adaptive matching between individuals &amp; projects</a:t>
            </a:r>
          </a:p>
        </p:txBody>
      </p:sp>
      <p:sp>
        <p:nvSpPr>
          <p:cNvPr id="52" name="Oval 51"/>
          <p:cNvSpPr/>
          <p:nvPr/>
        </p:nvSpPr>
        <p:spPr>
          <a:xfrm>
            <a:off x="11265408" y="5321808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567160" y="5248656"/>
            <a:ext cx="9875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Improve efficiency, accuracy &amp; scalability in team formation</a:t>
            </a:r>
          </a:p>
        </p:txBody>
      </p:sp>
      <p:sp>
        <p:nvSpPr>
          <p:cNvPr id="54" name="Oval 53"/>
          <p:cNvSpPr/>
          <p:nvPr/>
        </p:nvSpPr>
        <p:spPr>
          <a:xfrm>
            <a:off x="11265408" y="5751576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567160" y="5678424"/>
            <a:ext cx="9875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Introduce a data-informed decision framework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247120" y="6382512"/>
            <a:ext cx="54864" cy="347472"/>
          </a:xfrm>
          <a:prstGeom prst="rect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393424" y="638251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E9B"/>
                </a:solidFill>
              </a:rPr>
              <a:t>SECTION 3 — PROPOSED SOLUTION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6885432"/>
            <a:ext cx="10195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2"/>
                </a:solidFill>
              </a:rPr>
              <a:t>System Architecture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247120" y="7434072"/>
            <a:ext cx="2240280" cy="1280160"/>
          </a:xfrm>
          <a:prstGeom prst="rect">
            <a:avLst/>
          </a:prstGeom>
          <a:solidFill>
            <a:srgbClr val="5A7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356848" y="7525512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INPUT
LAYER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802843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Skills &amp; requirements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505688" y="784555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688568" y="7434072"/>
            <a:ext cx="2240280" cy="1280160"/>
          </a:xfrm>
          <a:prstGeom prst="rect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98296" y="7525512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COMPETENCY
EVALUATION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80008" y="802843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Multi-factor analysis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947136" y="784555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130016" y="7434072"/>
            <a:ext cx="224028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239744" y="7525512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MATCHING
ENGINE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221456" y="802843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Profile alignment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388584" y="784555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571464" y="7434072"/>
            <a:ext cx="2240280" cy="12801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681192" y="7525512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ASSIGNMENT
OUTPUT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662904" y="802843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Optimized teams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441680" y="8897112"/>
            <a:ext cx="5760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247120" y="8988552"/>
            <a:ext cx="10195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7E9B"/>
                </a:solidFill>
              </a:rPr>
              <a:t>↑  Feedback Loop — performance data continuously refines the model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47120" y="9491472"/>
            <a:ext cx="10195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52"/>
                </a:solidFill>
              </a:rPr>
              <a:t>Module Descriptions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65408" y="9948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📥  Input Layer: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081760" y="99486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Captures user skills and project requirements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65408" y="103875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◉  Competency Eval.: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081760" y="103875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Processes multi-factor capability indicators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65408" y="108264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⬡  Matching Engine: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081760" y="108264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Aligns individuals to tasks based on profiles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65408" y="11265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↺  Feedback Loop: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81760" y="112654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Continuously improves alignment over time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247120" y="11887200"/>
            <a:ext cx="54864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393424" y="118872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SECTION 6 — REAL-WORLD IMPACT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47120" y="12390120"/>
            <a:ext cx="10195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2"/>
                </a:solidFill>
              </a:rPr>
              <a:t>Expected Outcomes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247120" y="12893040"/>
            <a:ext cx="4892040" cy="91440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247120" y="12893040"/>
            <a:ext cx="489204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375136" y="130302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↑  Improved project success rates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322040" y="12893040"/>
            <a:ext cx="4892040" cy="91440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6322040" y="12893040"/>
            <a:ext cx="48920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450056" y="130302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⚡  Enhanced workforce utilization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247120" y="13990320"/>
            <a:ext cx="4892040" cy="91440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247120" y="13990320"/>
            <a:ext cx="4892040" cy="64008"/>
          </a:xfrm>
          <a:prstGeom prst="rect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375136" y="141274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↓  Reduced team formation time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322040" y="13990320"/>
            <a:ext cx="4892040" cy="91440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6322040" y="13990320"/>
            <a:ext cx="4892040" cy="64008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450056" y="141274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🚀  Increased organizational efficiency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247120" y="15270480"/>
            <a:ext cx="10195560" cy="1188720"/>
          </a:xfrm>
          <a:prstGeom prst="rect">
            <a:avLst/>
          </a:prstGeom>
          <a:solidFill>
            <a:srgbClr val="8F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247120" y="15270480"/>
            <a:ext cx="1019556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384280" y="15407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UN SDG 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350240" y="15407640"/>
            <a:ext cx="8001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Decent Work &amp; Economic Growth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384280" y="15928848"/>
            <a:ext cx="10012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This system directly advances productive employment, inclusive growth, and economic development aligned with the UN 2030 Agenda.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037040" y="3383280"/>
            <a:ext cx="54864" cy="347472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183344" y="3383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52"/>
                </a:solidFill>
              </a:rPr>
              <a:t>SECTION 4 — METHODOLOGY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037040" y="388620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2"/>
                </a:solidFill>
              </a:rPr>
              <a:t>Approach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037040" y="4389120"/>
            <a:ext cx="10378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A structured, multi-factor evaluation framework assesses alignment between individuals and project requirements.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2037040" y="5212080"/>
            <a:ext cx="10378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52"/>
                </a:solidFill>
              </a:rPr>
              <a:t>Methodological Elements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037040" y="5715000"/>
            <a:ext cx="10378440" cy="713232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2037040" y="5715000"/>
            <a:ext cx="73152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201632" y="5870448"/>
            <a:ext cx="10104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◉  Multi-dimensional competency assessment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037040" y="6556248"/>
            <a:ext cx="10378440" cy="713232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037040" y="6556248"/>
            <a:ext cx="73152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2201632" y="6711696"/>
            <a:ext cx="10104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🔍  Pattern-based evaluation of skill relevance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037040" y="7397496"/>
            <a:ext cx="10378440" cy="713232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037040" y="7397496"/>
            <a:ext cx="73152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2201632" y="7552944"/>
            <a:ext cx="10104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🎯  Adaptive matching based on project context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037040" y="8238744"/>
            <a:ext cx="10378440" cy="713232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037040" y="8238744"/>
            <a:ext cx="73152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2201632" y="8394192"/>
            <a:ext cx="10104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↺  Iterative refinement via feedback integration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2037040" y="9217152"/>
            <a:ext cx="10378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52"/>
                </a:solidFill>
              </a:rPr>
              <a:t>Rigor &amp; Feasibility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082760" y="9674352"/>
            <a:ext cx="10332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✓  Designed for scalability across teams &amp; organizations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082760" y="10104120"/>
            <a:ext cx="10332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✓  Compatible with existing project management ecosystems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082760" y="10533888"/>
            <a:ext cx="10332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✓  Supports real-time decision-making environments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037040" y="11146536"/>
            <a:ext cx="10378440" cy="7315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2037040" y="11146536"/>
            <a:ext cx="10378440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2174200" y="11256264"/>
            <a:ext cx="10195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6010"/>
                </a:solidFill>
              </a:rPr>
              <a:t>🔒  Certain technical components are proprietary and have been intentionally abstracted.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037040" y="12060936"/>
            <a:ext cx="54864" cy="3474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2183344" y="1206093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SECTION 7 — ENTREPRENEURIAL THINKING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2037040" y="12563856"/>
            <a:ext cx="10378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52"/>
                </a:solidFill>
              </a:rPr>
              <a:t>Problem-Solving Approach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2082760" y="13021056"/>
            <a:ext cx="10332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→  Identifies inefficiencies in workforce allocation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2082760" y="13450824"/>
            <a:ext cx="10332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→  Applies structured analytical thinking to redesign assignment processes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082760" y="13880592"/>
            <a:ext cx="10332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→  Bridges the gap between technical capability and project demand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2037040" y="14493240"/>
            <a:ext cx="10378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52"/>
                </a:solidFill>
              </a:rPr>
              <a:t>Market Opportunity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2037040" y="14950440"/>
            <a:ext cx="3383280" cy="137160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2037040" y="14950440"/>
            <a:ext cx="338328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2128480" y="1506016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D1B2A"/>
                </a:solidFill>
              </a:rPr>
              <a:t>📈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2128480" y="155905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</a:rPr>
              <a:t>Growing demand for intelligent
workforce systems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5493472" y="14950440"/>
            <a:ext cx="3383280" cy="137160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5493472" y="14950440"/>
            <a:ext cx="338328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5584912" y="1506016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D1B2A"/>
                </a:solidFill>
              </a:rPr>
              <a:t>🔌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5584912" y="155905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</a:rPr>
              <a:t>Potential integration into
enterprise platforms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8949904" y="14950440"/>
            <a:ext cx="3383280" cy="1371600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8949904" y="14950440"/>
            <a:ext cx="338328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9041344" y="1506016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D1B2A"/>
                </a:solidFill>
              </a:rPr>
              <a:t>☁️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9041344" y="155905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</a:rPr>
              <a:t>Scalable SaaS-based
deployment model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2037040" y="16504920"/>
            <a:ext cx="54864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2183344" y="16504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SECTION 8 — FUTURE WORK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2037040" y="17007840"/>
            <a:ext cx="10378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52"/>
                </a:solidFill>
              </a:rPr>
              <a:t>Next Steps</a:t>
            </a:r>
          </a:p>
        </p:txBody>
      </p:sp>
      <p:sp>
        <p:nvSpPr>
          <p:cNvPr id="151" name="Oval 150"/>
          <p:cNvSpPr/>
          <p:nvPr/>
        </p:nvSpPr>
        <p:spPr>
          <a:xfrm>
            <a:off x="22037040" y="17501616"/>
            <a:ext cx="301752" cy="301752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2037040" y="17501616"/>
            <a:ext cx="3017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2448520" y="17465040"/>
            <a:ext cx="9921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Refinement of proprietary evaluation models</a:t>
            </a:r>
          </a:p>
        </p:txBody>
      </p:sp>
      <p:sp>
        <p:nvSpPr>
          <p:cNvPr id="154" name="Oval 153"/>
          <p:cNvSpPr/>
          <p:nvPr/>
        </p:nvSpPr>
        <p:spPr>
          <a:xfrm>
            <a:off x="22037040" y="18004536"/>
            <a:ext cx="301752" cy="301752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2037040" y="18004536"/>
            <a:ext cx="3017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2448520" y="17967960"/>
            <a:ext cx="9921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Expansion through real-world testing</a:t>
            </a:r>
          </a:p>
        </p:txBody>
      </p:sp>
      <p:sp>
        <p:nvSpPr>
          <p:cNvPr id="157" name="Oval 156"/>
          <p:cNvSpPr/>
          <p:nvPr/>
        </p:nvSpPr>
        <p:spPr>
          <a:xfrm>
            <a:off x="22037040" y="18507456"/>
            <a:ext cx="301752" cy="301752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2037040" y="18507456"/>
            <a:ext cx="3017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2448520" y="18470880"/>
            <a:ext cx="9921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Integration with existing enterprise tools</a:t>
            </a:r>
          </a:p>
        </p:txBody>
      </p:sp>
      <p:sp>
        <p:nvSpPr>
          <p:cNvPr id="160" name="Oval 159"/>
          <p:cNvSpPr/>
          <p:nvPr/>
        </p:nvSpPr>
        <p:spPr>
          <a:xfrm>
            <a:off x="22037040" y="19010376"/>
            <a:ext cx="301752" cy="301752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2037040" y="19010376"/>
            <a:ext cx="3017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2448520" y="18973800"/>
            <a:ext cx="9921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28A"/>
                </a:solidFill>
              </a:rPr>
              <a:t>Performance optimization using live datasets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0" y="21305520"/>
            <a:ext cx="329184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57200" y="21378672"/>
            <a:ext cx="2743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4EE"/>
                </a:solidFill>
              </a:rPr>
              <a:t>Femachi Ajoku  &amp;  Peter Egessa   ·   Georgian College  ·  RISE 2026   ·   Intelligent Systems  ·  Workforce Development  ·  Adaptive Learning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57200" y="21744432"/>
            <a:ext cx="3200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7799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