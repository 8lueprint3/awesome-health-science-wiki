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10058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E6EDF3"/>
                </a:solidFill>
                <a:latin typeface="Segoe UI"/>
              </a:rPr>
              <a:t>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58A6FF"/>
                </a:solidFill>
                <a:latin typeface="Segoe UI"/>
              </a:rPr>
              <a:t>JOINTIQ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6EDF3"/>
                </a:solidFill>
                <a:latin typeface="Segoe UI"/>
              </a:rPr>
              <a:t>Intelligent Robot Health Monitor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977639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Segoe UI"/>
              </a:rPr>
              <a:t>Predict  ·  Prevent  ·  Recover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84F58"/>
                </a:solidFill>
                <a:latin typeface="Segoe UI"/>
              </a:rPr>
              <a:t>Honda / OVIN Hackathon 2026  ·  Alliston, Ontario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8A6FF"/>
                </a:solidFill>
                <a:latin typeface="Segoe UI"/>
              </a:rPr>
              <a:t>8lueprint3.github.io/hackathon-dashboard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4F58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JOINTIQ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  <a:latin typeface="Segoe UI"/>
              </a:rPr>
              <a:t>MEET UNIT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  <a:latin typeface="Segoe UI"/>
              </a:rPr>
              <a:t>The Silent Threat on the Assembly 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41732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600200"/>
            <a:ext cx="114300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6EDF3"/>
                </a:solidFill>
                <a:latin typeface="Segoe UI"/>
              </a:rPr>
              <a:t>"Imagine Honda's Alliston assembly floor. At the centre of the action is Unit 7 — a UR10e 6-joint robot performing precise, rapid-fire assembly. It is the heartbeat of the production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E3B341"/>
                </a:solidFill>
                <a:latin typeface="Segoe UI"/>
              </a:rPr>
              <a:t>Every minute it goes down costs thousands of dollars.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6EDF3"/>
                </a:solidFill>
                <a:latin typeface="Segoe UI"/>
              </a:rPr>
              <a:t>For weeks, Unit 7 has been running flawlessly. But deep inside Joint 4 — the heavily strained elbow — a problem is brewing. Invisible to the naked eye. But the physics of failure have already begun."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09160"/>
            <a:ext cx="265176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846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5149"/>
                </a:solidFill>
                <a:latin typeface="Segoe UI"/>
              </a:rPr>
              <a:t>$2.3M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0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Cost per hour downtime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709160"/>
            <a:ext cx="265176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846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3B341"/>
                </a:solidFill>
                <a:latin typeface="Segoe UI"/>
              </a:rPr>
              <a:t>$38K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440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Avg fault event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4709160"/>
            <a:ext cx="265176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4846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5149"/>
                </a:solidFill>
                <a:latin typeface="Segoe UI"/>
              </a:rPr>
              <a:t>90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440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To catastrophic seizure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4709160"/>
            <a:ext cx="265176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4846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3B341"/>
                </a:solidFill>
                <a:latin typeface="Segoe UI"/>
              </a:rPr>
              <a:t>12 hrs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440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Unplanned downtime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4F58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JOINTIQ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  <a:latin typeface="Segoe UI"/>
              </a:rPr>
              <a:t>THE 4M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Segoe UI"/>
              </a:rPr>
              <a:t>Why Unit 7 Is About to Die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18872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325880"/>
            <a:ext cx="114300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Segoe UI"/>
              </a:rPr>
              <a:t>⚙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380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Segoe UI"/>
              </a:rPr>
              <a:t>Gear Tooth Micro-Pitting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099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Repeated high-torque movements cause microscopic wear on planetary gears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527048"/>
            <a:ext cx="448056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6002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6D364"/>
                </a:solidFill>
                <a:latin typeface="Segoe UI"/>
              </a:rPr>
              <a:t>📡  Piezo J3 → abnormal 120Hz chatter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114300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  <a:latin typeface="Segoe UI"/>
              </a:rPr>
              <a:t>🧪 MATERIAL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6151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Segoe UI"/>
              </a:rPr>
              <a:t>Degraded Lubricant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443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Thermal paste &amp; grease broken down due to continuous high-load cycles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761488"/>
            <a:ext cx="448056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83463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6D364"/>
                </a:solidFill>
                <a:latin typeface="Segoe UI"/>
              </a:rPr>
              <a:t>📡  DHT11 J4 → temperature climbing to 85°C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114300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67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  <a:latin typeface="Segoe UI"/>
              </a:rPr>
              <a:t>👤 HUMAN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8496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Segoe UI"/>
              </a:rPr>
              <a:t>Missed PM 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17880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Tech missed the 5,000-hour lubrication top-off during last shift change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995928"/>
            <a:ext cx="448056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0690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6D364"/>
                </a:solidFill>
                <a:latin typeface="Segoe UI"/>
              </a:rPr>
              <a:t>📡  JOINTIQ maintenance log → overdue service flag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114300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02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C8CFF"/>
                </a:solidFill>
                <a:latin typeface="Segoe UI"/>
              </a:rPr>
              <a:t>📋 METHOD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0840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Segoe UI"/>
              </a:rPr>
              <a:t>Aggressive Pathing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4132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Motion program has abrupt stop-and-reverse command pushing motor past duty cycle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5230368"/>
            <a:ext cx="448056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53035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6D364"/>
                </a:solidFill>
                <a:latin typeface="Segoe UI"/>
              </a:rPr>
              <a:t>📡  DHT11 + Piezo both spiking simultaneously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4F58"/>
                </a:solidFill>
                <a:latin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JOINTIQ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  <a:latin typeface="Segoe UI"/>
              </a:rPr>
              <a:t>WITHOUT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Segoe UI"/>
              </a:rPr>
              <a:t>90 Minutes to Catastrophe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18872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554480"/>
            <a:ext cx="164592" cy="16459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17804" y="1719072"/>
            <a:ext cx="0" cy="841248"/>
          </a:xfrm>
          <a:prstGeom prst="line">
            <a:avLst/>
          </a:prstGeom>
          <a:ln w="19050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05840" y="13990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4F58"/>
                </a:solidFill>
                <a:latin typeface="Segoe UI"/>
              </a:rPr>
              <a:t>T + 00:00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399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Segoe UI"/>
              </a:rPr>
              <a:t>Gear micro-pitting begins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72821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No alarm triggered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164592" cy="16459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17804" y="2724912"/>
            <a:ext cx="0" cy="841248"/>
          </a:xfrm>
          <a:prstGeom prst="line">
            <a:avLst/>
          </a:prstGeom>
          <a:ln w="19050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404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4F58"/>
                </a:solidFill>
                <a:latin typeface="Segoe UI"/>
              </a:rPr>
              <a:t>T + 15:00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4048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Segoe UI"/>
              </a:rPr>
              <a:t>Temperature reaches 70°C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73405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No alarm triggered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164592" cy="16459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17804" y="3730752"/>
            <a:ext cx="0" cy="841248"/>
          </a:xfrm>
          <a:prstGeom prst="line">
            <a:avLst/>
          </a:prstGeom>
          <a:ln w="19050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4107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4F58"/>
                </a:solidFill>
                <a:latin typeface="Segoe UI"/>
              </a:rPr>
              <a:t>T + 45:00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4107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Segoe UI"/>
              </a:rPr>
              <a:t>Vibration signature shifts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73989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No alarm triggered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72000"/>
            <a:ext cx="164592" cy="1645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17804" y="4736592"/>
            <a:ext cx="0" cy="841248"/>
          </a:xfrm>
          <a:prstGeom prst="line">
            <a:avLst/>
          </a:prstGeom>
          <a:ln w="19050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05840" y="4416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4F58"/>
                </a:solidFill>
                <a:latin typeface="Segoe UI"/>
              </a:rPr>
              <a:t>T + 75:00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416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  <a:latin typeface="Segoe UI"/>
              </a:rPr>
              <a:t>Temperature hits 85°C critical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74573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Segoe UI"/>
              </a:rPr>
              <a:t>No alarm triggered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577840"/>
            <a:ext cx="164592" cy="1645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223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4F58"/>
                </a:solidFill>
                <a:latin typeface="Segoe UI"/>
              </a:rPr>
              <a:t>T + 90:00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4223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  <a:latin typeface="Segoe UI"/>
              </a:rPr>
              <a:t>⚠  MOTOR #4 SEIZES  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75157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Segoe UI"/>
              </a:rPr>
              <a:t>12 hrs downtime · $38K replacement · $2.3M/hr production 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4F58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JOINTIQ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Segoe UI"/>
              </a:rPr>
              <a:t>ENTER THE 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Segoe UI"/>
              </a:rPr>
              <a:t>JOINTIQ — The Telemetry Black Box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18872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325880"/>
            <a:ext cx="11430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58A6FF"/>
                </a:solidFill>
                <a:latin typeface="Segoe UI"/>
              </a:rPr>
              <a:t>Unit 7 doesn't fail.   It doesn't fail because it is equipped with JOINTIQ.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36576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E6EDF3"/>
                </a:solidFill>
                <a:latin typeface="Segoe UI"/>
              </a:rPr>
              <a:t>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C8CFF"/>
                </a:solidFill>
                <a:latin typeface="Segoe UI"/>
              </a:rPr>
              <a:t>PREDICT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86200"/>
            <a:ext cx="3291840" cy="274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9776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  <a:latin typeface="Segoe UI"/>
              </a:rPr>
              <a:t>Sees the fault 2+ hours ahead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Segoe UI"/>
              </a:rPr>
              <a:t>From 7 sensors → digital twin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514600"/>
            <a:ext cx="36576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2606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E6EDF3"/>
                </a:solidFill>
                <a:latin typeface="Segoe UI"/>
              </a:rPr>
              <a:t>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291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6D364"/>
                </a:solidFill>
                <a:latin typeface="Segoe UI"/>
              </a:rPr>
              <a:t>PREVENT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886200"/>
            <a:ext cx="3291840" cy="2743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39776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  <a:latin typeface="Segoe UI"/>
              </a:rPr>
              <a:t>Robot slows — line keeps running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Segoe UI"/>
              </a:rPr>
              <a:t>Amber zone intervention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514600"/>
            <a:ext cx="36576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606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E6EDF3"/>
                </a:solidFill>
                <a:latin typeface="Segoe UI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291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3B341"/>
                </a:solidFill>
                <a:latin typeface="Segoe UI"/>
              </a:rPr>
              <a:t>RECOVER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886200"/>
            <a:ext cx="3291840" cy="2743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9776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  <a:latin typeface="Segoe UI"/>
              </a:rPr>
              <a:t>Right tech · right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Segoe UI"/>
              </a:rPr>
              <a:t>15-minute maintenance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4F58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JOINTIQ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C8CFF"/>
                </a:solidFill>
                <a:latin typeface="Segoe UI"/>
              </a:rPr>
              <a:t>STEP 1 — 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  <a:latin typeface="Segoe UI"/>
              </a:rPr>
              <a:t>The Invisible Catch — 2 Hours Before Failure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18872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325880"/>
            <a:ext cx="530352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  <a:latin typeface="Segoe UI"/>
              </a:rPr>
              <a:t>📡  WHAT JOINTIQ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DHT11 — J1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20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Segoe UI"/>
              </a:rPr>
              <a:t>28°C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DHT11 — J2 Shoulder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468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Segoe UI"/>
              </a:rPr>
              <a:t>31°C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DHT11 — J3 Elbow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017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  <a:latin typeface="Segoe UI"/>
              </a:rPr>
              <a:t>67°C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DHT11 — J4 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566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Segoe UI"/>
              </a:rPr>
              <a:t>85°C  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Piezo — J1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1148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Segoe UI"/>
              </a:rPr>
              <a:t>42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Piezo — J2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663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Segoe UI"/>
              </a:rPr>
              <a:t>89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Piezo — J3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21207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Segoe UI"/>
              </a:rPr>
              <a:t>614 units 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325880"/>
            <a:ext cx="576072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  <a:latin typeface="Segoe UI"/>
              </a:rPr>
              <a:t>🧠  JOINTIQ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9202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JOINT HEALTH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194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  <a:latin typeface="Segoe UI"/>
              </a:rPr>
              <a:t>34%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57860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FAILURE PROBABILITY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8529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  <a:latin typeface="Segoe UI"/>
              </a:rPr>
              <a:t>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23697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REMAINING USEFUL LIFE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5112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  <a:latin typeface="Segoe UI"/>
              </a:rPr>
              <a:t>&lt; 2 hours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89534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ROOT CAUSE #1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169663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  <a:latin typeface="Segoe UI"/>
              </a:rPr>
              <a:t>J4 MOTOR : OVERHEAT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5537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ROOT CAUSE #2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8280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  <a:latin typeface="Segoe UI"/>
              </a:rPr>
              <a:t>J3 GEAR : VIBRATION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212079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ADVISORY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48639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6D364"/>
                </a:solidFill>
                <a:latin typeface="Segoe UI"/>
              </a:rPr>
              <a:t>Schedule service NOW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4F58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JOINTIQ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  <a:latin typeface="Segoe UI"/>
              </a:rPr>
              <a:t>STEP 2 — PREVENT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  <a:latin typeface="Segoe UI"/>
              </a:rPr>
              <a:t>The Smart Response — Line Keeps Running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18872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325880"/>
            <a:ext cx="530352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  <a:latin typeface="Segoe UI"/>
              </a:rPr>
              <a:t>❌  OLD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Segoe UI"/>
              </a:rPr>
              <a:t>Sensor hits critical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41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Segoe UI"/>
              </a:rPr>
              <a:t>→ Emergency stop triggered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1693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Segoe UI"/>
              </a:rPr>
              <a:t>→ Payload drops unsafely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9242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5149"/>
                </a:solidFill>
                <a:latin typeface="Segoe UI"/>
              </a:rPr>
              <a:t>→ Production line halts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679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5149"/>
                </a:solidFill>
                <a:latin typeface="Segoe UI"/>
              </a:rPr>
              <a:t>→ $2.3M/hr clock starts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5149"/>
                </a:solidFill>
                <a:latin typeface="Segoe UI"/>
              </a:rPr>
              <a:t>→ 12 hours unplanned downtime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76072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  <a:latin typeface="Segoe UI"/>
              </a:rPr>
              <a:t>✅  JOINTIQ AMBER ZONE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65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Segoe UI"/>
              </a:rPr>
              <a:t>Sensors detect drift at +15%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41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Segoe UI"/>
              </a:rPr>
              <a:t>→ Robot slows to 50% 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9169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6D364"/>
                </a:solidFill>
                <a:latin typeface="Segoe UI"/>
              </a:rPr>
              <a:t>→ Line KEEPS RUNNING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392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6D364"/>
                </a:solidFill>
                <a:latin typeface="Segoe UI"/>
              </a:rPr>
              <a:t>→ Maintenance alert 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8679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6D364"/>
                </a:solidFill>
                <a:latin typeface="Segoe UI"/>
              </a:rPr>
              <a:t>→ Controlled window scheduled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343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6D364"/>
                </a:solidFill>
                <a:latin typeface="Segoe UI"/>
              </a:rPr>
              <a:t>→ 15-minute Tuesday morning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84F58"/>
                </a:solidFill>
                <a:latin typeface="Segoe UI"/>
              </a:rPr>
              <a:t>VS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577840"/>
            <a:ext cx="11430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669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6D364"/>
                </a:solidFill>
                <a:latin typeface="Segoe UI"/>
              </a:rPr>
              <a:t>$38,000 emergency fault  →  $200 scheduled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4F58"/>
                </a:solidFill>
                <a:latin typeface="Segoe U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JOINTIQ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  <a:latin typeface="Segoe UI"/>
              </a:rPr>
              <a:t>STEP 3 — RECOVER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Guided Recovery — Right Person · Right Steps · 15 Minutes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18872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325880"/>
            <a:ext cx="566928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  <a:latin typeface="Segoe UI"/>
              </a:rPr>
              <a:t>📋  ACTION PLAN — GENERATED BY JOINTIQ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DIAGNOSIS: Gear failure — Joint 4
Cause: Excessive heat (85°C) + abnormal vibration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79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Segoe UI"/>
              </a:rPr>
              <a:t>Step 1 — METHOD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Alert Engineering: smooth pathing curve
Reduce torque shock on stop-reverse command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03320"/>
            <a:ext cx="539496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76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  <a:latin typeface="Segoe UI"/>
              </a:rPr>
              <a:t>Step 2 — MATERIAL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Purge degraded grease — inject 50cc synthetic
lubricant per UR10e manual §12.4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00600"/>
            <a:ext cx="539496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873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  <a:latin typeface="Segoe UI"/>
              </a:rPr>
              <a:t>Step 3 — MACHINE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Run low-speed diagnostic cycle
JOINTIQ confirms vibration returns to &lt;60Hz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325880"/>
            <a:ext cx="539496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  <a:latin typeface="Segoe UI"/>
              </a:rPr>
              <a:t>🔐  ZERO TRUST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87451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Before any fix — prove who you 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377440"/>
            <a:ext cx="512064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🪪 Badge 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816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Role verified — certified tech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291840"/>
            <a:ext cx="512064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364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🔢 PIN Entry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7307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Two-factor authentication confirmed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206240"/>
            <a:ext cx="512064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279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  <a:latin typeface="Segoe UI"/>
              </a:rPr>
              <a:t>✅ 5-Step Checklist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6451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UR10e manual §12.4 — cannot be skipped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5120640"/>
            <a:ext cx="512064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5193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  <a:latin typeface="Segoe UI"/>
              </a:rPr>
              <a:t>📄 Incident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559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Auto-generated PDF — HSE compliant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4F58"/>
                </a:solidFill>
                <a:latin typeface="Segoe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JOINTIQ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  <a:latin typeface="Segoe UI"/>
              </a:rP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  <a:latin typeface="Segoe UI"/>
              </a:rPr>
              <a:t>$7.98M CAD Saved Per Year — Honda Canada Only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18872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325880"/>
            <a:ext cx="219456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85149"/>
                </a:solidFill>
                <a:latin typeface="Segoe UI"/>
              </a:rPr>
              <a:t>$2.3M/hr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Downtime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25880"/>
            <a:ext cx="219456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4173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3B341"/>
                </a:solidFill>
                <a:latin typeface="Segoe UI"/>
              </a:rPr>
              <a:t>$38K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Per fault event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79" y="1325880"/>
            <a:ext cx="219456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79" y="14173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6D364"/>
                </a:solidFill>
                <a:latin typeface="Segoe UI"/>
              </a:rP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Faults preventable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199" y="1325880"/>
            <a:ext cx="219456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9" y="14173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6D364"/>
                </a:solidFill>
                <a:latin typeface="Segoe UI"/>
              </a:rPr>
              <a:t>250%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Average ROI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19" y="1325880"/>
            <a:ext cx="219456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19" y="14173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  <a:latin typeface="Segoe UI"/>
              </a:rPr>
              <a:t>$15B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Segoe UI"/>
              </a:rPr>
              <a:t>Honda EV expansion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34640"/>
            <a:ext cx="530352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71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  <a:latin typeface="Segoe UI"/>
              </a:rPr>
              <a:t>💰  HONDA CANADA PROJECTION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290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3 plants (Alliston, Ontario)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130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× ~50 UR10e cobots per plant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19709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× 4 fault events per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58114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× 35% prevention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9651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× $38,000 per fault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492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62D"/>
                </a:solidFill>
                <a:latin typeface="Segoe UI"/>
              </a:rPr>
              <a:t>─────────────────────────────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7332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6D364"/>
                </a:solidFill>
                <a:latin typeface="Segoe UI"/>
              </a:rPr>
              <a:t>= $7.98M CAD saved per year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834640"/>
            <a:ext cx="576072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971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Segoe UI"/>
              </a:rPr>
              <a:t>🚗  THE $15B OPPORTUNITY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429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4 new Alliston plants by 2028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813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240,000 EVs per year capacity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1970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36 GWh battery plant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5811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4,200 existing employees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9651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349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Segoe UI"/>
              </a:rPr>
              <a:t>JOINTIQ deployed from Day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7332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Segoe UI"/>
              </a:rPr>
              <a:t>→ New EV line never has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61173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Segoe UI"/>
              </a:rPr>
              <a:t>   its first fault event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4F58"/>
                </a:solidFill>
                <a:latin typeface="Segoe U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JOINTIQ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6EDF3"/>
                </a:solidFill>
                <a:latin typeface="Segoe UI"/>
              </a:rPr>
              <a:t>The Black Box Honda's Robots Have Been Missing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417320"/>
            <a:ext cx="11457432" cy="0"/>
          </a:xfrm>
          <a:prstGeom prst="line">
            <a:avLst/>
          </a:prstGeom>
          <a:ln w="9525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14400" y="1600200"/>
            <a:ext cx="10360152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58A6FF"/>
                </a:solidFill>
                <a:latin typeface="Segoe UI"/>
              </a:rPr>
              <a:t>"We didn't build an alarm system.
We built a system that makes alarms unnecessary."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35661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C8CFF"/>
                </a:solidFill>
                <a:latin typeface="Segoe UI"/>
              </a:rPr>
              <a:t>🔮 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Segoe UI"/>
              </a:rPr>
              <a:t>Before the fault — not during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200400"/>
            <a:ext cx="35661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3337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6D364"/>
                </a:solidFill>
                <a:latin typeface="Segoe UI"/>
              </a:rPr>
              <a:t>🛡 PREVENT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840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Segoe UI"/>
              </a:rPr>
              <a:t>Production keeps running in Amber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200400"/>
            <a:ext cx="35661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337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3B341"/>
                </a:solidFill>
                <a:latin typeface="Segoe UI"/>
              </a:rPr>
              <a:t>⚡ RECOVER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40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Segoe UI"/>
              </a:rPr>
              <a:t>Right person · right steps · 15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  <a:latin typeface="Segoe UI"/>
              </a:rPr>
              <a:t>🌐  LIVE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8A6FF"/>
                </a:solidFill>
                <a:latin typeface="Segoe UI"/>
              </a:rPr>
              <a:t>8lueprint3.github.io/hackathon-dashboard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486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Open on your phone right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5212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  <a:latin typeface="Segoe UI"/>
              </a:rPr>
              <a:t>Hit AUTO DEMO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84F58"/>
                </a:solidFill>
                <a:latin typeface="Segoe UI"/>
              </a:rPr>
              <a:t>JOINTIQ  ·  Honda/OVIN Hackathon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4F58"/>
                </a:solidFill>
                <a:latin typeface="Segoe U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Segoe UI"/>
              </a:rPr>
              <a:t>JOINTIQ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