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484F58"/>
                </a:solidFill>
                <a:latin typeface="Segoe UI"/>
              </a:rPr>
              <a:t>6:47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B949E"/>
                </a:solidFill>
                <a:latin typeface="Segoe UI"/>
              </a:rPr>
              <a:t>Honda Alliston Assembly Floor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10896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6EDF3"/>
                </a:solidFill>
                <a:latin typeface="Segoe UI"/>
              </a:rPr>
              <a:t>Unit 7 has been running flawlessly for 847 consecutive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B949E"/>
                </a:solidFill>
                <a:latin typeface="Segoe UI"/>
              </a:rPr>
              <a:t>Nobody is worried.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57200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754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  <a:latin typeface="Segoe UI"/>
              </a:rPr>
              <a:t>Deep inside Gear Motor #4 — something invisible is happening.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3B341"/>
                </a:solidFill>
                <a:latin typeface="Segoe UI"/>
              </a:rPr>
              <a:t>The physics of failure have already begun.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ACT 1  —  THE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  <a:latin typeface="Segoe UI"/>
              </a:rPr>
              <a:t>Meet Unit 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371600"/>
            <a:ext cx="5486400" cy="466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🤖  UR10e — 6-Joint Collaborative 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Precision assembly — picks, places, torques, rotates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</a:rPr>
              <a:t>Cycle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Every 4.2 seconds — 847 hours straight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</a:rPr>
              <a:t>Joint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6 motors — J1 Base · J2 Shoulder · J3 Elbow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J4 Wrist 1 · J5 Wrist 2 · J6 Flange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</a:rPr>
              <a:t>Critical joint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389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Motor #4 (Elbow) — highest torque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83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</a:rPr>
              <a:t>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983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$2.3M per hour if it stops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577840" cy="466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  <a:latin typeface="Segoe UI"/>
              </a:rPr>
              <a:t>⚙  INSIDE MOTOR 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Planetary Gear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7744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32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Ring Gear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4323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Outer housing — fixed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97180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026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Planet Gears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3× orbiting gears — HIGH WEAR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6616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621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Sun Gear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6210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Centre drive — motor shaft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16052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Carrier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2153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Output — drives the joint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75488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Bearing Races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809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Support rotation — need grease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349240"/>
            <a:ext cx="521208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Thermal Paste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40410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Heat dissipation — degrading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Segoe UI"/>
              </a:rPr>
              <a:t>ACT 2  —  THE PERFECT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Four Root Causes. One Joint. One Outcome.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371600"/>
            <a:ext cx="278892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788920" cy="685800"/>
          </a:xfrm>
          <a:prstGeom prst="rect">
            <a:avLst/>
          </a:prstGeom>
          <a:solidFill>
            <a:srgbClr val="16293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Segoe UI"/>
              </a:rPr>
              <a:t>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</a:rPr>
              <a:t>Gear Tooth
Micro-Pitting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847 hours of high-torque rotation have carved microscopic craters into the planetary gear teeth. Each pit creates an impact. Thousands per minute.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470916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79" y="4754880"/>
            <a:ext cx="260604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8188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  <a:latin typeface="Segoe UI"/>
              </a:rPr>
              <a:t>Vibration shifts from 50Hz hum → 120Hz chatter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371600"/>
            <a:ext cx="278892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371600"/>
            <a:ext cx="2788920" cy="685800"/>
          </a:xfrm>
          <a:prstGeom prst="rect">
            <a:avLst/>
          </a:prstGeom>
          <a:solidFill>
            <a:srgbClr val="32141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389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Segoe UI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</a:rPr>
              <a:t>Degraded
Lubricant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83464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Thermal paste and synthetic grease rated for 5,000 hours at standard load. Running a new high-intensity program — grease burned off 40% faster.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" y="470916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355848" y="4754880"/>
            <a:ext cx="260604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  <a:latin typeface="Segoe UI"/>
              </a:rPr>
              <a:t>Metal touching metal. Friction. Heat.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1371600"/>
            <a:ext cx="278892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371600"/>
            <a:ext cx="2788920" cy="685800"/>
          </a:xfrm>
          <a:prstGeom prst="rect">
            <a:avLst/>
          </a:prstGeom>
          <a:solidFill>
            <a:srgbClr val="322C10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1389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Segoe U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</a:rPr>
              <a:t>Missed PM
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83464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11 days ago, a tech signed off the PM checklist. The 5,000-hour lubrication interval for Gearbox #4 had elapsed 200 hours earlier. Nobody flagged it.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470916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300216" y="4754880"/>
            <a:ext cx="260604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48188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The gearbox that needed grease never got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1371600"/>
            <a:ext cx="278892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53144" y="1371600"/>
            <a:ext cx="2788920" cy="685800"/>
          </a:xfrm>
          <a:prstGeom prst="rect">
            <a:avLst/>
          </a:prstGeom>
          <a:solidFill>
            <a:srgbClr val="2F233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1389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Segoe UI"/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7504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  <a:latin typeface="Segoe UI"/>
              </a:rPr>
              <a:t>METHOD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2148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</a:rPr>
              <a:t>Aggressive
Pathing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283464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New motion script pushed 2 weeks ago boosted throughput 8%. Line 42: abrupt stop-and-reverse in 0.3 seconds — hammering Motor #4 with torque shocks.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470916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244584" y="4754880"/>
            <a:ext cx="260604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48188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  <a:latin typeface="Segoe UI"/>
              </a:rPr>
              <a:t>Gear pitting accelerates. Grease burns faster.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ACT 3  —  THE COUNTDOWN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90 Minutes to Catastrophic Seizure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8992" y="1755648"/>
            <a:ext cx="0" cy="987552"/>
          </a:xfrm>
          <a:prstGeom prst="line">
            <a:avLst/>
          </a:prstGeom>
          <a:ln w="254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60120" y="1536192"/>
            <a:ext cx="237744" cy="23774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+ 00:00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D364"/>
                </a:solidFill>
                <a:latin typeface="Segoe UI"/>
              </a:rPr>
              <a:t>62°C  /  Vibration: 50Hz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Gear micro-pitting begins. Nothing visible. No alarm.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78992" y="2761488"/>
            <a:ext cx="0" cy="987551"/>
          </a:xfrm>
          <a:prstGeom prst="line">
            <a:avLst/>
          </a:prstGeom>
          <a:ln w="254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" y="2542032"/>
            <a:ext cx="237744" cy="23774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+ 15:00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Segoe UI"/>
              </a:rPr>
              <a:t>71°C  /  Vibration: 95Hz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Temperature climbing. Grease nearly gone. Still no alarm.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3767328"/>
            <a:ext cx="0" cy="987552"/>
          </a:xfrm>
          <a:prstGeom prst="line">
            <a:avLst/>
          </a:prstGeom>
          <a:ln w="254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0120" y="3547872"/>
            <a:ext cx="237744" cy="23774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+ 45:00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Segoe UI"/>
              </a:rPr>
              <a:t>78°C  /  Vibration: 108Hz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Vibration signature shifting. Metal fatigue accelerating.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78992" y="4773168"/>
            <a:ext cx="0" cy="987552"/>
          </a:xfrm>
          <a:prstGeom prst="line">
            <a:avLst/>
          </a:prstGeom>
          <a:ln w="254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60120" y="4553712"/>
            <a:ext cx="237744" cy="23774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+ 75:00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  <a:latin typeface="Segoe UI"/>
              </a:rPr>
              <a:t>85°C  /  Vibration: 115Hz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80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Approaching 90°C critical threshold. Still no alarm.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5559552"/>
            <a:ext cx="237744" cy="23774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+ 90:00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⚠  MOTOR #4 SEIZES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12 hrs downtime  ·  $38K motor  ·  $2.3M/hr production loss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5394960"/>
            <a:ext cx="10698480" cy="777240"/>
          </a:xfrm>
          <a:prstGeom prst="rect">
            <a:avLst/>
          </a:prstGeom>
          <a:solidFill>
            <a:srgbClr val="280000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ACT 4  —  THE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  <a:latin typeface="Segoe UI"/>
              </a:rPr>
              <a:t>Enter the Black Box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417320"/>
            <a:ext cx="114300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58A6FF"/>
                </a:solidFill>
                <a:latin typeface="Segoe UI"/>
              </a:rPr>
              <a:t>"Unit 7 doesn't fail.  It doesn't fail because it is equipped with JOINTIQ."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5029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📦  WHAT IS THE BLACK BOX?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Receives telemetric data from all 7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76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Runs a digital twin of Unit 7 in real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1538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Detects fault patterns from sensor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54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Cross-references UR10e manufacturer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932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Outputs a prioritised step-by-step fix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321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Segoe UI"/>
              </a:rPr>
              <a:t>→  Enforces Zero Trust recovery 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743200"/>
            <a:ext cx="1920240" cy="338328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6EDF3"/>
                </a:solidFill>
                <a:latin typeface="Segoe UI"/>
              </a:rPr>
              <a:t>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C8CFF"/>
                </a:solidFill>
                <a:latin typeface="Segoe UI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977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  <a:latin typeface="Segoe UI"/>
              </a:rPr>
              <a:t>85 min before
seizure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743200"/>
            <a:ext cx="1920240" cy="338328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6EDF3"/>
                </a:solidFill>
                <a:latin typeface="Segoe UI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6D364"/>
                </a:solidFill>
                <a:latin typeface="Segoe UI"/>
              </a:rPr>
              <a:t>PREVENT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977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  <a:latin typeface="Segoe UI"/>
              </a:rPr>
              <a:t>Line keeps
running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59" y="2743200"/>
            <a:ext cx="1920240" cy="338328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59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6EDF3"/>
                </a:solidFill>
                <a:latin typeface="Segoe U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3B341"/>
                </a:solidFill>
                <a:latin typeface="Segoe UI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3977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  <a:latin typeface="Segoe UI"/>
              </a:rPr>
              <a:t>15-minute
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  <a:latin typeface="Segoe UI"/>
              </a:rPr>
              <a:t>STEP 1  —  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The Invisible Catch — T+05:00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📡  LIVE SENSOR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J1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057400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057400"/>
            <a:ext cx="568960" cy="1828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28°C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J2 Shoulder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24328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2624328"/>
            <a:ext cx="629920" cy="1828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5786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31°C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4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J3 Elbow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91256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3191256"/>
            <a:ext cx="1361440" cy="1828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455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Segoe UI"/>
              </a:rPr>
              <a:t>67°C 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12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J4 Motor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758184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3758184"/>
            <a:ext cx="1727200" cy="182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1246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85°C 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25112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26080" y="4325112"/>
            <a:ext cx="125097" cy="1828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2793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42 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892040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4892040"/>
            <a:ext cx="265086" cy="1828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8463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89 units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413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458968"/>
            <a:ext cx="1828800" cy="1828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5458968"/>
            <a:ext cx="1828800" cy="182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5413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614 units 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371600"/>
            <a:ext cx="5760720" cy="475488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  <a:latin typeface="Segoe UI"/>
              </a:rPr>
              <a:t>🧠  BLACK BOX OUTPUT — T+05:00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011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 HEALTH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2677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34%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606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FAILURE PROBABILITY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62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85% within 2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200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REMAINING USEFUL LIFE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456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87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794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ROOT CAUSE #1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0507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  <a:latin typeface="Segoe UI"/>
              </a:rPr>
              <a:t>J4 MOTOR : OVERHEAT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ROOT CAUSE #2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6451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  <a:latin typeface="Segoe UI"/>
              </a:rPr>
              <a:t>J3 GEAR : VIBRATION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983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MANUAL REFERENCE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2395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UR10e §7.3.2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577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ADVISORY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8338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Schedule service NOW — do not wait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STEP 2  —  PREVENT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Segoe UI"/>
              </a:rPr>
              <a:t>The Smart Response — T+05:00 to T+08:00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371600"/>
            <a:ext cx="530352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❌  WITHOUT BLACK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 Sensor hits 90°C critical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Emergency stop — no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Payload drops unsafely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Broken tooling. Scrapped 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Production line halts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$2.3M/hr clock starts ticking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→  12 hours to fix. $38K+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4864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✅  WITH BLACK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 Sensors detect drift — AMBER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→  Completes current micro-task safely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26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→  Moves to safe home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→  Motor #4 slows to 40%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→  Other 5 joints keep operating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97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→  Line slows slightly — does NOT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54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Segoe UI"/>
              </a:rPr>
              <a:t>→  Maintenance team notified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063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84F58"/>
                </a:solidFill>
                <a:latin typeface="Segoe UI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11430000" cy="868680"/>
          </a:xfrm>
          <a:prstGeom prst="rect">
            <a:avLst/>
          </a:prstGeom>
          <a:solidFill>
            <a:srgbClr val="001E00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6D364"/>
                </a:solidFill>
                <a:latin typeface="Segoe UI"/>
              </a:rPr>
              <a:t>  $38,000 catastrophic emergency    →    $200 scheduled maintenance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Segoe UI"/>
              </a:rPr>
              <a:t>STEP 3  — 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  <a:latin typeface="Segoe UI"/>
              </a:rPr>
              <a:t>Guided Recovery — Right Person · Right Steps · 15 Minutes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371600"/>
            <a:ext cx="283464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834640" cy="731520"/>
          </a:xfrm>
          <a:prstGeom prst="rect">
            <a:avLst/>
          </a:prstGeom>
          <a:solidFill>
            <a:srgbClr val="112133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STEP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🔐 VERIFY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4028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Badge scan → Certified Robotics Technician Level 2 confirmed
PIN entry → Two-factor authentication passed
System unlocked. You cannot touch this robot until it knows who you 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5760720"/>
            <a:ext cx="26517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833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  <a:latin typeface="Segoe UI"/>
              </a:rPr>
              <a:t>T + 08:00  —  30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371600"/>
            <a:ext cx="283464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371600"/>
            <a:ext cx="2834640" cy="731520"/>
          </a:xfrm>
          <a:prstGeom prst="rect">
            <a:avLst/>
          </a:prstGeom>
          <a:solidFill>
            <a:srgbClr val="251C33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  <a:latin typeface="Segoe UI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  <a:latin typeface="Segoe UI"/>
              </a:rPr>
              <a:t>📋 METHOD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224028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Engineering team alerted automatically.
Review line 42 of motion program UR10e_HONDA_LINE4_v2.3
Smooth stop-and-reverse curve. Reduce peak torque shock by 20%.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5760720"/>
            <a:ext cx="26517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5833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  <a:latin typeface="Segoe UI"/>
              </a:rPr>
              <a:t>T + 09:00  —  2 minutes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371600"/>
            <a:ext cx="283464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371600"/>
            <a:ext cx="2834640" cy="731520"/>
          </a:xfrm>
          <a:prstGeom prst="rect">
            <a:avLst/>
          </a:prstGeom>
          <a:solidFill>
            <a:srgbClr val="31100E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🧪 MATERIAL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224028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Open Gearbox #4 access panel (UR10e §8.1.4)
Purge degraded grease. Inject 50cc Mobil SHC 629 synthetic lubricant.
Torque fasteners to 12 Nm. Seal and close.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5760720"/>
            <a:ext cx="26517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5833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  <a:latin typeface="Segoe UI"/>
              </a:rPr>
              <a:t>T + 11:00  —  11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53144" y="1371600"/>
            <a:ext cx="2834640" cy="5029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53144" y="1371600"/>
            <a:ext cx="2834640" cy="731520"/>
          </a:xfrm>
          <a:prstGeom prst="rect">
            <a:avLst/>
          </a:prstGeom>
          <a:solidFill>
            <a:srgbClr val="112A14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⚙ MACHINE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224028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Run automated low-speed diagnostic cycle at 20% velocity — 90 seconds.
Black Box monitors: vibration returned to 47Hz  ✅  (baseline &lt;60Hz)
System clears Unit 7 for full operation.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4584" y="5760720"/>
            <a:ext cx="26517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6024" y="5833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6D364"/>
                </a:solidFill>
                <a:latin typeface="Segoe UI"/>
              </a:rPr>
              <a:t>T + 22:00  —  4 minutes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ACT 5  —  THE 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Unit 7 Is Back. 15 Minutes. $200.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23444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solidFill>
            <a:srgbClr val="190000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❌  WITHOUT JOINTIQ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  <a:latin typeface="Segoe UI"/>
              </a:rPr>
              <a:t>T+90min  →  Motor #4 seizes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323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  <a:latin typeface="Segoe UI"/>
              </a:rPr>
              <a:t>12 hours unplanned downtime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  <a:latin typeface="Segoe UI"/>
              </a:rPr>
              <a:t>$38,000 motor replacement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73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$2.3M/hr 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94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Scrapped parts + broken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Injury risk during emergency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354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Full HSE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56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Root cause: still unknown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577840" cy="4114800"/>
          </a:xfrm>
          <a:prstGeom prst="rect">
            <a:avLst/>
          </a:prstGeom>
          <a:solidFill>
            <a:srgbClr val="001900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✅  WITH JOINTIQ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D364"/>
                </a:solidFill>
                <a:latin typeface="Segoe UI"/>
              </a:rPr>
              <a:t>T+05min  →  Fault predicted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32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D364"/>
                </a:solidFill>
                <a:latin typeface="Segoe UI"/>
              </a:rPr>
              <a:t>15 minutes controlled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52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D364"/>
                </a:solidFill>
                <a:latin typeface="Segoe UI"/>
              </a:rPr>
              <a:t>$200 (lubricant + tech time)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73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Line slowed — never 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94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Parts safe. Tooling safe.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Zero injury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35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Auto-generated HSE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9560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Root cause: identified + fixed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Segoe UI"/>
              </a:rPr>
              <a:t>3 Alliston plants  ×  ~50 UR10e cobots  ×  4 faults/yr  ×  35% prevention  ×  $38K  =  $7.98M CAD saved per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E6EDF3"/>
                </a:solidFill>
                <a:latin typeface="Segoe UI"/>
              </a:rPr>
              <a:t>"We didn't build an alarm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58A6FF"/>
                </a:solidFill>
                <a:latin typeface="Segoe UI"/>
              </a:rPr>
              <a:t>We built a system that makes alarms unnecessary."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2331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514600"/>
            <a:ext cx="361188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6EDF3"/>
                </a:solidFill>
                <a:latin typeface="Segoe UI"/>
              </a:rPr>
              <a:t>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C8CFF"/>
                </a:solidFill>
                <a:latin typeface="Segoe UI"/>
              </a:rPr>
              <a:t>PREDICT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3246120" cy="3657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0507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Sees the fault 85 minutes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From 7 sensors + digital twin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514600"/>
            <a:ext cx="361188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6060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6EDF3"/>
                </a:solidFill>
                <a:latin typeface="Segoe U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375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6D364"/>
                </a:solidFill>
                <a:latin typeface="Segoe UI"/>
              </a:rPr>
              <a:t>PREVENT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886200"/>
            <a:ext cx="3246120" cy="3657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00507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Robot slows — line keeps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3891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Amber zone intervention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3611880" cy="292608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6060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6EDF3"/>
                </a:solidFill>
                <a:latin typeface="Segoe U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3375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B341"/>
                </a:solidFill>
                <a:latin typeface="Segoe UI"/>
              </a:rPr>
              <a:t>RECOVER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886200"/>
            <a:ext cx="3246120" cy="3657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00507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Right person · right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3891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15-minute maintenance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77840"/>
            <a:ext cx="1143000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875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Segoe UI"/>
              </a:rPr>
              <a:t>🌐  LIVE:  8lueprint3.github.io/hackathon-dashboard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Open on your phone → Hit AUTO DEMO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55624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