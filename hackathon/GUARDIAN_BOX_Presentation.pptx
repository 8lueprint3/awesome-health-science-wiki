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88952" cy="3474720"/>
          </a:xfrm>
          <a:prstGeom prst="rect">
            <a:avLst/>
          </a:prstGeom>
          <a:solidFill>
            <a:srgbClr val="14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05840"/>
            <a:ext cx="12188952" cy="1005840"/>
          </a:xfrm>
          <a:prstGeom prst="rect">
            <a:avLst/>
          </a:prstGeom>
          <a:noFill/>
        </p:spPr>
        <p:txBody>
          <a:bodyPr wrap="square">
            <a:spAutoFit/>
          </a:bodyPr>
          <a:lstStyle/>
          <a:p>
            <a:pPr algn="ctr"/>
            <a:r>
              <a:rPr sz="5400" b="1" i="0">
                <a:solidFill>
                  <a:srgbClr val="F0F0F0"/>
                </a:solidFill>
                <a:latin typeface="Segoe UI"/>
              </a:rPr>
              <a:t>🖤  THE GUARDIAN BOX</a:t>
            </a:r>
          </a:p>
        </p:txBody>
      </p:sp>
      <p:sp>
        <p:nvSpPr>
          <p:cNvPr id="6" name="TextBox 5"/>
          <p:cNvSpPr txBox="1"/>
          <p:nvPr/>
        </p:nvSpPr>
        <p:spPr>
          <a:xfrm>
            <a:off x="0" y="2057400"/>
            <a:ext cx="12188952" cy="594360"/>
          </a:xfrm>
          <a:prstGeom prst="rect">
            <a:avLst/>
          </a:prstGeom>
          <a:noFill/>
        </p:spPr>
        <p:txBody>
          <a:bodyPr wrap="square">
            <a:spAutoFit/>
          </a:bodyPr>
          <a:lstStyle/>
          <a:p>
            <a:pPr algn="ctr"/>
            <a:r>
              <a:rPr sz="2200" b="0" i="1">
                <a:solidFill>
                  <a:srgbClr val="888888"/>
                </a:solidFill>
                <a:latin typeface="Segoe UI"/>
              </a:rPr>
              <a:t>"When Robots Talk, We Listen"</a:t>
            </a:r>
          </a:p>
        </p:txBody>
      </p:sp>
      <p:cxnSp>
        <p:nvCxnSpPr>
          <p:cNvPr id="7" name="Connector 6"/>
          <p:cNvCxnSpPr/>
          <p:nvPr/>
        </p:nvCxnSpPr>
        <p:spPr>
          <a:xfrm>
            <a:off x="365760" y="2834640"/>
            <a:ext cx="11457432" cy="0"/>
          </a:xfrm>
          <a:prstGeom prst="line">
            <a:avLst/>
          </a:prstGeom>
          <a:ln w="9525">
            <a:solidFill>
              <a:srgbClr val="FF3B30"/>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286000" y="3017520"/>
            <a:ext cx="7616952" cy="502920"/>
          </a:xfrm>
          <a:prstGeom prst="rect">
            <a:avLst/>
          </a:prstGeom>
          <a:solidFill>
            <a:srgbClr val="1905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3081528"/>
            <a:ext cx="7406640" cy="365760"/>
          </a:xfrm>
          <a:prstGeom prst="rect">
            <a:avLst/>
          </a:prstGeom>
          <a:noFill/>
        </p:spPr>
        <p:txBody>
          <a:bodyPr wrap="square">
            <a:spAutoFit/>
          </a:bodyPr>
          <a:lstStyle/>
          <a:p>
            <a:pPr algn="l"/>
            <a:r>
              <a:rPr sz="1100" b="0" i="0">
                <a:solidFill>
                  <a:srgbClr val="FF9F0A"/>
                </a:solidFill>
                <a:latin typeface="Segoe UI"/>
              </a:rPr>
              <a:t>📅  Tuesday, 6:47 AM  ·  Honda Assembly Plant  ·  Robot R-47  ·  Status: Beginning morning shift...</a:t>
            </a:r>
          </a:p>
        </p:txBody>
      </p:sp>
      <p:sp>
        <p:nvSpPr>
          <p:cNvPr id="10" name="TextBox 9"/>
          <p:cNvSpPr txBox="1"/>
          <p:nvPr/>
        </p:nvSpPr>
        <p:spPr>
          <a:xfrm>
            <a:off x="0" y="3749039"/>
            <a:ext cx="12188952" cy="502920"/>
          </a:xfrm>
          <a:prstGeom prst="rect">
            <a:avLst/>
          </a:prstGeom>
          <a:noFill/>
        </p:spPr>
        <p:txBody>
          <a:bodyPr wrap="square">
            <a:spAutoFit/>
          </a:bodyPr>
          <a:lstStyle/>
          <a:p>
            <a:pPr algn="ctr"/>
            <a:r>
              <a:rPr sz="2800" b="0" i="1">
                <a:solidFill>
                  <a:srgbClr val="888888"/>
                </a:solidFill>
                <a:latin typeface="Segoe UI"/>
              </a:rPr>
              <a:t>Everything looks normal.</a:t>
            </a:r>
          </a:p>
        </p:txBody>
      </p:sp>
      <p:sp>
        <p:nvSpPr>
          <p:cNvPr id="11" name="TextBox 10"/>
          <p:cNvSpPr txBox="1"/>
          <p:nvPr/>
        </p:nvSpPr>
        <p:spPr>
          <a:xfrm>
            <a:off x="0" y="4297680"/>
            <a:ext cx="12188952" cy="502920"/>
          </a:xfrm>
          <a:prstGeom prst="rect">
            <a:avLst/>
          </a:prstGeom>
          <a:noFill/>
        </p:spPr>
        <p:txBody>
          <a:bodyPr wrap="square">
            <a:spAutoFit/>
          </a:bodyPr>
          <a:lstStyle/>
          <a:p>
            <a:pPr algn="ctr"/>
            <a:r>
              <a:rPr sz="3200" b="1" i="0">
                <a:solidFill>
                  <a:srgbClr val="FF3B30"/>
                </a:solidFill>
                <a:latin typeface="Segoe UI"/>
              </a:rPr>
              <a:t>Or does it?</a:t>
            </a:r>
          </a:p>
        </p:txBody>
      </p:sp>
      <p:sp>
        <p:nvSpPr>
          <p:cNvPr id="12" name="Rectangle 11"/>
          <p:cNvSpPr/>
          <p:nvPr/>
        </p:nvSpPr>
        <p:spPr>
          <a:xfrm>
            <a:off x="365760" y="5120640"/>
            <a:ext cx="11430000" cy="14173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212080"/>
            <a:ext cx="10972800" cy="274320"/>
          </a:xfrm>
          <a:prstGeom prst="rect">
            <a:avLst/>
          </a:prstGeom>
          <a:noFill/>
        </p:spPr>
        <p:txBody>
          <a:bodyPr wrap="square">
            <a:spAutoFit/>
          </a:bodyPr>
          <a:lstStyle/>
          <a:p>
            <a:pPr algn="l"/>
            <a:r>
              <a:rPr sz="800" b="1" i="0">
                <a:solidFill>
                  <a:srgbClr val="555555"/>
                </a:solidFill>
                <a:latin typeface="Segoe UI"/>
              </a:rPr>
              <a:t>SPEAKER SCRIPT:</a:t>
            </a:r>
          </a:p>
        </p:txBody>
      </p:sp>
      <p:sp>
        <p:nvSpPr>
          <p:cNvPr id="14" name="TextBox 13"/>
          <p:cNvSpPr txBox="1"/>
          <p:nvPr/>
        </p:nvSpPr>
        <p:spPr>
          <a:xfrm>
            <a:off x="548640" y="5468112"/>
            <a:ext cx="10972800" cy="960120"/>
          </a:xfrm>
          <a:prstGeom prst="rect">
            <a:avLst/>
          </a:prstGeom>
          <a:noFill/>
        </p:spPr>
        <p:txBody>
          <a:bodyPr wrap="square">
            <a:spAutoFit/>
          </a:bodyPr>
          <a:lstStyle/>
          <a:p>
            <a:pPr algn="l"/>
            <a:r>
              <a:rPr sz="900" b="0" i="1">
                <a:solidFill>
                  <a:srgbClr val="888888"/>
                </a:solidFill>
                <a:latin typeface="Segoe UI"/>
              </a:rPr>
              <a:t>"Good morning. I want you to imagine it's Tuesday. 6:47 AM. Your most important production line just powered up for the day. Robot R-47 — your highest-throughput unit — begins its morning routine. Every metric looks normal. Every light is green. Your shift supervisor signs off and heads for coffee. But inside Gear Motor #4... something has already begun. The physics of failure started while you were sleeping. And nobody — not one person on that floor — knows."</a:t>
            </a:r>
          </a:p>
        </p:txBody>
      </p:sp>
      <p:sp>
        <p:nvSpPr>
          <p:cNvPr id="15" name="TextBox 14"/>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16" name="TextBox 15"/>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4700016" cy="292608"/>
          </a:xfrm>
          <a:prstGeom prst="rect">
            <a:avLst/>
          </a:prstGeom>
          <a:solidFill>
            <a:srgbClr val="3F0E0C"/>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4608576" cy="256032"/>
          </a:xfrm>
          <a:prstGeom prst="rect">
            <a:avLst/>
          </a:prstGeom>
          <a:noFill/>
        </p:spPr>
        <p:txBody>
          <a:bodyPr wrap="square">
            <a:spAutoFit/>
          </a:bodyPr>
          <a:lstStyle/>
          <a:p>
            <a:pPr algn="l"/>
            <a:r>
              <a:rPr sz="900" b="1" i="0">
                <a:solidFill>
                  <a:srgbClr val="FF3B30"/>
                </a:solidFill>
                <a:latin typeface="Segoe UI"/>
              </a:rPr>
              <a:t>ACT 1  —  THE WORLD WITHOUT THE GUARDIAN BOX</a:t>
            </a:r>
          </a:p>
        </p:txBody>
      </p:sp>
      <p:sp>
        <p:nvSpPr>
          <p:cNvPr id="6" name="TextBox 5"/>
          <p:cNvSpPr txBox="1"/>
          <p:nvPr/>
        </p:nvSpPr>
        <p:spPr>
          <a:xfrm>
            <a:off x="365760" y="502920"/>
            <a:ext cx="10972800" cy="594360"/>
          </a:xfrm>
          <a:prstGeom prst="rect">
            <a:avLst/>
          </a:prstGeom>
          <a:noFill/>
        </p:spPr>
        <p:txBody>
          <a:bodyPr wrap="square">
            <a:spAutoFit/>
          </a:bodyPr>
          <a:lstStyle/>
          <a:p>
            <a:pPr algn="l"/>
            <a:r>
              <a:rPr sz="3400" b="1" i="0">
                <a:solidFill>
                  <a:srgbClr val="F0F0F0"/>
                </a:solidFill>
                <a:latin typeface="Segoe UI"/>
              </a:rPr>
              <a:t>The Warning Signs Nobody Saw</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731520" y="1371600"/>
            <a:ext cx="6583680" cy="3657600"/>
          </a:xfrm>
          <a:prstGeom prst="rect">
            <a:avLst/>
          </a:prstGeom>
          <a:solidFill>
            <a:srgbClr val="000000"/>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71600"/>
            <a:ext cx="6583680" cy="365760"/>
          </a:xfrm>
          <a:prstGeom prst="rect">
            <a:avLst/>
          </a:prstGeom>
          <a:solidFill>
            <a:srgbClr val="1E0000"/>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26464"/>
            <a:ext cx="6400800" cy="274320"/>
          </a:xfrm>
          <a:prstGeom prst="rect">
            <a:avLst/>
          </a:prstGeom>
          <a:noFill/>
        </p:spPr>
        <p:txBody>
          <a:bodyPr wrap="square">
            <a:spAutoFit/>
          </a:bodyPr>
          <a:lstStyle/>
          <a:p>
            <a:pPr algn="l"/>
            <a:r>
              <a:rPr sz="900" b="0" i="0">
                <a:solidFill>
                  <a:srgbClr val="FF3B30"/>
                </a:solidFill>
                <a:latin typeface="Segoe UI"/>
              </a:rPr>
              <a:t>⬤  ⬤  ⬤    R-47 SENSOR TERMINAL  —  6:47 AM</a:t>
            </a:r>
          </a:p>
        </p:txBody>
      </p:sp>
      <p:sp>
        <p:nvSpPr>
          <p:cNvPr id="11" name="TextBox 10"/>
          <p:cNvSpPr txBox="1"/>
          <p:nvPr/>
        </p:nvSpPr>
        <p:spPr>
          <a:xfrm>
            <a:off x="914400" y="1874519"/>
            <a:ext cx="2743200" cy="292608"/>
          </a:xfrm>
          <a:prstGeom prst="rect">
            <a:avLst/>
          </a:prstGeom>
          <a:noFill/>
        </p:spPr>
        <p:txBody>
          <a:bodyPr wrap="square">
            <a:spAutoFit/>
          </a:bodyPr>
          <a:lstStyle/>
          <a:p>
            <a:pPr algn="l"/>
            <a:r>
              <a:rPr sz="1000" b="0" i="0">
                <a:solidFill>
                  <a:srgbClr val="888888"/>
                </a:solidFill>
                <a:latin typeface="Segoe UI"/>
              </a:rPr>
              <a:t>GEAR 3 TEMPERATURE:</a:t>
            </a:r>
          </a:p>
        </p:txBody>
      </p:sp>
      <p:sp>
        <p:nvSpPr>
          <p:cNvPr id="12" name="TextBox 11"/>
          <p:cNvSpPr txBox="1"/>
          <p:nvPr/>
        </p:nvSpPr>
        <p:spPr>
          <a:xfrm>
            <a:off x="3749039" y="1874519"/>
            <a:ext cx="2286000" cy="292608"/>
          </a:xfrm>
          <a:prstGeom prst="rect">
            <a:avLst/>
          </a:prstGeom>
          <a:noFill/>
        </p:spPr>
        <p:txBody>
          <a:bodyPr wrap="square">
            <a:spAutoFit/>
          </a:bodyPr>
          <a:lstStyle/>
          <a:p>
            <a:pPr algn="l"/>
            <a:r>
              <a:rPr sz="1100" b="1" i="0">
                <a:solidFill>
                  <a:srgbClr val="FF3B30"/>
                </a:solidFill>
                <a:latin typeface="Segoe UI"/>
              </a:rPr>
              <a:t>142°F  ⚠</a:t>
            </a:r>
          </a:p>
        </p:txBody>
      </p:sp>
      <p:sp>
        <p:nvSpPr>
          <p:cNvPr id="13" name="TextBox 12"/>
          <p:cNvSpPr txBox="1"/>
          <p:nvPr/>
        </p:nvSpPr>
        <p:spPr>
          <a:xfrm>
            <a:off x="914400" y="2148839"/>
            <a:ext cx="5760720" cy="256032"/>
          </a:xfrm>
          <a:prstGeom prst="rect">
            <a:avLst/>
          </a:prstGeom>
          <a:noFill/>
        </p:spPr>
        <p:txBody>
          <a:bodyPr wrap="square">
            <a:spAutoFit/>
          </a:bodyPr>
          <a:lstStyle/>
          <a:p>
            <a:pPr algn="l"/>
            <a:r>
              <a:rPr sz="900" b="0" i="1">
                <a:solidFill>
                  <a:srgbClr val="555555"/>
                </a:solidFill>
                <a:latin typeface="Segoe UI"/>
              </a:rPr>
              <a:t>Normal range: 100–130°F</a:t>
            </a:r>
          </a:p>
        </p:txBody>
      </p:sp>
      <p:sp>
        <p:nvSpPr>
          <p:cNvPr id="14" name="TextBox 13"/>
          <p:cNvSpPr txBox="1"/>
          <p:nvPr/>
        </p:nvSpPr>
        <p:spPr>
          <a:xfrm>
            <a:off x="914400" y="2441448"/>
            <a:ext cx="2743200" cy="292608"/>
          </a:xfrm>
          <a:prstGeom prst="rect">
            <a:avLst/>
          </a:prstGeom>
          <a:noFill/>
        </p:spPr>
        <p:txBody>
          <a:bodyPr wrap="square">
            <a:spAutoFit/>
          </a:bodyPr>
          <a:lstStyle/>
          <a:p>
            <a:pPr algn="l"/>
            <a:r>
              <a:rPr sz="1000" b="0" i="0">
                <a:solidFill>
                  <a:srgbClr val="888888"/>
                </a:solidFill>
                <a:latin typeface="Segoe UI"/>
              </a:rPr>
              <a:t>VIBRATION LEVEL:</a:t>
            </a:r>
          </a:p>
        </p:txBody>
      </p:sp>
      <p:sp>
        <p:nvSpPr>
          <p:cNvPr id="15" name="TextBox 14"/>
          <p:cNvSpPr txBox="1"/>
          <p:nvPr/>
        </p:nvSpPr>
        <p:spPr>
          <a:xfrm>
            <a:off x="3749039" y="2441448"/>
            <a:ext cx="2286000" cy="292608"/>
          </a:xfrm>
          <a:prstGeom prst="rect">
            <a:avLst/>
          </a:prstGeom>
          <a:noFill/>
        </p:spPr>
        <p:txBody>
          <a:bodyPr wrap="square">
            <a:spAutoFit/>
          </a:bodyPr>
          <a:lstStyle/>
          <a:p>
            <a:pPr algn="l"/>
            <a:r>
              <a:rPr sz="1100" b="1" i="0">
                <a:solidFill>
                  <a:srgbClr val="FF3B30"/>
                </a:solidFill>
                <a:latin typeface="Segoe UI"/>
              </a:rPr>
              <a:t>4.2 mm/s  ⚠</a:t>
            </a:r>
          </a:p>
        </p:txBody>
      </p:sp>
      <p:sp>
        <p:nvSpPr>
          <p:cNvPr id="16" name="TextBox 15"/>
          <p:cNvSpPr txBox="1"/>
          <p:nvPr/>
        </p:nvSpPr>
        <p:spPr>
          <a:xfrm>
            <a:off x="914400" y="2715768"/>
            <a:ext cx="5760720" cy="256032"/>
          </a:xfrm>
          <a:prstGeom prst="rect">
            <a:avLst/>
          </a:prstGeom>
          <a:noFill/>
        </p:spPr>
        <p:txBody>
          <a:bodyPr wrap="square">
            <a:spAutoFit/>
          </a:bodyPr>
          <a:lstStyle/>
          <a:p>
            <a:pPr algn="l"/>
            <a:r>
              <a:rPr sz="900" b="0" i="1">
                <a:solidFill>
                  <a:srgbClr val="555555"/>
                </a:solidFill>
                <a:latin typeface="Segoe UI"/>
              </a:rPr>
              <a:t>Normal range: 0–3.5 mm/s</a:t>
            </a:r>
          </a:p>
        </p:txBody>
      </p:sp>
      <p:sp>
        <p:nvSpPr>
          <p:cNvPr id="17" name="TextBox 16"/>
          <p:cNvSpPr txBox="1"/>
          <p:nvPr/>
        </p:nvSpPr>
        <p:spPr>
          <a:xfrm>
            <a:off x="914400" y="3008376"/>
            <a:ext cx="2743200" cy="292608"/>
          </a:xfrm>
          <a:prstGeom prst="rect">
            <a:avLst/>
          </a:prstGeom>
          <a:noFill/>
        </p:spPr>
        <p:txBody>
          <a:bodyPr wrap="square">
            <a:spAutoFit/>
          </a:bodyPr>
          <a:lstStyle/>
          <a:p>
            <a:pPr algn="l"/>
            <a:r>
              <a:rPr sz="1000" b="0" i="0">
                <a:solidFill>
                  <a:srgbClr val="888888"/>
                </a:solidFill>
                <a:latin typeface="Segoe UI"/>
              </a:rPr>
              <a:t>GEAR 5 BEARING:</a:t>
            </a:r>
          </a:p>
        </p:txBody>
      </p:sp>
      <p:sp>
        <p:nvSpPr>
          <p:cNvPr id="18" name="TextBox 17"/>
          <p:cNvSpPr txBox="1"/>
          <p:nvPr/>
        </p:nvSpPr>
        <p:spPr>
          <a:xfrm>
            <a:off x="3749039" y="3008376"/>
            <a:ext cx="2286000" cy="292608"/>
          </a:xfrm>
          <a:prstGeom prst="rect">
            <a:avLst/>
          </a:prstGeom>
          <a:noFill/>
        </p:spPr>
        <p:txBody>
          <a:bodyPr wrap="square">
            <a:spAutoFit/>
          </a:bodyPr>
          <a:lstStyle/>
          <a:p>
            <a:pPr algn="l"/>
            <a:r>
              <a:rPr sz="1100" b="1" i="0">
                <a:solidFill>
                  <a:srgbClr val="FF9F0A"/>
                </a:solidFill>
                <a:latin typeface="Segoe UI"/>
              </a:rPr>
              <a:t>MICRO-STRESS</a:t>
            </a:r>
          </a:p>
        </p:txBody>
      </p:sp>
      <p:sp>
        <p:nvSpPr>
          <p:cNvPr id="19" name="TextBox 18"/>
          <p:cNvSpPr txBox="1"/>
          <p:nvPr/>
        </p:nvSpPr>
        <p:spPr>
          <a:xfrm>
            <a:off x="914400" y="3282696"/>
            <a:ext cx="5760720" cy="256032"/>
          </a:xfrm>
          <a:prstGeom prst="rect">
            <a:avLst/>
          </a:prstGeom>
          <a:noFill/>
        </p:spPr>
        <p:txBody>
          <a:bodyPr wrap="square">
            <a:spAutoFit/>
          </a:bodyPr>
          <a:lstStyle/>
          <a:p>
            <a:pPr algn="l"/>
            <a:r>
              <a:rPr sz="900" b="0" i="1">
                <a:solidFill>
                  <a:srgbClr val="555555"/>
                </a:solidFill>
                <a:latin typeface="Segoe UI"/>
              </a:rPr>
              <a:t>Acoustic signature anomaly</a:t>
            </a:r>
          </a:p>
        </p:txBody>
      </p:sp>
      <p:sp>
        <p:nvSpPr>
          <p:cNvPr id="20" name="TextBox 19"/>
          <p:cNvSpPr txBox="1"/>
          <p:nvPr/>
        </p:nvSpPr>
        <p:spPr>
          <a:xfrm>
            <a:off x="914400" y="3575303"/>
            <a:ext cx="2743200" cy="292608"/>
          </a:xfrm>
          <a:prstGeom prst="rect">
            <a:avLst/>
          </a:prstGeom>
          <a:noFill/>
        </p:spPr>
        <p:txBody>
          <a:bodyPr wrap="square">
            <a:spAutoFit/>
          </a:bodyPr>
          <a:lstStyle/>
          <a:p>
            <a:pPr algn="l"/>
            <a:r>
              <a:rPr sz="1000" b="0" i="0">
                <a:solidFill>
                  <a:srgbClr val="888888"/>
                </a:solidFill>
                <a:latin typeface="Segoe UI"/>
              </a:rPr>
              <a:t>LUBRICANT LEVEL:</a:t>
            </a:r>
          </a:p>
        </p:txBody>
      </p:sp>
      <p:sp>
        <p:nvSpPr>
          <p:cNvPr id="21" name="TextBox 20"/>
          <p:cNvSpPr txBox="1"/>
          <p:nvPr/>
        </p:nvSpPr>
        <p:spPr>
          <a:xfrm>
            <a:off x="3749039" y="3575303"/>
            <a:ext cx="2286000" cy="292608"/>
          </a:xfrm>
          <a:prstGeom prst="rect">
            <a:avLst/>
          </a:prstGeom>
          <a:noFill/>
        </p:spPr>
        <p:txBody>
          <a:bodyPr wrap="square">
            <a:spAutoFit/>
          </a:bodyPr>
          <a:lstStyle/>
          <a:p>
            <a:pPr algn="l"/>
            <a:r>
              <a:rPr sz="1100" b="1" i="0">
                <a:solidFill>
                  <a:srgbClr val="FF9F0A"/>
                </a:solidFill>
                <a:latin typeface="Segoe UI"/>
              </a:rPr>
              <a:t>40% DEGRADED</a:t>
            </a:r>
          </a:p>
        </p:txBody>
      </p:sp>
      <p:sp>
        <p:nvSpPr>
          <p:cNvPr id="22" name="TextBox 21"/>
          <p:cNvSpPr txBox="1"/>
          <p:nvPr/>
        </p:nvSpPr>
        <p:spPr>
          <a:xfrm>
            <a:off x="914400" y="3849624"/>
            <a:ext cx="5760720" cy="256032"/>
          </a:xfrm>
          <a:prstGeom prst="rect">
            <a:avLst/>
          </a:prstGeom>
          <a:noFill/>
        </p:spPr>
        <p:txBody>
          <a:bodyPr wrap="square">
            <a:spAutoFit/>
          </a:bodyPr>
          <a:lstStyle/>
          <a:p>
            <a:pPr algn="l"/>
            <a:r>
              <a:rPr sz="900" b="0" i="1">
                <a:solidFill>
                  <a:srgbClr val="555555"/>
                </a:solidFill>
                <a:latin typeface="Segoe UI"/>
              </a:rPr>
              <a:t>Flush overdue ~340 hrs</a:t>
            </a:r>
          </a:p>
        </p:txBody>
      </p:sp>
      <p:sp>
        <p:nvSpPr>
          <p:cNvPr id="23" name="TextBox 22"/>
          <p:cNvSpPr txBox="1"/>
          <p:nvPr/>
        </p:nvSpPr>
        <p:spPr>
          <a:xfrm>
            <a:off x="914400" y="4142231"/>
            <a:ext cx="2743200" cy="292608"/>
          </a:xfrm>
          <a:prstGeom prst="rect">
            <a:avLst/>
          </a:prstGeom>
          <a:noFill/>
        </p:spPr>
        <p:txBody>
          <a:bodyPr wrap="square">
            <a:spAutoFit/>
          </a:bodyPr>
          <a:lstStyle/>
          <a:p>
            <a:pPr algn="l"/>
            <a:r>
              <a:rPr sz="1000" b="0" i="0">
                <a:solidFill>
                  <a:srgbClr val="888888"/>
                </a:solidFill>
                <a:latin typeface="Segoe UI"/>
              </a:rPr>
              <a:t>STATUS:</a:t>
            </a:r>
          </a:p>
        </p:txBody>
      </p:sp>
      <p:sp>
        <p:nvSpPr>
          <p:cNvPr id="24" name="TextBox 23"/>
          <p:cNvSpPr txBox="1"/>
          <p:nvPr/>
        </p:nvSpPr>
        <p:spPr>
          <a:xfrm>
            <a:off x="3749039" y="4142231"/>
            <a:ext cx="2286000" cy="292608"/>
          </a:xfrm>
          <a:prstGeom prst="rect">
            <a:avLst/>
          </a:prstGeom>
          <a:noFill/>
        </p:spPr>
        <p:txBody>
          <a:bodyPr wrap="square">
            <a:spAutoFit/>
          </a:bodyPr>
          <a:lstStyle/>
          <a:p>
            <a:pPr algn="l"/>
            <a:r>
              <a:rPr sz="1100" b="1" i="0">
                <a:solidFill>
                  <a:srgbClr val="888888"/>
                </a:solidFill>
                <a:latin typeface="Segoe UI"/>
              </a:rPr>
              <a:t>NO ACTIVE MONITOR</a:t>
            </a:r>
          </a:p>
        </p:txBody>
      </p:sp>
      <p:sp>
        <p:nvSpPr>
          <p:cNvPr id="25" name="TextBox 24"/>
          <p:cNvSpPr txBox="1"/>
          <p:nvPr/>
        </p:nvSpPr>
        <p:spPr>
          <a:xfrm>
            <a:off x="914400" y="4416551"/>
            <a:ext cx="5760720" cy="256032"/>
          </a:xfrm>
          <a:prstGeom prst="rect">
            <a:avLst/>
          </a:prstGeom>
          <a:noFill/>
        </p:spPr>
        <p:txBody>
          <a:bodyPr wrap="square">
            <a:spAutoFit/>
          </a:bodyPr>
          <a:lstStyle/>
          <a:p>
            <a:pPr algn="l"/>
            <a:r>
              <a:rPr sz="900" b="0" i="1">
                <a:solidFill>
                  <a:srgbClr val="555555"/>
                </a:solidFill>
                <a:latin typeface="Segoe UI"/>
              </a:rPr>
              <a:t>No system watching</a:t>
            </a:r>
          </a:p>
        </p:txBody>
      </p:sp>
      <p:sp>
        <p:nvSpPr>
          <p:cNvPr id="26" name="Rectangle 25"/>
          <p:cNvSpPr/>
          <p:nvPr/>
        </p:nvSpPr>
        <p:spPr>
          <a:xfrm>
            <a:off x="7589520" y="1371600"/>
            <a:ext cx="4206240" cy="3657600"/>
          </a:xfrm>
          <a:prstGeom prst="rect">
            <a:avLst/>
          </a:prstGeom>
          <a:solidFill>
            <a:srgbClr val="0F00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1828800"/>
            <a:ext cx="3840480" cy="457200"/>
          </a:xfrm>
          <a:prstGeom prst="rect">
            <a:avLst/>
          </a:prstGeom>
          <a:noFill/>
        </p:spPr>
        <p:txBody>
          <a:bodyPr wrap="square">
            <a:spAutoFit/>
          </a:bodyPr>
          <a:lstStyle/>
          <a:p>
            <a:pPr algn="ctr"/>
            <a:r>
              <a:rPr sz="1800" b="1" i="0">
                <a:solidFill>
                  <a:srgbClr val="F0F0F0"/>
                </a:solidFill>
                <a:latin typeface="Segoe UI"/>
              </a:rPr>
              <a:t>Nobody noticed.</a:t>
            </a:r>
          </a:p>
        </p:txBody>
      </p:sp>
      <p:sp>
        <p:nvSpPr>
          <p:cNvPr id="28" name="TextBox 27"/>
          <p:cNvSpPr txBox="1"/>
          <p:nvPr/>
        </p:nvSpPr>
        <p:spPr>
          <a:xfrm>
            <a:off x="7772400" y="2377440"/>
            <a:ext cx="3840480" cy="457200"/>
          </a:xfrm>
          <a:prstGeom prst="rect">
            <a:avLst/>
          </a:prstGeom>
          <a:noFill/>
        </p:spPr>
        <p:txBody>
          <a:bodyPr wrap="square">
            <a:spAutoFit/>
          </a:bodyPr>
          <a:lstStyle/>
          <a:p>
            <a:pPr algn="ctr"/>
            <a:r>
              <a:rPr sz="1600" b="0" i="1">
                <a:solidFill>
                  <a:srgbClr val="888888"/>
                </a:solidFill>
                <a:latin typeface="Segoe UI"/>
              </a:rPr>
              <a:t>The line kept moving.</a:t>
            </a:r>
          </a:p>
        </p:txBody>
      </p:sp>
      <p:sp>
        <p:nvSpPr>
          <p:cNvPr id="29" name="TextBox 28"/>
          <p:cNvSpPr txBox="1"/>
          <p:nvPr/>
        </p:nvSpPr>
        <p:spPr>
          <a:xfrm>
            <a:off x="7772400" y="2834640"/>
            <a:ext cx="3840480" cy="640080"/>
          </a:xfrm>
          <a:prstGeom prst="rect">
            <a:avLst/>
          </a:prstGeom>
          <a:noFill/>
        </p:spPr>
        <p:txBody>
          <a:bodyPr wrap="square">
            <a:spAutoFit/>
          </a:bodyPr>
          <a:lstStyle/>
          <a:p>
            <a:pPr algn="ctr"/>
            <a:r>
              <a:rPr sz="4000" b="0" i="0">
                <a:solidFill>
                  <a:srgbClr val="F0F0F0"/>
                </a:solidFill>
                <a:latin typeface="Segoe UI"/>
              </a:rPr>
              <a:t>⏱</a:t>
            </a:r>
          </a:p>
        </p:txBody>
      </p:sp>
      <p:sp>
        <p:nvSpPr>
          <p:cNvPr id="30" name="TextBox 29"/>
          <p:cNvSpPr txBox="1"/>
          <p:nvPr/>
        </p:nvSpPr>
        <p:spPr>
          <a:xfrm>
            <a:off x="7772400" y="3474720"/>
            <a:ext cx="3840480" cy="822960"/>
          </a:xfrm>
          <a:prstGeom prst="rect">
            <a:avLst/>
          </a:prstGeom>
          <a:noFill/>
        </p:spPr>
        <p:txBody>
          <a:bodyPr wrap="square">
            <a:spAutoFit/>
          </a:bodyPr>
          <a:lstStyle/>
          <a:p>
            <a:pPr algn="ctr"/>
            <a:r>
              <a:rPr sz="1200" b="0" i="0">
                <a:solidFill>
                  <a:srgbClr val="FF3B30"/>
                </a:solidFill>
                <a:latin typeface="Segoe UI"/>
              </a:rPr>
              <a:t>Failure clock:
started without
anyone knowing.</a:t>
            </a:r>
          </a:p>
        </p:txBody>
      </p:sp>
      <p:sp>
        <p:nvSpPr>
          <p:cNvPr id="31" name="Rectangle 30"/>
          <p:cNvSpPr/>
          <p:nvPr/>
        </p:nvSpPr>
        <p:spPr>
          <a:xfrm>
            <a:off x="365760" y="5166360"/>
            <a:ext cx="11430000" cy="137160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239512"/>
            <a:ext cx="10972800" cy="256032"/>
          </a:xfrm>
          <a:prstGeom prst="rect">
            <a:avLst/>
          </a:prstGeom>
          <a:noFill/>
        </p:spPr>
        <p:txBody>
          <a:bodyPr wrap="square">
            <a:spAutoFit/>
          </a:bodyPr>
          <a:lstStyle/>
          <a:p>
            <a:pPr algn="l"/>
            <a:r>
              <a:rPr sz="800" b="1" i="0">
                <a:solidFill>
                  <a:srgbClr val="555555"/>
                </a:solidFill>
                <a:latin typeface="Segoe UI"/>
              </a:rPr>
              <a:t>SPEAKER SCRIPT:</a:t>
            </a:r>
          </a:p>
        </p:txBody>
      </p:sp>
      <p:sp>
        <p:nvSpPr>
          <p:cNvPr id="33" name="TextBox 32"/>
          <p:cNvSpPr txBox="1"/>
          <p:nvPr/>
        </p:nvSpPr>
        <p:spPr>
          <a:xfrm>
            <a:off x="548640" y="5458968"/>
            <a:ext cx="10972800" cy="960120"/>
          </a:xfrm>
          <a:prstGeom prst="rect">
            <a:avLst/>
          </a:prstGeom>
          <a:noFill/>
        </p:spPr>
        <p:txBody>
          <a:bodyPr wrap="square">
            <a:spAutoFit/>
          </a:bodyPr>
          <a:lstStyle/>
          <a:p>
            <a:pPr algn="l"/>
            <a:r>
              <a:rPr sz="900" b="0" i="1">
                <a:solidFill>
                  <a:srgbClr val="888888"/>
                </a:solidFill>
                <a:latin typeface="Segoe UI"/>
              </a:rPr>
              <a:t>"At 6:47 AM, Robot R-47 powers up. And if you look at this terminal — right here — the signs are already there. Gear 3 is running at 142 degrees. Normal is 130. Vibration is 4.2 millimetres per second. Normal is 3.5. The bearing has an acoustic signature that any experienced engineer would recognise. But here's the thing [pause] — there is no system watching this. No alert fires. No phone buzzes. The line manager sees green lights on the board. And he walks away. The clock has started."</a:t>
            </a:r>
          </a:p>
        </p:txBody>
      </p:sp>
      <p:sp>
        <p:nvSpPr>
          <p:cNvPr id="34" name="TextBox 33"/>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35" name="TextBox 34"/>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9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9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1984248" cy="292608"/>
          </a:xfrm>
          <a:prstGeom prst="rect">
            <a:avLst/>
          </a:prstGeom>
          <a:solidFill>
            <a:srgbClr val="3F2702"/>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1892808" cy="256032"/>
          </a:xfrm>
          <a:prstGeom prst="rect">
            <a:avLst/>
          </a:prstGeom>
          <a:noFill/>
        </p:spPr>
        <p:txBody>
          <a:bodyPr wrap="square">
            <a:spAutoFit/>
          </a:bodyPr>
          <a:lstStyle/>
          <a:p>
            <a:pPr algn="l"/>
            <a:r>
              <a:rPr sz="900" b="1" i="0">
                <a:solidFill>
                  <a:srgbClr val="FF9F0A"/>
                </a:solidFill>
                <a:latin typeface="Segoe UI"/>
              </a:rPr>
              <a:t>ACT 1  —  SCENE 2</a:t>
            </a:r>
          </a:p>
        </p:txBody>
      </p:sp>
      <p:sp>
        <p:nvSpPr>
          <p:cNvPr id="6" name="TextBox 5"/>
          <p:cNvSpPr txBox="1"/>
          <p:nvPr/>
        </p:nvSpPr>
        <p:spPr>
          <a:xfrm>
            <a:off x="365760" y="502920"/>
            <a:ext cx="10972800" cy="594360"/>
          </a:xfrm>
          <a:prstGeom prst="rect">
            <a:avLst/>
          </a:prstGeom>
          <a:noFill/>
        </p:spPr>
        <p:txBody>
          <a:bodyPr wrap="square">
            <a:spAutoFit/>
          </a:bodyPr>
          <a:lstStyle/>
          <a:p>
            <a:pPr algn="l"/>
            <a:r>
              <a:rPr sz="3000" b="1" i="0">
                <a:solidFill>
                  <a:srgbClr val="F0F0F0"/>
                </a:solidFill>
                <a:latin typeface="Segoe UI"/>
              </a:rPr>
              <a:t>The Perfect Storm: 4 Root Causes Converging</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040" y="1371600"/>
            <a:ext cx="2834640" cy="4114800"/>
          </a:xfrm>
          <a:prstGeom prst="rect">
            <a:avLst/>
          </a:prstGeom>
          <a:solidFill>
            <a:srgbClr val="1A1A1A"/>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2834640" cy="640080"/>
          </a:xfrm>
          <a:prstGeom prst="rect">
            <a:avLst/>
          </a:prstGeom>
          <a:solidFill>
            <a:srgbClr val="330B09"/>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11" name="TextBox 10"/>
          <p:cNvSpPr txBox="1"/>
          <p:nvPr/>
        </p:nvSpPr>
        <p:spPr>
          <a:xfrm>
            <a:off x="914400" y="1481328"/>
            <a:ext cx="2103120" cy="292608"/>
          </a:xfrm>
          <a:prstGeom prst="rect">
            <a:avLst/>
          </a:prstGeom>
          <a:noFill/>
        </p:spPr>
        <p:txBody>
          <a:bodyPr wrap="square">
            <a:spAutoFit/>
          </a:bodyPr>
          <a:lstStyle/>
          <a:p>
            <a:pPr algn="l"/>
            <a:r>
              <a:rPr sz="1100" b="1" i="0">
                <a:solidFill>
                  <a:srgbClr val="FF3B30"/>
                </a:solidFill>
                <a:latin typeface="Segoe UI"/>
              </a:rPr>
              <a:t>HUMAN</a:t>
            </a:r>
          </a:p>
        </p:txBody>
      </p:sp>
      <p:sp>
        <p:nvSpPr>
          <p:cNvPr id="12" name="TextBox 11"/>
          <p:cNvSpPr txBox="1"/>
          <p:nvPr/>
        </p:nvSpPr>
        <p:spPr>
          <a:xfrm>
            <a:off x="429768" y="2121408"/>
            <a:ext cx="2615184" cy="1920240"/>
          </a:xfrm>
          <a:prstGeom prst="rect">
            <a:avLst/>
          </a:prstGeom>
          <a:noFill/>
        </p:spPr>
        <p:txBody>
          <a:bodyPr wrap="square">
            <a:spAutoFit/>
          </a:bodyPr>
          <a:lstStyle/>
          <a:p>
            <a:pPr algn="l"/>
            <a:r>
              <a:rPr sz="900" b="0" i="0">
                <a:solidFill>
                  <a:srgbClr val="888888"/>
                </a:solidFill>
                <a:latin typeface="Segoe UI"/>
              </a:rPr>
              <a:t>Night shift operator Mike skipped pre-shift inspection, didn't log unusual sounds, was undertrained on R-47, handed off shift with zero notes.</a:t>
            </a:r>
          </a:p>
        </p:txBody>
      </p:sp>
      <p:sp>
        <p:nvSpPr>
          <p:cNvPr id="13" name="Rectangle 12"/>
          <p:cNvSpPr/>
          <p:nvPr/>
        </p:nvSpPr>
        <p:spPr>
          <a:xfrm>
            <a:off x="411479" y="4800600"/>
            <a:ext cx="2651760" cy="566928"/>
          </a:xfrm>
          <a:prstGeom prst="rect">
            <a:avLst/>
          </a:prstGeom>
          <a:solidFill>
            <a:srgbClr val="2A0908"/>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882896"/>
            <a:ext cx="2468880" cy="365760"/>
          </a:xfrm>
          <a:prstGeom prst="rect">
            <a:avLst/>
          </a:prstGeom>
          <a:noFill/>
        </p:spPr>
        <p:txBody>
          <a:bodyPr wrap="square">
            <a:spAutoFit/>
          </a:bodyPr>
          <a:lstStyle/>
          <a:p>
            <a:pPr algn="l"/>
            <a:r>
              <a:rPr sz="1000" b="1" i="0">
                <a:solidFill>
                  <a:srgbClr val="FF3B30"/>
                </a:solidFill>
                <a:latin typeface="Segoe UI"/>
              </a:rPr>
              <a:t>❌  Warning signs: MISSED</a:t>
            </a:r>
          </a:p>
        </p:txBody>
      </p:sp>
      <p:sp>
        <p:nvSpPr>
          <p:cNvPr id="15" name="Rectangle 14"/>
          <p:cNvSpPr/>
          <p:nvPr/>
        </p:nvSpPr>
        <p:spPr>
          <a:xfrm>
            <a:off x="3264408" y="1371600"/>
            <a:ext cx="2834640" cy="4114800"/>
          </a:xfrm>
          <a:prstGeom prst="rect">
            <a:avLst/>
          </a:prstGeom>
          <a:solidFill>
            <a:srgbClr val="1A1A1A"/>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64408" y="1371600"/>
            <a:ext cx="2834640" cy="640080"/>
          </a:xfrm>
          <a:prstGeom prst="rect">
            <a:avLst/>
          </a:prstGeom>
          <a:solidFill>
            <a:srgbClr val="331F02"/>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5848"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18" name="TextBox 17"/>
          <p:cNvSpPr txBox="1"/>
          <p:nvPr/>
        </p:nvSpPr>
        <p:spPr>
          <a:xfrm>
            <a:off x="3858768" y="1481328"/>
            <a:ext cx="2103120" cy="292608"/>
          </a:xfrm>
          <a:prstGeom prst="rect">
            <a:avLst/>
          </a:prstGeom>
          <a:noFill/>
        </p:spPr>
        <p:txBody>
          <a:bodyPr wrap="square">
            <a:spAutoFit/>
          </a:bodyPr>
          <a:lstStyle/>
          <a:p>
            <a:pPr algn="l"/>
            <a:r>
              <a:rPr sz="1100" b="1" i="0">
                <a:solidFill>
                  <a:srgbClr val="FF9F0A"/>
                </a:solidFill>
                <a:latin typeface="Segoe UI"/>
              </a:rPr>
              <a:t>MATERIAL</a:t>
            </a:r>
          </a:p>
        </p:txBody>
      </p:sp>
      <p:sp>
        <p:nvSpPr>
          <p:cNvPr id="19" name="TextBox 18"/>
          <p:cNvSpPr txBox="1"/>
          <p:nvPr/>
        </p:nvSpPr>
        <p:spPr>
          <a:xfrm>
            <a:off x="3374136" y="2121408"/>
            <a:ext cx="2615184" cy="1920240"/>
          </a:xfrm>
          <a:prstGeom prst="rect">
            <a:avLst/>
          </a:prstGeom>
          <a:noFill/>
        </p:spPr>
        <p:txBody>
          <a:bodyPr wrap="square">
            <a:spAutoFit/>
          </a:bodyPr>
          <a:lstStyle/>
          <a:p>
            <a:pPr algn="l"/>
            <a:r>
              <a:rPr sz="900" b="0" i="0">
                <a:solidFill>
                  <a:srgbClr val="888888"/>
                </a:solidFill>
                <a:latin typeface="Segoe UI"/>
              </a:rPr>
              <a:t>Gear 3 lubricant 40% degraded. Gear 5 bearing: micro-fractures forming. Coolant fluid 3 months overdue. Seals showing early wear.</a:t>
            </a:r>
          </a:p>
        </p:txBody>
      </p:sp>
      <p:sp>
        <p:nvSpPr>
          <p:cNvPr id="20" name="Rectangle 19"/>
          <p:cNvSpPr/>
          <p:nvPr/>
        </p:nvSpPr>
        <p:spPr>
          <a:xfrm>
            <a:off x="3355848" y="4800600"/>
            <a:ext cx="2651760" cy="566928"/>
          </a:xfrm>
          <a:prstGeom prst="rect">
            <a:avLst/>
          </a:prstGeom>
          <a:solidFill>
            <a:srgbClr val="2A1A01"/>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47288" y="4882896"/>
            <a:ext cx="2468880" cy="365760"/>
          </a:xfrm>
          <a:prstGeom prst="rect">
            <a:avLst/>
          </a:prstGeom>
          <a:noFill/>
        </p:spPr>
        <p:txBody>
          <a:bodyPr wrap="square">
            <a:spAutoFit/>
          </a:bodyPr>
          <a:lstStyle/>
          <a:p>
            <a:pPr algn="l"/>
            <a:r>
              <a:rPr sz="1000" b="1" i="0">
                <a:solidFill>
                  <a:srgbClr val="FF9F0A"/>
                </a:solidFill>
                <a:latin typeface="Segoe UI"/>
              </a:rPr>
              <a:t>❌  Parts failing: SILENTLY</a:t>
            </a:r>
          </a:p>
        </p:txBody>
      </p:sp>
      <p:sp>
        <p:nvSpPr>
          <p:cNvPr id="22" name="Rectangle 21"/>
          <p:cNvSpPr/>
          <p:nvPr/>
        </p:nvSpPr>
        <p:spPr>
          <a:xfrm>
            <a:off x="6208776" y="1371600"/>
            <a:ext cx="2834640" cy="4114800"/>
          </a:xfrm>
          <a:prstGeom prst="rect">
            <a:avLst/>
          </a:prstGeom>
          <a:solidFill>
            <a:srgbClr val="1A1A1A"/>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08776" y="1371600"/>
            <a:ext cx="2834640" cy="640080"/>
          </a:xfrm>
          <a:prstGeom prst="rect">
            <a:avLst/>
          </a:prstGeom>
          <a:solidFill>
            <a:srgbClr val="331F02"/>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6"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25" name="TextBox 24"/>
          <p:cNvSpPr txBox="1"/>
          <p:nvPr/>
        </p:nvSpPr>
        <p:spPr>
          <a:xfrm>
            <a:off x="6803136" y="1481328"/>
            <a:ext cx="2103120" cy="292608"/>
          </a:xfrm>
          <a:prstGeom prst="rect">
            <a:avLst/>
          </a:prstGeom>
          <a:noFill/>
        </p:spPr>
        <p:txBody>
          <a:bodyPr wrap="square">
            <a:spAutoFit/>
          </a:bodyPr>
          <a:lstStyle/>
          <a:p>
            <a:pPr algn="l"/>
            <a:r>
              <a:rPr sz="1100" b="1" i="0">
                <a:solidFill>
                  <a:srgbClr val="FF9F0A"/>
                </a:solidFill>
                <a:latin typeface="Segoe UI"/>
              </a:rPr>
              <a:t>METHODS</a:t>
            </a:r>
          </a:p>
        </p:txBody>
      </p:sp>
      <p:sp>
        <p:nvSpPr>
          <p:cNvPr id="26" name="TextBox 25"/>
          <p:cNvSpPr txBox="1"/>
          <p:nvPr/>
        </p:nvSpPr>
        <p:spPr>
          <a:xfrm>
            <a:off x="6318504" y="2121408"/>
            <a:ext cx="2615184" cy="1920240"/>
          </a:xfrm>
          <a:prstGeom prst="rect">
            <a:avLst/>
          </a:prstGeom>
          <a:noFill/>
        </p:spPr>
        <p:txBody>
          <a:bodyPr wrap="square">
            <a:spAutoFit/>
          </a:bodyPr>
          <a:lstStyle/>
          <a:p>
            <a:pPr algn="l"/>
            <a:r>
              <a:rPr sz="900" b="0" i="0">
                <a:solidFill>
                  <a:srgbClr val="888888"/>
                </a:solidFill>
                <a:latin typeface="Segoe UI"/>
              </a:rPr>
              <a:t>Last inspection: 6 weeks ago. Manual checks only twice a month. No real-time monitoring. Troubleshooting done from memory.</a:t>
            </a:r>
          </a:p>
        </p:txBody>
      </p:sp>
      <p:sp>
        <p:nvSpPr>
          <p:cNvPr id="27" name="Rectangle 26"/>
          <p:cNvSpPr/>
          <p:nvPr/>
        </p:nvSpPr>
        <p:spPr>
          <a:xfrm>
            <a:off x="6300216" y="4800600"/>
            <a:ext cx="2651760" cy="566928"/>
          </a:xfrm>
          <a:prstGeom prst="rect">
            <a:avLst/>
          </a:prstGeom>
          <a:solidFill>
            <a:srgbClr val="2A1A01"/>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1656" y="4882896"/>
            <a:ext cx="2468880" cy="365760"/>
          </a:xfrm>
          <a:prstGeom prst="rect">
            <a:avLst/>
          </a:prstGeom>
          <a:noFill/>
        </p:spPr>
        <p:txBody>
          <a:bodyPr wrap="square">
            <a:spAutoFit/>
          </a:bodyPr>
          <a:lstStyle/>
          <a:p>
            <a:pPr algn="l"/>
            <a:r>
              <a:rPr sz="1000" b="1" i="0">
                <a:solidFill>
                  <a:srgbClr val="FF9F0A"/>
                </a:solidFill>
                <a:latin typeface="Segoe UI"/>
              </a:rPr>
              <a:t>❌  No system: TO CATCH IT</a:t>
            </a:r>
          </a:p>
        </p:txBody>
      </p:sp>
      <p:sp>
        <p:nvSpPr>
          <p:cNvPr id="29" name="Rectangle 28"/>
          <p:cNvSpPr/>
          <p:nvPr/>
        </p:nvSpPr>
        <p:spPr>
          <a:xfrm>
            <a:off x="9153144" y="1371600"/>
            <a:ext cx="2834640" cy="4114800"/>
          </a:xfrm>
          <a:prstGeom prst="rect">
            <a:avLst/>
          </a:prstGeom>
          <a:solidFill>
            <a:srgbClr val="1A1A1A"/>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153144" y="1371600"/>
            <a:ext cx="2834640" cy="640080"/>
          </a:xfrm>
          <a:prstGeom prst="rect">
            <a:avLst/>
          </a:prstGeom>
          <a:solidFill>
            <a:srgbClr val="330B09"/>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44584"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32" name="TextBox 31"/>
          <p:cNvSpPr txBox="1"/>
          <p:nvPr/>
        </p:nvSpPr>
        <p:spPr>
          <a:xfrm>
            <a:off x="9747504" y="1481328"/>
            <a:ext cx="2103120" cy="292608"/>
          </a:xfrm>
          <a:prstGeom prst="rect">
            <a:avLst/>
          </a:prstGeom>
          <a:noFill/>
        </p:spPr>
        <p:txBody>
          <a:bodyPr wrap="square">
            <a:spAutoFit/>
          </a:bodyPr>
          <a:lstStyle/>
          <a:p>
            <a:pPr algn="l"/>
            <a:r>
              <a:rPr sz="1100" b="1" i="0">
                <a:solidFill>
                  <a:srgbClr val="FF3B30"/>
                </a:solidFill>
                <a:latin typeface="Segoe UI"/>
              </a:rPr>
              <a:t>MACHINE</a:t>
            </a:r>
          </a:p>
        </p:txBody>
      </p:sp>
      <p:sp>
        <p:nvSpPr>
          <p:cNvPr id="33" name="TextBox 32"/>
          <p:cNvSpPr txBox="1"/>
          <p:nvPr/>
        </p:nvSpPr>
        <p:spPr>
          <a:xfrm>
            <a:off x="9262872" y="2121408"/>
            <a:ext cx="2615184" cy="1920240"/>
          </a:xfrm>
          <a:prstGeom prst="rect">
            <a:avLst/>
          </a:prstGeom>
          <a:noFill/>
        </p:spPr>
        <p:txBody>
          <a:bodyPr wrap="square">
            <a:spAutoFit/>
          </a:bodyPr>
          <a:lstStyle/>
          <a:p>
            <a:pPr algn="l"/>
            <a:r>
              <a:rPr sz="900" b="0" i="0">
                <a:solidFill>
                  <a:srgbClr val="888888"/>
                </a:solidFill>
                <a:latin typeface="Segoe UI"/>
              </a:rPr>
              <a:t>Gear 3 tooth wear 23% degraded. Motor at 94% capacity. Heat building in gear housing. Gear 6 compensating for others.</a:t>
            </a:r>
          </a:p>
        </p:txBody>
      </p:sp>
      <p:sp>
        <p:nvSpPr>
          <p:cNvPr id="34" name="Rectangle 33"/>
          <p:cNvSpPr/>
          <p:nvPr/>
        </p:nvSpPr>
        <p:spPr>
          <a:xfrm>
            <a:off x="9244584" y="4800600"/>
            <a:ext cx="2651760" cy="566928"/>
          </a:xfrm>
          <a:prstGeom prst="rect">
            <a:avLst/>
          </a:prstGeom>
          <a:solidFill>
            <a:srgbClr val="2A0908"/>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36024" y="4882896"/>
            <a:ext cx="2468880" cy="365760"/>
          </a:xfrm>
          <a:prstGeom prst="rect">
            <a:avLst/>
          </a:prstGeom>
          <a:noFill/>
        </p:spPr>
        <p:txBody>
          <a:bodyPr wrap="square">
            <a:spAutoFit/>
          </a:bodyPr>
          <a:lstStyle/>
          <a:p>
            <a:pPr algn="l"/>
            <a:r>
              <a:rPr sz="1000" b="1" i="0">
                <a:solidFill>
                  <a:srgbClr val="FF3B30"/>
                </a:solidFill>
                <a:latin typeface="Segoe UI"/>
              </a:rPr>
              <a:t>❌  Machine: PAST ITS LIMITS</a:t>
            </a:r>
          </a:p>
        </p:txBody>
      </p:sp>
      <p:sp>
        <p:nvSpPr>
          <p:cNvPr id="36" name="Rectangle 35"/>
          <p:cNvSpPr/>
          <p:nvPr/>
        </p:nvSpPr>
        <p:spPr>
          <a:xfrm>
            <a:off x="365760" y="5532120"/>
            <a:ext cx="11430000" cy="100584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5596128"/>
            <a:ext cx="10972800" cy="228600"/>
          </a:xfrm>
          <a:prstGeom prst="rect">
            <a:avLst/>
          </a:prstGeom>
          <a:noFill/>
        </p:spPr>
        <p:txBody>
          <a:bodyPr wrap="square">
            <a:spAutoFit/>
          </a:bodyPr>
          <a:lstStyle/>
          <a:p>
            <a:pPr algn="l"/>
            <a:r>
              <a:rPr sz="800" b="1" i="0">
                <a:solidFill>
                  <a:srgbClr val="555555"/>
                </a:solidFill>
                <a:latin typeface="Segoe UI"/>
              </a:rPr>
              <a:t>SPEAKER SCRIPT:</a:t>
            </a:r>
          </a:p>
        </p:txBody>
      </p:sp>
      <p:sp>
        <p:nvSpPr>
          <p:cNvPr id="38" name="TextBox 37"/>
          <p:cNvSpPr txBox="1"/>
          <p:nvPr/>
        </p:nvSpPr>
        <p:spPr>
          <a:xfrm>
            <a:off x="548640" y="5797296"/>
            <a:ext cx="10972800" cy="685800"/>
          </a:xfrm>
          <a:prstGeom prst="rect">
            <a:avLst/>
          </a:prstGeom>
          <a:noFill/>
        </p:spPr>
        <p:txBody>
          <a:bodyPr wrap="square">
            <a:spAutoFit/>
          </a:bodyPr>
          <a:lstStyle/>
          <a:p>
            <a:pPr algn="l"/>
            <a:r>
              <a:rPr sz="900" b="0" i="1">
                <a:solidFill>
                  <a:srgbClr val="888888"/>
                </a:solidFill>
                <a:latin typeface="Segoe UI"/>
              </a:rPr>
              <a:t>"This is not bad luck. This is a perfect storm — four separate failures, all converging on the same joint at the same time. A human who didn't log the handoff. Material that was already dying. A maintenance method that relies on memory and calendars. And a machine being pushed past what it was designed for. Any one of these alone is manageable. All four together? That is a catastrophe in progress. And nobody in that plant can see it."</a:t>
            </a:r>
          </a:p>
        </p:txBody>
      </p:sp>
      <p:sp>
        <p:nvSpPr>
          <p:cNvPr id="39" name="TextBox 38"/>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40" name="TextBox 39"/>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3191256" cy="292608"/>
          </a:xfrm>
          <a:prstGeom prst="rect">
            <a:avLst/>
          </a:prstGeom>
          <a:solidFill>
            <a:srgbClr val="3F0E0C"/>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3099816" cy="256032"/>
          </a:xfrm>
          <a:prstGeom prst="rect">
            <a:avLst/>
          </a:prstGeom>
          <a:noFill/>
        </p:spPr>
        <p:txBody>
          <a:bodyPr wrap="square">
            <a:spAutoFit/>
          </a:bodyPr>
          <a:lstStyle/>
          <a:p>
            <a:pPr algn="l"/>
            <a:r>
              <a:rPr sz="900" b="1" i="0">
                <a:solidFill>
                  <a:srgbClr val="FF3B30"/>
                </a:solidFill>
                <a:latin typeface="Segoe UI"/>
              </a:rPr>
              <a:t>ACT 1  —  SCENE 3  —  9:23 AM</a:t>
            </a:r>
          </a:p>
        </p:txBody>
      </p:sp>
      <p:sp>
        <p:nvSpPr>
          <p:cNvPr id="6" name="TextBox 5"/>
          <p:cNvSpPr txBox="1"/>
          <p:nvPr/>
        </p:nvSpPr>
        <p:spPr>
          <a:xfrm>
            <a:off x="365760" y="502920"/>
            <a:ext cx="7315200" cy="594360"/>
          </a:xfrm>
          <a:prstGeom prst="rect">
            <a:avLst/>
          </a:prstGeom>
          <a:noFill/>
        </p:spPr>
        <p:txBody>
          <a:bodyPr wrap="square">
            <a:spAutoFit/>
          </a:bodyPr>
          <a:lstStyle/>
          <a:p>
            <a:pPr algn="l"/>
            <a:r>
              <a:rPr sz="3400" b="1" i="0">
                <a:solidFill>
                  <a:srgbClr val="F0F0F0"/>
                </a:solidFill>
                <a:latin typeface="Segoe UI"/>
              </a:rPr>
              <a:t>The Moment of Failure</a:t>
            </a:r>
          </a:p>
        </p:txBody>
      </p:sp>
      <p:sp>
        <p:nvSpPr>
          <p:cNvPr id="7" name="Rectangle 6"/>
          <p:cNvSpPr/>
          <p:nvPr/>
        </p:nvSpPr>
        <p:spPr>
          <a:xfrm>
            <a:off x="365760" y="1280160"/>
            <a:ext cx="11430000" cy="2560320"/>
          </a:xfrm>
          <a:prstGeom prst="rect">
            <a:avLst/>
          </a:prstGeom>
          <a:solidFill>
            <a:srgbClr val="1E0000"/>
          </a:solidFill>
          <a:ln w="381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10972800" cy="502920"/>
          </a:xfrm>
          <a:prstGeom prst="rect">
            <a:avLst/>
          </a:prstGeom>
          <a:noFill/>
        </p:spPr>
        <p:txBody>
          <a:bodyPr wrap="square">
            <a:spAutoFit/>
          </a:bodyPr>
          <a:lstStyle/>
          <a:p>
            <a:pPr algn="l"/>
            <a:r>
              <a:rPr sz="2000" b="1" i="0">
                <a:solidFill>
                  <a:srgbClr val="FF3B30"/>
                </a:solidFill>
                <a:latin typeface="Segoe UI"/>
              </a:rPr>
              <a:t>GEAR 3 TEMPERATURE:  187°F  🔥</a:t>
            </a:r>
          </a:p>
        </p:txBody>
      </p:sp>
      <p:sp>
        <p:nvSpPr>
          <p:cNvPr id="9" name="TextBox 8"/>
          <p:cNvSpPr txBox="1"/>
          <p:nvPr/>
        </p:nvSpPr>
        <p:spPr>
          <a:xfrm>
            <a:off x="640080" y="1920240"/>
            <a:ext cx="10972800" cy="457200"/>
          </a:xfrm>
          <a:prstGeom prst="rect">
            <a:avLst/>
          </a:prstGeom>
          <a:noFill/>
        </p:spPr>
        <p:txBody>
          <a:bodyPr wrap="square">
            <a:spAutoFit/>
          </a:bodyPr>
          <a:lstStyle/>
          <a:p>
            <a:pPr algn="l"/>
            <a:r>
              <a:rPr sz="1800" b="1" i="0">
                <a:solidFill>
                  <a:srgbClr val="FF9F0A"/>
                </a:solidFill>
                <a:latin typeface="Segoe UI"/>
              </a:rPr>
              <a:t>VIBRATION:  8.7 mm/s  💥         GEAR 5 BEARING:  CRITICAL STRESS</a:t>
            </a:r>
          </a:p>
        </p:txBody>
      </p:sp>
      <p:cxnSp>
        <p:nvCxnSpPr>
          <p:cNvPr id="10" name="Connector 9"/>
          <p:cNvCxnSpPr/>
          <p:nvPr/>
        </p:nvCxnSpPr>
        <p:spPr>
          <a:xfrm>
            <a:off x="365760" y="2468880"/>
            <a:ext cx="11457432" cy="0"/>
          </a:xfrm>
          <a:prstGeom prst="line">
            <a:avLst/>
          </a:prstGeom>
          <a:ln w="9525">
            <a:solidFill>
              <a:srgbClr val="FF3B3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2542032"/>
            <a:ext cx="2743200" cy="411480"/>
          </a:xfrm>
          <a:prstGeom prst="rect">
            <a:avLst/>
          </a:prstGeom>
          <a:noFill/>
        </p:spPr>
        <p:txBody>
          <a:bodyPr wrap="square">
            <a:spAutoFit/>
          </a:bodyPr>
          <a:lstStyle/>
          <a:p>
            <a:pPr algn="l"/>
            <a:r>
              <a:rPr sz="1600" b="0" i="0">
                <a:solidFill>
                  <a:srgbClr val="555555"/>
                </a:solidFill>
                <a:latin typeface="Segoe UI"/>
              </a:rPr>
              <a:t>9:24 AM</a:t>
            </a:r>
          </a:p>
        </p:txBody>
      </p:sp>
      <p:sp>
        <p:nvSpPr>
          <p:cNvPr id="12" name="TextBox 11"/>
          <p:cNvSpPr txBox="1"/>
          <p:nvPr/>
        </p:nvSpPr>
        <p:spPr>
          <a:xfrm>
            <a:off x="0" y="2514600"/>
            <a:ext cx="12188952" cy="594360"/>
          </a:xfrm>
          <a:prstGeom prst="rect">
            <a:avLst/>
          </a:prstGeom>
          <a:noFill/>
        </p:spPr>
        <p:txBody>
          <a:bodyPr wrap="square">
            <a:spAutoFit/>
          </a:bodyPr>
          <a:lstStyle/>
          <a:p>
            <a:pPr algn="ctr"/>
            <a:r>
              <a:rPr sz="3600" b="1" i="0">
                <a:solidFill>
                  <a:srgbClr val="FF3B30"/>
                </a:solidFill>
                <a:latin typeface="Segoe UI"/>
              </a:rPr>
              <a:t>💥  B O O M  💥</a:t>
            </a:r>
          </a:p>
        </p:txBody>
      </p:sp>
      <p:sp>
        <p:nvSpPr>
          <p:cNvPr id="13" name="TextBox 12"/>
          <p:cNvSpPr txBox="1"/>
          <p:nvPr/>
        </p:nvSpPr>
        <p:spPr>
          <a:xfrm>
            <a:off x="1371600" y="3977639"/>
            <a:ext cx="2606040" cy="365760"/>
          </a:xfrm>
          <a:prstGeom prst="rect">
            <a:avLst/>
          </a:prstGeom>
          <a:noFill/>
        </p:spPr>
        <p:txBody>
          <a:bodyPr wrap="square">
            <a:spAutoFit/>
          </a:bodyPr>
          <a:lstStyle/>
          <a:p>
            <a:pPr algn="ctr"/>
            <a:r>
              <a:rPr sz="1100" b="1" i="0">
                <a:solidFill>
                  <a:srgbClr val="FF3B30"/>
                </a:solidFill>
                <a:latin typeface="Segoe UI"/>
              </a:rPr>
              <a:t>Robot R-47 SEIZED</a:t>
            </a:r>
          </a:p>
        </p:txBody>
      </p:sp>
      <p:sp>
        <p:nvSpPr>
          <p:cNvPr id="14" name="Rectangle 13"/>
          <p:cNvSpPr/>
          <p:nvPr/>
        </p:nvSpPr>
        <p:spPr>
          <a:xfrm>
            <a:off x="1371600" y="3950208"/>
            <a:ext cx="2468880" cy="347472"/>
          </a:xfrm>
          <a:prstGeom prst="rect">
            <a:avLst/>
          </a:prstGeom>
          <a:solidFill>
            <a:srgbClr val="1900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3977639"/>
            <a:ext cx="2606040" cy="365760"/>
          </a:xfrm>
          <a:prstGeom prst="rect">
            <a:avLst/>
          </a:prstGeom>
          <a:noFill/>
        </p:spPr>
        <p:txBody>
          <a:bodyPr wrap="square">
            <a:spAutoFit/>
          </a:bodyPr>
          <a:lstStyle/>
          <a:p>
            <a:pPr algn="ctr"/>
            <a:r>
              <a:rPr sz="1100" b="1" i="0">
                <a:solidFill>
                  <a:srgbClr val="FF3B30"/>
                </a:solidFill>
                <a:latin typeface="Segoe UI"/>
              </a:rPr>
              <a:t>Gear 5 bearing SHATTERED</a:t>
            </a:r>
          </a:p>
        </p:txBody>
      </p:sp>
      <p:sp>
        <p:nvSpPr>
          <p:cNvPr id="16" name="Rectangle 15"/>
          <p:cNvSpPr/>
          <p:nvPr/>
        </p:nvSpPr>
        <p:spPr>
          <a:xfrm>
            <a:off x="4023360" y="3950208"/>
            <a:ext cx="2468880" cy="347472"/>
          </a:xfrm>
          <a:prstGeom prst="rect">
            <a:avLst/>
          </a:prstGeom>
          <a:solidFill>
            <a:srgbClr val="1900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3977639"/>
            <a:ext cx="2606040" cy="365760"/>
          </a:xfrm>
          <a:prstGeom prst="rect">
            <a:avLst/>
          </a:prstGeom>
          <a:noFill/>
        </p:spPr>
        <p:txBody>
          <a:bodyPr wrap="square">
            <a:spAutoFit/>
          </a:bodyPr>
          <a:lstStyle/>
          <a:p>
            <a:pPr algn="ctr"/>
            <a:r>
              <a:rPr sz="1100" b="1" i="0">
                <a:solidFill>
                  <a:srgbClr val="FF3B30"/>
                </a:solidFill>
                <a:latin typeface="Segoe UI"/>
              </a:rPr>
              <a:t>Gears 3 &amp; 4 LOCKED UP</a:t>
            </a:r>
          </a:p>
        </p:txBody>
      </p:sp>
      <p:sp>
        <p:nvSpPr>
          <p:cNvPr id="18" name="Rectangle 17"/>
          <p:cNvSpPr/>
          <p:nvPr/>
        </p:nvSpPr>
        <p:spPr>
          <a:xfrm>
            <a:off x="6675120" y="3950208"/>
            <a:ext cx="2468880" cy="347472"/>
          </a:xfrm>
          <a:prstGeom prst="rect">
            <a:avLst/>
          </a:prstGeom>
          <a:solidFill>
            <a:srgbClr val="1900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3977639"/>
            <a:ext cx="2606040" cy="365760"/>
          </a:xfrm>
          <a:prstGeom prst="rect">
            <a:avLst/>
          </a:prstGeom>
          <a:noFill/>
        </p:spPr>
        <p:txBody>
          <a:bodyPr wrap="square">
            <a:spAutoFit/>
          </a:bodyPr>
          <a:lstStyle/>
          <a:p>
            <a:pPr algn="ctr"/>
            <a:r>
              <a:rPr sz="1100" b="1" i="0">
                <a:solidFill>
                  <a:srgbClr val="FF3B30"/>
                </a:solidFill>
                <a:latin typeface="Segoe UI"/>
              </a:rPr>
              <a:t>Motor OVERLOADED &amp; BURNED OUT</a:t>
            </a:r>
          </a:p>
        </p:txBody>
      </p:sp>
      <p:sp>
        <p:nvSpPr>
          <p:cNvPr id="20" name="Rectangle 19"/>
          <p:cNvSpPr/>
          <p:nvPr/>
        </p:nvSpPr>
        <p:spPr>
          <a:xfrm>
            <a:off x="9326880" y="3950208"/>
            <a:ext cx="2468880" cy="347472"/>
          </a:xfrm>
          <a:prstGeom prst="rect">
            <a:avLst/>
          </a:prstGeom>
          <a:solidFill>
            <a:srgbClr val="190000"/>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0" y="4526280"/>
            <a:ext cx="12188952" cy="548640"/>
          </a:xfrm>
          <a:prstGeom prst="rect">
            <a:avLst/>
          </a:prstGeom>
          <a:noFill/>
        </p:spPr>
        <p:txBody>
          <a:bodyPr wrap="square">
            <a:spAutoFit/>
          </a:bodyPr>
          <a:lstStyle/>
          <a:p>
            <a:pPr algn="ctr"/>
            <a:r>
              <a:rPr sz="2600" b="1" i="0">
                <a:solidFill>
                  <a:srgbClr val="F0F0F0"/>
                </a:solidFill>
                <a:latin typeface="Segoe UI"/>
              </a:rPr>
              <a:t>THE ENTIRE LINE  ·  STOPPED  🛑</a:t>
            </a:r>
          </a:p>
        </p:txBody>
      </p:sp>
      <p:sp>
        <p:nvSpPr>
          <p:cNvPr id="22" name="Rectangle 21"/>
          <p:cNvSpPr/>
          <p:nvPr/>
        </p:nvSpPr>
        <p:spPr>
          <a:xfrm>
            <a:off x="365760" y="5230368"/>
            <a:ext cx="11430000" cy="128016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03520"/>
            <a:ext cx="10972800" cy="228600"/>
          </a:xfrm>
          <a:prstGeom prst="rect">
            <a:avLst/>
          </a:prstGeom>
          <a:noFill/>
        </p:spPr>
        <p:txBody>
          <a:bodyPr wrap="square">
            <a:spAutoFit/>
          </a:bodyPr>
          <a:lstStyle/>
          <a:p>
            <a:pPr algn="l"/>
            <a:r>
              <a:rPr sz="800" b="1" i="0">
                <a:solidFill>
                  <a:srgbClr val="555555"/>
                </a:solidFill>
                <a:latin typeface="Segoe UI"/>
              </a:rPr>
              <a:t>SPEAKER SCRIPT:</a:t>
            </a:r>
          </a:p>
        </p:txBody>
      </p:sp>
      <p:sp>
        <p:nvSpPr>
          <p:cNvPr id="24" name="TextBox 23"/>
          <p:cNvSpPr txBox="1"/>
          <p:nvPr/>
        </p:nvSpPr>
        <p:spPr>
          <a:xfrm>
            <a:off x="548640" y="5504688"/>
            <a:ext cx="10972800" cy="896112"/>
          </a:xfrm>
          <a:prstGeom prst="rect">
            <a:avLst/>
          </a:prstGeom>
          <a:noFill/>
        </p:spPr>
        <p:txBody>
          <a:bodyPr wrap="square">
            <a:spAutoFit/>
          </a:bodyPr>
          <a:lstStyle/>
          <a:p>
            <a:pPr algn="l"/>
            <a:r>
              <a:rPr sz="900" b="0" i="1">
                <a:solidFill>
                  <a:srgbClr val="888888"/>
                </a:solidFill>
                <a:latin typeface="Segoe UI"/>
              </a:rPr>
              <a:t>"Two hours and thirty-six minutes after startup. That's how long it took. [Pause. Look at the audience.] 9:24 AM. Gear 5 bearing shatters. The teeth on Gear 3 lock. The motor tries to compensate — and burns out. And every single workstation on that line — [pause] — stops. The room goes quiet. And then the phones start ringing."</a:t>
            </a:r>
          </a:p>
        </p:txBody>
      </p:sp>
      <p:sp>
        <p:nvSpPr>
          <p:cNvPr id="25" name="TextBox 24"/>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26" name="TextBox 25"/>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3B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4197096" cy="292608"/>
          </a:xfrm>
          <a:prstGeom prst="rect">
            <a:avLst/>
          </a:prstGeom>
          <a:solidFill>
            <a:srgbClr val="3F0E0C"/>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4105656" cy="256032"/>
          </a:xfrm>
          <a:prstGeom prst="rect">
            <a:avLst/>
          </a:prstGeom>
          <a:noFill/>
        </p:spPr>
        <p:txBody>
          <a:bodyPr wrap="square">
            <a:spAutoFit/>
          </a:bodyPr>
          <a:lstStyle/>
          <a:p>
            <a:pPr algn="l"/>
            <a:r>
              <a:rPr sz="900" b="1" i="0">
                <a:solidFill>
                  <a:srgbClr val="FF3B30"/>
                </a:solidFill>
                <a:latin typeface="Segoe UI"/>
              </a:rPr>
              <a:t>ACT 1  —  SCENE 4  —  THE DAMAGE REPORT</a:t>
            </a:r>
          </a:p>
        </p:txBody>
      </p:sp>
      <p:sp>
        <p:nvSpPr>
          <p:cNvPr id="6" name="TextBox 5"/>
          <p:cNvSpPr txBox="1"/>
          <p:nvPr/>
        </p:nvSpPr>
        <p:spPr>
          <a:xfrm>
            <a:off x="365760" y="502920"/>
            <a:ext cx="10972800" cy="594360"/>
          </a:xfrm>
          <a:prstGeom prst="rect">
            <a:avLst/>
          </a:prstGeom>
          <a:noFill/>
        </p:spPr>
        <p:txBody>
          <a:bodyPr wrap="square">
            <a:spAutoFit/>
          </a:bodyPr>
          <a:lstStyle/>
          <a:p>
            <a:pPr algn="l"/>
            <a:r>
              <a:rPr sz="3400" b="1" i="0">
                <a:solidFill>
                  <a:srgbClr val="F0F0F0"/>
                </a:solidFill>
                <a:latin typeface="Segoe UI"/>
              </a:rPr>
              <a:t>27 Hours. $1,750,000. Gone.</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5029200" cy="4389120"/>
          </a:xfrm>
          <a:prstGeom prst="rect">
            <a:avLst/>
          </a:prstGeom>
          <a:solidFill>
            <a:srgbClr val="1A1A1A"/>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08760"/>
            <a:ext cx="4572000" cy="320040"/>
          </a:xfrm>
          <a:prstGeom prst="rect">
            <a:avLst/>
          </a:prstGeom>
          <a:noFill/>
        </p:spPr>
        <p:txBody>
          <a:bodyPr wrap="square">
            <a:spAutoFit/>
          </a:bodyPr>
          <a:lstStyle/>
          <a:p>
            <a:pPr algn="l"/>
            <a:r>
              <a:rPr sz="1100" b="1" i="0">
                <a:solidFill>
                  <a:srgbClr val="FF3B30"/>
                </a:solidFill>
                <a:latin typeface="Segoe UI"/>
              </a:rPr>
              <a:t>⏱  DOWNTIME BREAKDOWN</a:t>
            </a:r>
          </a:p>
        </p:txBody>
      </p:sp>
      <p:sp>
        <p:nvSpPr>
          <p:cNvPr id="10" name="TextBox 9"/>
          <p:cNvSpPr txBox="1"/>
          <p:nvPr/>
        </p:nvSpPr>
        <p:spPr>
          <a:xfrm>
            <a:off x="594360" y="1965960"/>
            <a:ext cx="2743200" cy="292608"/>
          </a:xfrm>
          <a:prstGeom prst="rect">
            <a:avLst/>
          </a:prstGeom>
          <a:noFill/>
        </p:spPr>
        <p:txBody>
          <a:bodyPr wrap="square">
            <a:spAutoFit/>
          </a:bodyPr>
          <a:lstStyle/>
          <a:p>
            <a:pPr algn="l"/>
            <a:r>
              <a:rPr sz="1000" b="0" i="0">
                <a:solidFill>
                  <a:srgbClr val="888888"/>
                </a:solidFill>
                <a:latin typeface="Segoe UI"/>
              </a:rPr>
              <a:t>Time to detect failure:</a:t>
            </a:r>
          </a:p>
        </p:txBody>
      </p:sp>
      <p:sp>
        <p:nvSpPr>
          <p:cNvPr id="11" name="TextBox 10"/>
          <p:cNvSpPr txBox="1"/>
          <p:nvPr/>
        </p:nvSpPr>
        <p:spPr>
          <a:xfrm>
            <a:off x="594360" y="2240279"/>
            <a:ext cx="2743200" cy="320040"/>
          </a:xfrm>
          <a:prstGeom prst="rect">
            <a:avLst/>
          </a:prstGeom>
          <a:noFill/>
        </p:spPr>
        <p:txBody>
          <a:bodyPr wrap="square">
            <a:spAutoFit/>
          </a:bodyPr>
          <a:lstStyle/>
          <a:p>
            <a:pPr algn="l"/>
            <a:r>
              <a:rPr sz="1300" b="1" i="0">
                <a:solidFill>
                  <a:srgbClr val="FF9F0A"/>
                </a:solidFill>
                <a:latin typeface="Segoe UI"/>
              </a:rPr>
              <a:t>0 minutes</a:t>
            </a:r>
          </a:p>
        </p:txBody>
      </p:sp>
      <p:sp>
        <p:nvSpPr>
          <p:cNvPr id="12" name="TextBox 11"/>
          <p:cNvSpPr txBox="1"/>
          <p:nvPr/>
        </p:nvSpPr>
        <p:spPr>
          <a:xfrm>
            <a:off x="3474720" y="2057400"/>
            <a:ext cx="1828800" cy="457200"/>
          </a:xfrm>
          <a:prstGeom prst="rect">
            <a:avLst/>
          </a:prstGeom>
          <a:noFill/>
        </p:spPr>
        <p:txBody>
          <a:bodyPr wrap="square">
            <a:spAutoFit/>
          </a:bodyPr>
          <a:lstStyle/>
          <a:p>
            <a:pPr algn="l"/>
            <a:r>
              <a:rPr sz="900" b="0" i="1">
                <a:solidFill>
                  <a:srgbClr val="555555"/>
                </a:solidFill>
                <a:latin typeface="Segoe UI"/>
              </a:rPr>
              <a:t>No system = detected too late</a:t>
            </a:r>
          </a:p>
        </p:txBody>
      </p:sp>
      <p:sp>
        <p:nvSpPr>
          <p:cNvPr id="13" name="TextBox 12"/>
          <p:cNvSpPr txBox="1"/>
          <p:nvPr/>
        </p:nvSpPr>
        <p:spPr>
          <a:xfrm>
            <a:off x="594360" y="2715768"/>
            <a:ext cx="2743200" cy="292608"/>
          </a:xfrm>
          <a:prstGeom prst="rect">
            <a:avLst/>
          </a:prstGeom>
          <a:noFill/>
        </p:spPr>
        <p:txBody>
          <a:bodyPr wrap="square">
            <a:spAutoFit/>
          </a:bodyPr>
          <a:lstStyle/>
          <a:p>
            <a:pPr algn="l"/>
            <a:r>
              <a:rPr sz="1000" b="0" i="0">
                <a:solidFill>
                  <a:srgbClr val="888888"/>
                </a:solidFill>
                <a:latin typeface="Segoe UI"/>
              </a:rPr>
              <a:t>Time to diagnose:</a:t>
            </a:r>
          </a:p>
        </p:txBody>
      </p:sp>
      <p:sp>
        <p:nvSpPr>
          <p:cNvPr id="14" name="TextBox 13"/>
          <p:cNvSpPr txBox="1"/>
          <p:nvPr/>
        </p:nvSpPr>
        <p:spPr>
          <a:xfrm>
            <a:off x="594360" y="2990087"/>
            <a:ext cx="2743200" cy="320040"/>
          </a:xfrm>
          <a:prstGeom prst="rect">
            <a:avLst/>
          </a:prstGeom>
          <a:noFill/>
        </p:spPr>
        <p:txBody>
          <a:bodyPr wrap="square">
            <a:spAutoFit/>
          </a:bodyPr>
          <a:lstStyle/>
          <a:p>
            <a:pPr algn="l"/>
            <a:r>
              <a:rPr sz="1300" b="1" i="0">
                <a:solidFill>
                  <a:srgbClr val="FF9F0A"/>
                </a:solidFill>
                <a:latin typeface="Segoe UI"/>
              </a:rPr>
              <a:t>3 hours</a:t>
            </a:r>
          </a:p>
        </p:txBody>
      </p:sp>
      <p:sp>
        <p:nvSpPr>
          <p:cNvPr id="15" name="TextBox 14"/>
          <p:cNvSpPr txBox="1"/>
          <p:nvPr/>
        </p:nvSpPr>
        <p:spPr>
          <a:xfrm>
            <a:off x="3474720" y="2807208"/>
            <a:ext cx="1828800" cy="457200"/>
          </a:xfrm>
          <a:prstGeom prst="rect">
            <a:avLst/>
          </a:prstGeom>
          <a:noFill/>
        </p:spPr>
        <p:txBody>
          <a:bodyPr wrap="square">
            <a:spAutoFit/>
          </a:bodyPr>
          <a:lstStyle/>
          <a:p>
            <a:pPr algn="l"/>
            <a:r>
              <a:rPr sz="900" b="0" i="1">
                <a:solidFill>
                  <a:srgbClr val="555555"/>
                </a:solidFill>
                <a:latin typeface="Segoe UI"/>
              </a:rPr>
              <a:t>Engineers guessing root cause</a:t>
            </a:r>
          </a:p>
        </p:txBody>
      </p:sp>
      <p:sp>
        <p:nvSpPr>
          <p:cNvPr id="16" name="TextBox 15"/>
          <p:cNvSpPr txBox="1"/>
          <p:nvPr/>
        </p:nvSpPr>
        <p:spPr>
          <a:xfrm>
            <a:off x="594360" y="3465576"/>
            <a:ext cx="2743200" cy="292608"/>
          </a:xfrm>
          <a:prstGeom prst="rect">
            <a:avLst/>
          </a:prstGeom>
          <a:noFill/>
        </p:spPr>
        <p:txBody>
          <a:bodyPr wrap="square">
            <a:spAutoFit/>
          </a:bodyPr>
          <a:lstStyle/>
          <a:p>
            <a:pPr algn="l"/>
            <a:r>
              <a:rPr sz="1000" b="0" i="0">
                <a:solidFill>
                  <a:srgbClr val="888888"/>
                </a:solidFill>
                <a:latin typeface="Segoe UI"/>
              </a:rPr>
              <a:t>Time to get parts:</a:t>
            </a:r>
          </a:p>
        </p:txBody>
      </p:sp>
      <p:sp>
        <p:nvSpPr>
          <p:cNvPr id="17" name="TextBox 16"/>
          <p:cNvSpPr txBox="1"/>
          <p:nvPr/>
        </p:nvSpPr>
        <p:spPr>
          <a:xfrm>
            <a:off x="594360" y="3739896"/>
            <a:ext cx="2743200" cy="320040"/>
          </a:xfrm>
          <a:prstGeom prst="rect">
            <a:avLst/>
          </a:prstGeom>
          <a:noFill/>
        </p:spPr>
        <p:txBody>
          <a:bodyPr wrap="square">
            <a:spAutoFit/>
          </a:bodyPr>
          <a:lstStyle/>
          <a:p>
            <a:pPr algn="l"/>
            <a:r>
              <a:rPr sz="1300" b="1" i="0">
                <a:solidFill>
                  <a:srgbClr val="FF9F0A"/>
                </a:solidFill>
                <a:latin typeface="Segoe UI"/>
              </a:rPr>
              <a:t>18 hours</a:t>
            </a:r>
          </a:p>
        </p:txBody>
      </p:sp>
      <p:sp>
        <p:nvSpPr>
          <p:cNvPr id="18" name="TextBox 17"/>
          <p:cNvSpPr txBox="1"/>
          <p:nvPr/>
        </p:nvSpPr>
        <p:spPr>
          <a:xfrm>
            <a:off x="3474720" y="3557016"/>
            <a:ext cx="1828800" cy="457200"/>
          </a:xfrm>
          <a:prstGeom prst="rect">
            <a:avLst/>
          </a:prstGeom>
          <a:noFill/>
        </p:spPr>
        <p:txBody>
          <a:bodyPr wrap="square">
            <a:spAutoFit/>
          </a:bodyPr>
          <a:lstStyle/>
          <a:p>
            <a:pPr algn="l"/>
            <a:r>
              <a:rPr sz="900" b="0" i="1">
                <a:solidFill>
                  <a:srgbClr val="555555"/>
                </a:solidFill>
                <a:latin typeface="Segoe UI"/>
              </a:rPr>
              <a:t>No parts pre-ordered</a:t>
            </a:r>
          </a:p>
        </p:txBody>
      </p:sp>
      <p:sp>
        <p:nvSpPr>
          <p:cNvPr id="19" name="TextBox 18"/>
          <p:cNvSpPr txBox="1"/>
          <p:nvPr/>
        </p:nvSpPr>
        <p:spPr>
          <a:xfrm>
            <a:off x="594360" y="4215383"/>
            <a:ext cx="2743200" cy="292608"/>
          </a:xfrm>
          <a:prstGeom prst="rect">
            <a:avLst/>
          </a:prstGeom>
          <a:noFill/>
        </p:spPr>
        <p:txBody>
          <a:bodyPr wrap="square">
            <a:spAutoFit/>
          </a:bodyPr>
          <a:lstStyle/>
          <a:p>
            <a:pPr algn="l"/>
            <a:r>
              <a:rPr sz="1000" b="0" i="0">
                <a:solidFill>
                  <a:srgbClr val="888888"/>
                </a:solidFill>
                <a:latin typeface="Segoe UI"/>
              </a:rPr>
              <a:t>Time to repair:</a:t>
            </a:r>
          </a:p>
        </p:txBody>
      </p:sp>
      <p:sp>
        <p:nvSpPr>
          <p:cNvPr id="20" name="TextBox 19"/>
          <p:cNvSpPr txBox="1"/>
          <p:nvPr/>
        </p:nvSpPr>
        <p:spPr>
          <a:xfrm>
            <a:off x="594360" y="4489703"/>
            <a:ext cx="2743200" cy="320040"/>
          </a:xfrm>
          <a:prstGeom prst="rect">
            <a:avLst/>
          </a:prstGeom>
          <a:noFill/>
        </p:spPr>
        <p:txBody>
          <a:bodyPr wrap="square">
            <a:spAutoFit/>
          </a:bodyPr>
          <a:lstStyle/>
          <a:p>
            <a:pPr algn="l"/>
            <a:r>
              <a:rPr sz="1300" b="1" i="0">
                <a:solidFill>
                  <a:srgbClr val="FF9F0A"/>
                </a:solidFill>
                <a:latin typeface="Segoe UI"/>
              </a:rPr>
              <a:t>6 hours</a:t>
            </a:r>
          </a:p>
        </p:txBody>
      </p:sp>
      <p:sp>
        <p:nvSpPr>
          <p:cNvPr id="21" name="TextBox 20"/>
          <p:cNvSpPr txBox="1"/>
          <p:nvPr/>
        </p:nvSpPr>
        <p:spPr>
          <a:xfrm>
            <a:off x="3474720" y="4306823"/>
            <a:ext cx="1828800" cy="457200"/>
          </a:xfrm>
          <a:prstGeom prst="rect">
            <a:avLst/>
          </a:prstGeom>
          <a:noFill/>
        </p:spPr>
        <p:txBody>
          <a:bodyPr wrap="square">
            <a:spAutoFit/>
          </a:bodyPr>
          <a:lstStyle/>
          <a:p>
            <a:pPr algn="l"/>
            <a:r>
              <a:rPr sz="900" b="0" i="1">
                <a:solidFill>
                  <a:srgbClr val="555555"/>
                </a:solidFill>
                <a:latin typeface="Segoe UI"/>
              </a:rPr>
              <a:t>Full motor replacement</a:t>
            </a:r>
          </a:p>
        </p:txBody>
      </p:sp>
      <p:sp>
        <p:nvSpPr>
          <p:cNvPr id="22" name="TextBox 21"/>
          <p:cNvSpPr txBox="1"/>
          <p:nvPr/>
        </p:nvSpPr>
        <p:spPr>
          <a:xfrm>
            <a:off x="594360" y="4965192"/>
            <a:ext cx="2743200" cy="292608"/>
          </a:xfrm>
          <a:prstGeom prst="rect">
            <a:avLst/>
          </a:prstGeom>
          <a:noFill/>
        </p:spPr>
        <p:txBody>
          <a:bodyPr wrap="square">
            <a:spAutoFit/>
          </a:bodyPr>
          <a:lstStyle/>
          <a:p>
            <a:pPr algn="l"/>
            <a:r>
              <a:rPr sz="1000" b="0" i="0">
                <a:solidFill>
                  <a:srgbClr val="888888"/>
                </a:solidFill>
                <a:latin typeface="Segoe UI"/>
              </a:rPr>
              <a:t>TOTAL DOWNTIME:</a:t>
            </a:r>
          </a:p>
        </p:txBody>
      </p:sp>
      <p:sp>
        <p:nvSpPr>
          <p:cNvPr id="23" name="TextBox 22"/>
          <p:cNvSpPr txBox="1"/>
          <p:nvPr/>
        </p:nvSpPr>
        <p:spPr>
          <a:xfrm>
            <a:off x="594360" y="5239512"/>
            <a:ext cx="2743200" cy="320040"/>
          </a:xfrm>
          <a:prstGeom prst="rect">
            <a:avLst/>
          </a:prstGeom>
          <a:noFill/>
        </p:spPr>
        <p:txBody>
          <a:bodyPr wrap="square">
            <a:spAutoFit/>
          </a:bodyPr>
          <a:lstStyle/>
          <a:p>
            <a:pPr algn="l"/>
            <a:r>
              <a:rPr sz="1300" b="1" i="0">
                <a:solidFill>
                  <a:srgbClr val="FF3B30"/>
                </a:solidFill>
                <a:latin typeface="Segoe UI"/>
              </a:rPr>
              <a:t>27 HOURS</a:t>
            </a:r>
          </a:p>
        </p:txBody>
      </p:sp>
      <p:sp>
        <p:nvSpPr>
          <p:cNvPr id="24" name="TextBox 23"/>
          <p:cNvSpPr txBox="1"/>
          <p:nvPr/>
        </p:nvSpPr>
        <p:spPr>
          <a:xfrm>
            <a:off x="3474720" y="5056631"/>
            <a:ext cx="1828800" cy="457200"/>
          </a:xfrm>
          <a:prstGeom prst="rect">
            <a:avLst/>
          </a:prstGeom>
          <a:noFill/>
        </p:spPr>
        <p:txBody>
          <a:bodyPr wrap="square">
            <a:spAutoFit/>
          </a:bodyPr>
          <a:lstStyle/>
          <a:p>
            <a:pPr algn="l"/>
            <a:r>
              <a:rPr sz="900" b="0" i="1">
                <a:solidFill>
                  <a:srgbClr val="555555"/>
                </a:solidFill>
                <a:latin typeface="Segoe UI"/>
              </a:rPr>
              <a:t>🛑</a:t>
            </a:r>
          </a:p>
        </p:txBody>
      </p:sp>
      <p:sp>
        <p:nvSpPr>
          <p:cNvPr id="25" name="Rectangle 24"/>
          <p:cNvSpPr/>
          <p:nvPr/>
        </p:nvSpPr>
        <p:spPr>
          <a:xfrm>
            <a:off x="5760720" y="1371600"/>
            <a:ext cx="6035040" cy="4389120"/>
          </a:xfrm>
          <a:prstGeom prst="rect">
            <a:avLst/>
          </a:prstGeom>
          <a:solidFill>
            <a:srgbClr val="1A1A1A"/>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89320" y="1508760"/>
            <a:ext cx="5577840" cy="320040"/>
          </a:xfrm>
          <a:prstGeom prst="rect">
            <a:avLst/>
          </a:prstGeom>
          <a:noFill/>
        </p:spPr>
        <p:txBody>
          <a:bodyPr wrap="square">
            <a:spAutoFit/>
          </a:bodyPr>
          <a:lstStyle/>
          <a:p>
            <a:pPr algn="l"/>
            <a:r>
              <a:rPr sz="1100" b="1" i="0">
                <a:solidFill>
                  <a:srgbClr val="FF3B30"/>
                </a:solidFill>
                <a:latin typeface="Segoe UI"/>
              </a:rPr>
              <a:t>💸  COST BREAKDOWN</a:t>
            </a:r>
          </a:p>
        </p:txBody>
      </p:sp>
      <p:sp>
        <p:nvSpPr>
          <p:cNvPr id="27" name="TextBox 26"/>
          <p:cNvSpPr txBox="1"/>
          <p:nvPr/>
        </p:nvSpPr>
        <p:spPr>
          <a:xfrm>
            <a:off x="5989320" y="2011680"/>
            <a:ext cx="3200400" cy="292608"/>
          </a:xfrm>
          <a:prstGeom prst="rect">
            <a:avLst/>
          </a:prstGeom>
          <a:noFill/>
        </p:spPr>
        <p:txBody>
          <a:bodyPr wrap="square">
            <a:spAutoFit/>
          </a:bodyPr>
          <a:lstStyle/>
          <a:p>
            <a:pPr algn="l"/>
            <a:r>
              <a:rPr sz="1100" b="0" i="0">
                <a:solidFill>
                  <a:srgbClr val="888888"/>
                </a:solidFill>
                <a:latin typeface="Segoe UI"/>
              </a:rPr>
              <a:t>Lost production:</a:t>
            </a:r>
          </a:p>
        </p:txBody>
      </p:sp>
      <p:sp>
        <p:nvSpPr>
          <p:cNvPr id="28" name="TextBox 27"/>
          <p:cNvSpPr txBox="1"/>
          <p:nvPr/>
        </p:nvSpPr>
        <p:spPr>
          <a:xfrm>
            <a:off x="8961120" y="2011680"/>
            <a:ext cx="2560320" cy="292608"/>
          </a:xfrm>
          <a:prstGeom prst="rect">
            <a:avLst/>
          </a:prstGeom>
          <a:noFill/>
        </p:spPr>
        <p:txBody>
          <a:bodyPr wrap="square">
            <a:spAutoFit/>
          </a:bodyPr>
          <a:lstStyle/>
          <a:p>
            <a:pPr algn="r"/>
            <a:r>
              <a:rPr sz="1300" b="1" i="0">
                <a:solidFill>
                  <a:srgbClr val="FF3B30"/>
                </a:solidFill>
                <a:latin typeface="Segoe UI"/>
              </a:rPr>
              <a:t>$1,350,000</a:t>
            </a:r>
          </a:p>
        </p:txBody>
      </p:sp>
      <p:sp>
        <p:nvSpPr>
          <p:cNvPr id="29" name="TextBox 28"/>
          <p:cNvSpPr txBox="1"/>
          <p:nvPr/>
        </p:nvSpPr>
        <p:spPr>
          <a:xfrm>
            <a:off x="5989320" y="2670048"/>
            <a:ext cx="3200400" cy="292608"/>
          </a:xfrm>
          <a:prstGeom prst="rect">
            <a:avLst/>
          </a:prstGeom>
          <a:noFill/>
        </p:spPr>
        <p:txBody>
          <a:bodyPr wrap="square">
            <a:spAutoFit/>
          </a:bodyPr>
          <a:lstStyle/>
          <a:p>
            <a:pPr algn="l"/>
            <a:r>
              <a:rPr sz="1100" b="0" i="0">
                <a:solidFill>
                  <a:srgbClr val="888888"/>
                </a:solidFill>
                <a:latin typeface="Segoe UI"/>
              </a:rPr>
              <a:t>Emergency repair:</a:t>
            </a:r>
          </a:p>
        </p:txBody>
      </p:sp>
      <p:sp>
        <p:nvSpPr>
          <p:cNvPr id="30" name="TextBox 29"/>
          <p:cNvSpPr txBox="1"/>
          <p:nvPr/>
        </p:nvSpPr>
        <p:spPr>
          <a:xfrm>
            <a:off x="8961120" y="2670048"/>
            <a:ext cx="2560320" cy="292608"/>
          </a:xfrm>
          <a:prstGeom prst="rect">
            <a:avLst/>
          </a:prstGeom>
          <a:noFill/>
        </p:spPr>
        <p:txBody>
          <a:bodyPr wrap="square">
            <a:spAutoFit/>
          </a:bodyPr>
          <a:lstStyle/>
          <a:p>
            <a:pPr algn="r"/>
            <a:r>
              <a:rPr sz="1300" b="1" i="0">
                <a:solidFill>
                  <a:srgbClr val="FF9F0A"/>
                </a:solidFill>
                <a:latin typeface="Segoe UI"/>
              </a:rPr>
              <a:t>$280,000</a:t>
            </a:r>
          </a:p>
        </p:txBody>
      </p:sp>
      <p:sp>
        <p:nvSpPr>
          <p:cNvPr id="31" name="TextBox 30"/>
          <p:cNvSpPr txBox="1"/>
          <p:nvPr/>
        </p:nvSpPr>
        <p:spPr>
          <a:xfrm>
            <a:off x="5989320" y="3328416"/>
            <a:ext cx="3200400" cy="292608"/>
          </a:xfrm>
          <a:prstGeom prst="rect">
            <a:avLst/>
          </a:prstGeom>
          <a:noFill/>
        </p:spPr>
        <p:txBody>
          <a:bodyPr wrap="square">
            <a:spAutoFit/>
          </a:bodyPr>
          <a:lstStyle/>
          <a:p>
            <a:pPr algn="l"/>
            <a:r>
              <a:rPr sz="1100" b="0" i="0">
                <a:solidFill>
                  <a:srgbClr val="888888"/>
                </a:solidFill>
                <a:latin typeface="Segoe UI"/>
              </a:rPr>
              <a:t>Rush parts order:</a:t>
            </a:r>
          </a:p>
        </p:txBody>
      </p:sp>
      <p:sp>
        <p:nvSpPr>
          <p:cNvPr id="32" name="TextBox 31"/>
          <p:cNvSpPr txBox="1"/>
          <p:nvPr/>
        </p:nvSpPr>
        <p:spPr>
          <a:xfrm>
            <a:off x="8961120" y="3328416"/>
            <a:ext cx="2560320" cy="292608"/>
          </a:xfrm>
          <a:prstGeom prst="rect">
            <a:avLst/>
          </a:prstGeom>
          <a:noFill/>
        </p:spPr>
        <p:txBody>
          <a:bodyPr wrap="square">
            <a:spAutoFit/>
          </a:bodyPr>
          <a:lstStyle/>
          <a:p>
            <a:pPr algn="r"/>
            <a:r>
              <a:rPr sz="1300" b="1" i="0">
                <a:solidFill>
                  <a:srgbClr val="FF9F0A"/>
                </a:solidFill>
                <a:latin typeface="Segoe UI"/>
              </a:rPr>
              <a:t>$45,000</a:t>
            </a:r>
          </a:p>
        </p:txBody>
      </p:sp>
      <p:sp>
        <p:nvSpPr>
          <p:cNvPr id="33" name="TextBox 32"/>
          <p:cNvSpPr txBox="1"/>
          <p:nvPr/>
        </p:nvSpPr>
        <p:spPr>
          <a:xfrm>
            <a:off x="5989320" y="3986784"/>
            <a:ext cx="3200400" cy="292608"/>
          </a:xfrm>
          <a:prstGeom prst="rect">
            <a:avLst/>
          </a:prstGeom>
          <a:noFill/>
        </p:spPr>
        <p:txBody>
          <a:bodyPr wrap="square">
            <a:spAutoFit/>
          </a:bodyPr>
          <a:lstStyle/>
          <a:p>
            <a:pPr algn="l"/>
            <a:r>
              <a:rPr sz="1100" b="0" i="0">
                <a:solidFill>
                  <a:srgbClr val="888888"/>
                </a:solidFill>
                <a:latin typeface="Segoe UI"/>
              </a:rPr>
              <a:t>Overtime labour:</a:t>
            </a:r>
          </a:p>
        </p:txBody>
      </p:sp>
      <p:sp>
        <p:nvSpPr>
          <p:cNvPr id="34" name="TextBox 33"/>
          <p:cNvSpPr txBox="1"/>
          <p:nvPr/>
        </p:nvSpPr>
        <p:spPr>
          <a:xfrm>
            <a:off x="8961120" y="3986784"/>
            <a:ext cx="2560320" cy="292608"/>
          </a:xfrm>
          <a:prstGeom prst="rect">
            <a:avLst/>
          </a:prstGeom>
          <a:noFill/>
        </p:spPr>
        <p:txBody>
          <a:bodyPr wrap="square">
            <a:spAutoFit/>
          </a:bodyPr>
          <a:lstStyle/>
          <a:p>
            <a:pPr algn="r"/>
            <a:r>
              <a:rPr sz="1300" b="1" i="0">
                <a:solidFill>
                  <a:srgbClr val="FF9F0A"/>
                </a:solidFill>
                <a:latin typeface="Segoe UI"/>
              </a:rPr>
              <a:t>$75,000</a:t>
            </a:r>
          </a:p>
        </p:txBody>
      </p:sp>
      <p:cxnSp>
        <p:nvCxnSpPr>
          <p:cNvPr id="35" name="Connector 34"/>
          <p:cNvCxnSpPr/>
          <p:nvPr/>
        </p:nvCxnSpPr>
        <p:spPr>
          <a:xfrm>
            <a:off x="365760" y="4800600"/>
            <a:ext cx="11457432" cy="0"/>
          </a:xfrm>
          <a:prstGeom prst="line">
            <a:avLst/>
          </a:prstGeom>
          <a:ln w="9525">
            <a:solidFill>
              <a:srgbClr val="FF3B3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989320" y="4864608"/>
            <a:ext cx="2743200" cy="457200"/>
          </a:xfrm>
          <a:prstGeom prst="rect">
            <a:avLst/>
          </a:prstGeom>
          <a:noFill/>
        </p:spPr>
        <p:txBody>
          <a:bodyPr wrap="square">
            <a:spAutoFit/>
          </a:bodyPr>
          <a:lstStyle/>
          <a:p>
            <a:pPr algn="l"/>
            <a:r>
              <a:rPr sz="1600" b="1" i="0">
                <a:solidFill>
                  <a:srgbClr val="F0F0F0"/>
                </a:solidFill>
                <a:latin typeface="Segoe UI"/>
              </a:rPr>
              <a:t>TOTAL LOSS:</a:t>
            </a:r>
          </a:p>
        </p:txBody>
      </p:sp>
      <p:sp>
        <p:nvSpPr>
          <p:cNvPr id="37" name="TextBox 36"/>
          <p:cNvSpPr txBox="1"/>
          <p:nvPr/>
        </p:nvSpPr>
        <p:spPr>
          <a:xfrm>
            <a:off x="8595360" y="4864608"/>
            <a:ext cx="3017520" cy="457200"/>
          </a:xfrm>
          <a:prstGeom prst="rect">
            <a:avLst/>
          </a:prstGeom>
          <a:noFill/>
        </p:spPr>
        <p:txBody>
          <a:bodyPr wrap="square">
            <a:spAutoFit/>
          </a:bodyPr>
          <a:lstStyle/>
          <a:p>
            <a:pPr algn="l"/>
            <a:r>
              <a:rPr sz="2200" b="1" i="0">
                <a:solidFill>
                  <a:srgbClr val="FF3B30"/>
                </a:solidFill>
                <a:latin typeface="Segoe UI"/>
              </a:rPr>
              <a:t>$1,750,000</a:t>
            </a:r>
          </a:p>
        </p:txBody>
      </p:sp>
      <p:sp>
        <p:nvSpPr>
          <p:cNvPr id="38" name="TextBox 37"/>
          <p:cNvSpPr txBox="1"/>
          <p:nvPr/>
        </p:nvSpPr>
        <p:spPr>
          <a:xfrm>
            <a:off x="5989320" y="5394960"/>
            <a:ext cx="5577840" cy="365760"/>
          </a:xfrm>
          <a:prstGeom prst="rect">
            <a:avLst/>
          </a:prstGeom>
          <a:noFill/>
        </p:spPr>
        <p:txBody>
          <a:bodyPr wrap="square">
            <a:spAutoFit/>
          </a:bodyPr>
          <a:lstStyle/>
          <a:p>
            <a:pPr algn="l"/>
            <a:r>
              <a:rPr sz="900" b="0" i="0">
                <a:solidFill>
                  <a:srgbClr val="555555"/>
                </a:solidFill>
                <a:latin typeface="Segoe UI"/>
              </a:rPr>
              <a:t>Customer delivery: DELAYED  ·  Plant reputation: DAMAGED  ·  Worker morale: SHATTERED</a:t>
            </a:r>
          </a:p>
        </p:txBody>
      </p:sp>
      <p:sp>
        <p:nvSpPr>
          <p:cNvPr id="39" name="Rectangle 38"/>
          <p:cNvSpPr/>
          <p:nvPr/>
        </p:nvSpPr>
        <p:spPr>
          <a:xfrm>
            <a:off x="365760" y="5925312"/>
            <a:ext cx="11430000" cy="621792"/>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980176"/>
            <a:ext cx="10972800" cy="530352"/>
          </a:xfrm>
          <a:prstGeom prst="rect">
            <a:avLst/>
          </a:prstGeom>
          <a:noFill/>
        </p:spPr>
        <p:txBody>
          <a:bodyPr wrap="square">
            <a:spAutoFit/>
          </a:bodyPr>
          <a:lstStyle/>
          <a:p>
            <a:pPr algn="l"/>
            <a:r>
              <a:rPr sz="900" b="0" i="1">
                <a:solidFill>
                  <a:srgbClr val="888888"/>
                </a:solidFill>
                <a:latin typeface="Segoe UI"/>
              </a:rPr>
              <a:t>SPEAKER SCRIPT: "Let's count the cost. Not just the motor. Not just the parts. The line was down for twenty-seven hours. $1.35 million in lost production — gone. $280,000 in emergency repairs. Parts airfreighted at premium. Overtime called in on a Tuesday night. One point seven five million dollars. For a problem that was visible six hours before it happened. [Pause.] The data was always there. There was just nothing listening to it."</a:t>
            </a:r>
          </a:p>
        </p:txBody>
      </p:sp>
      <p:sp>
        <p:nvSpPr>
          <p:cNvPr id="41" name="TextBox 40"/>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42" name="TextBox 41"/>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2487168" cy="292608"/>
          </a:xfrm>
          <a:prstGeom prst="rect">
            <a:avLst/>
          </a:prstGeom>
          <a:solidFill>
            <a:srgbClr val="02213F"/>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2395728" cy="256032"/>
          </a:xfrm>
          <a:prstGeom prst="rect">
            <a:avLst/>
          </a:prstGeom>
          <a:noFill/>
        </p:spPr>
        <p:txBody>
          <a:bodyPr wrap="square">
            <a:spAutoFit/>
          </a:bodyPr>
          <a:lstStyle/>
          <a:p>
            <a:pPr algn="l"/>
            <a:r>
              <a:rPr sz="900" b="1" i="0">
                <a:solidFill>
                  <a:srgbClr val="0A84FF"/>
                </a:solidFill>
                <a:latin typeface="Segoe UI"/>
              </a:rPr>
              <a:t>ACT 2  —  THE SOLUTION</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400" b="1" i="0">
                <a:solidFill>
                  <a:srgbClr val="F0F0F0"/>
                </a:solidFill>
                <a:latin typeface="Segoe UI"/>
              </a:rPr>
              <a:t>Introducing: The Guardian Box</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5760720" cy="4663440"/>
          </a:xfrm>
          <a:prstGeom prst="rect">
            <a:avLst/>
          </a:prstGeom>
          <a:solidFill>
            <a:srgbClr val="000000"/>
          </a:solidFill>
          <a:ln w="381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4754880" cy="914400"/>
          </a:xfrm>
          <a:prstGeom prst="rect">
            <a:avLst/>
          </a:prstGeom>
          <a:noFill/>
        </p:spPr>
        <p:txBody>
          <a:bodyPr wrap="square">
            <a:spAutoFit/>
          </a:bodyPr>
          <a:lstStyle/>
          <a:p>
            <a:pPr algn="ctr"/>
            <a:r>
              <a:rPr sz="6000" b="0" i="0">
                <a:solidFill>
                  <a:srgbClr val="F0F0F0"/>
                </a:solidFill>
                <a:latin typeface="Segoe UI"/>
              </a:rPr>
              <a:t>🖤</a:t>
            </a:r>
          </a:p>
        </p:txBody>
      </p:sp>
      <p:sp>
        <p:nvSpPr>
          <p:cNvPr id="10" name="TextBox 9"/>
          <p:cNvSpPr txBox="1"/>
          <p:nvPr/>
        </p:nvSpPr>
        <p:spPr>
          <a:xfrm>
            <a:off x="365760" y="2514600"/>
            <a:ext cx="5760720" cy="548640"/>
          </a:xfrm>
          <a:prstGeom prst="rect">
            <a:avLst/>
          </a:prstGeom>
          <a:noFill/>
        </p:spPr>
        <p:txBody>
          <a:bodyPr wrap="square">
            <a:spAutoFit/>
          </a:bodyPr>
          <a:lstStyle/>
          <a:p>
            <a:pPr algn="ctr"/>
            <a:r>
              <a:rPr sz="2000" b="1" i="0">
                <a:solidFill>
                  <a:srgbClr val="F0F0F0"/>
                </a:solidFill>
                <a:latin typeface="Segoe UI"/>
              </a:rPr>
              <a:t>THE GUARDIAN BOX</a:t>
            </a:r>
          </a:p>
        </p:txBody>
      </p:sp>
      <p:cxnSp>
        <p:nvCxnSpPr>
          <p:cNvPr id="11" name="Connector 10"/>
          <p:cNvCxnSpPr/>
          <p:nvPr/>
        </p:nvCxnSpPr>
        <p:spPr>
          <a:xfrm>
            <a:off x="365760" y="3200400"/>
            <a:ext cx="11457432" cy="0"/>
          </a:xfrm>
          <a:prstGeom prst="line">
            <a:avLst/>
          </a:prstGeom>
          <a:ln w="9525">
            <a:solidFill>
              <a:srgbClr val="0A84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3337560"/>
            <a:ext cx="457200" cy="411480"/>
          </a:xfrm>
          <a:prstGeom prst="rect">
            <a:avLst/>
          </a:prstGeom>
          <a:noFill/>
        </p:spPr>
        <p:txBody>
          <a:bodyPr wrap="square">
            <a:spAutoFit/>
          </a:bodyPr>
          <a:lstStyle/>
          <a:p>
            <a:pPr algn="l"/>
            <a:r>
              <a:rPr sz="1600" b="0" i="0">
                <a:solidFill>
                  <a:srgbClr val="F0F0F0"/>
                </a:solidFill>
                <a:latin typeface="Segoe UI"/>
              </a:rPr>
              <a:t>📡</a:t>
            </a:r>
          </a:p>
        </p:txBody>
      </p:sp>
      <p:sp>
        <p:nvSpPr>
          <p:cNvPr id="13" name="TextBox 12"/>
          <p:cNvSpPr txBox="1"/>
          <p:nvPr/>
        </p:nvSpPr>
        <p:spPr>
          <a:xfrm>
            <a:off x="1097280" y="3383279"/>
            <a:ext cx="1371600" cy="292608"/>
          </a:xfrm>
          <a:prstGeom prst="rect">
            <a:avLst/>
          </a:prstGeom>
          <a:noFill/>
        </p:spPr>
        <p:txBody>
          <a:bodyPr wrap="square">
            <a:spAutoFit/>
          </a:bodyPr>
          <a:lstStyle/>
          <a:p>
            <a:pPr algn="l"/>
            <a:r>
              <a:rPr sz="1100" b="1" i="0">
                <a:solidFill>
                  <a:srgbClr val="0A84FF"/>
                </a:solidFill>
                <a:latin typeface="Segoe UI"/>
              </a:rPr>
              <a:t>RECEIVES</a:t>
            </a:r>
          </a:p>
        </p:txBody>
      </p:sp>
      <p:sp>
        <p:nvSpPr>
          <p:cNvPr id="14" name="TextBox 13"/>
          <p:cNvSpPr txBox="1"/>
          <p:nvPr/>
        </p:nvSpPr>
        <p:spPr>
          <a:xfrm>
            <a:off x="2606040" y="3383279"/>
            <a:ext cx="3291840" cy="292608"/>
          </a:xfrm>
          <a:prstGeom prst="rect">
            <a:avLst/>
          </a:prstGeom>
          <a:noFill/>
        </p:spPr>
        <p:txBody>
          <a:bodyPr wrap="square">
            <a:spAutoFit/>
          </a:bodyPr>
          <a:lstStyle/>
          <a:p>
            <a:pPr algn="l"/>
            <a:r>
              <a:rPr sz="1000" b="0" i="0">
                <a:solidFill>
                  <a:srgbClr val="888888"/>
                </a:solidFill>
                <a:latin typeface="Segoe UI"/>
              </a:rPr>
              <a:t>Telemetric data from all robot sensors</a:t>
            </a:r>
          </a:p>
        </p:txBody>
      </p:sp>
      <p:sp>
        <p:nvSpPr>
          <p:cNvPr id="15" name="TextBox 14"/>
          <p:cNvSpPr txBox="1"/>
          <p:nvPr/>
        </p:nvSpPr>
        <p:spPr>
          <a:xfrm>
            <a:off x="548640" y="3995928"/>
            <a:ext cx="457200" cy="411480"/>
          </a:xfrm>
          <a:prstGeom prst="rect">
            <a:avLst/>
          </a:prstGeom>
          <a:noFill/>
        </p:spPr>
        <p:txBody>
          <a:bodyPr wrap="square">
            <a:spAutoFit/>
          </a:bodyPr>
          <a:lstStyle/>
          <a:p>
            <a:pPr algn="l"/>
            <a:r>
              <a:rPr sz="1600" b="0" i="0">
                <a:solidFill>
                  <a:srgbClr val="F0F0F0"/>
                </a:solidFill>
                <a:latin typeface="Segoe UI"/>
              </a:rPr>
              <a:t>🧠</a:t>
            </a:r>
          </a:p>
        </p:txBody>
      </p:sp>
      <p:sp>
        <p:nvSpPr>
          <p:cNvPr id="16" name="TextBox 15"/>
          <p:cNvSpPr txBox="1"/>
          <p:nvPr/>
        </p:nvSpPr>
        <p:spPr>
          <a:xfrm>
            <a:off x="1097280" y="4041648"/>
            <a:ext cx="1371600" cy="292608"/>
          </a:xfrm>
          <a:prstGeom prst="rect">
            <a:avLst/>
          </a:prstGeom>
          <a:noFill/>
        </p:spPr>
        <p:txBody>
          <a:bodyPr wrap="square">
            <a:spAutoFit/>
          </a:bodyPr>
          <a:lstStyle/>
          <a:p>
            <a:pPr algn="l"/>
            <a:r>
              <a:rPr sz="1100" b="1" i="0">
                <a:solidFill>
                  <a:srgbClr val="0A84FF"/>
                </a:solidFill>
                <a:latin typeface="Segoe UI"/>
              </a:rPr>
              <a:t>ANALYZES</a:t>
            </a:r>
          </a:p>
        </p:txBody>
      </p:sp>
      <p:sp>
        <p:nvSpPr>
          <p:cNvPr id="17" name="TextBox 16"/>
          <p:cNvSpPr txBox="1"/>
          <p:nvPr/>
        </p:nvSpPr>
        <p:spPr>
          <a:xfrm>
            <a:off x="2606040" y="4041648"/>
            <a:ext cx="3291840" cy="292608"/>
          </a:xfrm>
          <a:prstGeom prst="rect">
            <a:avLst/>
          </a:prstGeom>
          <a:noFill/>
        </p:spPr>
        <p:txBody>
          <a:bodyPr wrap="square">
            <a:spAutoFit/>
          </a:bodyPr>
          <a:lstStyle/>
          <a:p>
            <a:pPr algn="l"/>
            <a:r>
              <a:rPr sz="1000" b="0" i="0">
                <a:solidFill>
                  <a:srgbClr val="888888"/>
                </a:solidFill>
                <a:latin typeface="Segoe UI"/>
              </a:rPr>
              <a:t>Patterns in real time — 4 root causes</a:t>
            </a:r>
          </a:p>
        </p:txBody>
      </p:sp>
      <p:sp>
        <p:nvSpPr>
          <p:cNvPr id="18" name="TextBox 17"/>
          <p:cNvSpPr txBox="1"/>
          <p:nvPr/>
        </p:nvSpPr>
        <p:spPr>
          <a:xfrm>
            <a:off x="548640" y="4654296"/>
            <a:ext cx="457200" cy="411480"/>
          </a:xfrm>
          <a:prstGeom prst="rect">
            <a:avLst/>
          </a:prstGeom>
          <a:noFill/>
        </p:spPr>
        <p:txBody>
          <a:bodyPr wrap="square">
            <a:spAutoFit/>
          </a:bodyPr>
          <a:lstStyle/>
          <a:p>
            <a:pPr algn="l"/>
            <a:r>
              <a:rPr sz="1600" b="0" i="0">
                <a:solidFill>
                  <a:srgbClr val="F0F0F0"/>
                </a:solidFill>
                <a:latin typeface="Segoe UI"/>
              </a:rPr>
              <a:t>📋</a:t>
            </a:r>
          </a:p>
        </p:txBody>
      </p:sp>
      <p:sp>
        <p:nvSpPr>
          <p:cNvPr id="19" name="TextBox 18"/>
          <p:cNvSpPr txBox="1"/>
          <p:nvPr/>
        </p:nvSpPr>
        <p:spPr>
          <a:xfrm>
            <a:off x="1097280" y="4700016"/>
            <a:ext cx="1371600" cy="292608"/>
          </a:xfrm>
          <a:prstGeom prst="rect">
            <a:avLst/>
          </a:prstGeom>
          <a:noFill/>
        </p:spPr>
        <p:txBody>
          <a:bodyPr wrap="square">
            <a:spAutoFit/>
          </a:bodyPr>
          <a:lstStyle/>
          <a:p>
            <a:pPr algn="l"/>
            <a:r>
              <a:rPr sz="1100" b="1" i="0">
                <a:solidFill>
                  <a:srgbClr val="0A84FF"/>
                </a:solidFill>
                <a:latin typeface="Segoe UI"/>
              </a:rPr>
              <a:t>REFERENCES</a:t>
            </a:r>
          </a:p>
        </p:txBody>
      </p:sp>
      <p:sp>
        <p:nvSpPr>
          <p:cNvPr id="20" name="TextBox 19"/>
          <p:cNvSpPr txBox="1"/>
          <p:nvPr/>
        </p:nvSpPr>
        <p:spPr>
          <a:xfrm>
            <a:off x="2606040" y="4700016"/>
            <a:ext cx="3291840" cy="292608"/>
          </a:xfrm>
          <a:prstGeom prst="rect">
            <a:avLst/>
          </a:prstGeom>
          <a:noFill/>
        </p:spPr>
        <p:txBody>
          <a:bodyPr wrap="square">
            <a:spAutoFit/>
          </a:bodyPr>
          <a:lstStyle/>
          <a:p>
            <a:pPr algn="l"/>
            <a:r>
              <a:rPr sz="1000" b="0" i="0">
                <a:solidFill>
                  <a:srgbClr val="888888"/>
                </a:solidFill>
                <a:latin typeface="Segoe UI"/>
              </a:rPr>
              <a:t>Manufacturer manual — exact solutions</a:t>
            </a:r>
          </a:p>
        </p:txBody>
      </p:sp>
      <p:sp>
        <p:nvSpPr>
          <p:cNvPr id="21" name="TextBox 20"/>
          <p:cNvSpPr txBox="1"/>
          <p:nvPr/>
        </p:nvSpPr>
        <p:spPr>
          <a:xfrm>
            <a:off x="548640" y="5312664"/>
            <a:ext cx="457200" cy="411480"/>
          </a:xfrm>
          <a:prstGeom prst="rect">
            <a:avLst/>
          </a:prstGeom>
          <a:noFill/>
        </p:spPr>
        <p:txBody>
          <a:bodyPr wrap="square">
            <a:spAutoFit/>
          </a:bodyPr>
          <a:lstStyle/>
          <a:p>
            <a:pPr algn="l"/>
            <a:r>
              <a:rPr sz="1600" b="0" i="0">
                <a:solidFill>
                  <a:srgbClr val="F0F0F0"/>
                </a:solidFill>
                <a:latin typeface="Segoe UI"/>
              </a:rPr>
              <a:t>🚨</a:t>
            </a:r>
          </a:p>
        </p:txBody>
      </p:sp>
      <p:sp>
        <p:nvSpPr>
          <p:cNvPr id="22" name="TextBox 21"/>
          <p:cNvSpPr txBox="1"/>
          <p:nvPr/>
        </p:nvSpPr>
        <p:spPr>
          <a:xfrm>
            <a:off x="1097280" y="5358384"/>
            <a:ext cx="1371600" cy="292608"/>
          </a:xfrm>
          <a:prstGeom prst="rect">
            <a:avLst/>
          </a:prstGeom>
          <a:noFill/>
        </p:spPr>
        <p:txBody>
          <a:bodyPr wrap="square">
            <a:spAutoFit/>
          </a:bodyPr>
          <a:lstStyle/>
          <a:p>
            <a:pPr algn="l"/>
            <a:r>
              <a:rPr sz="1100" b="1" i="0">
                <a:solidFill>
                  <a:srgbClr val="0A84FF"/>
                </a:solidFill>
                <a:latin typeface="Segoe UI"/>
              </a:rPr>
              <a:t>DELIVERS</a:t>
            </a:r>
          </a:p>
        </p:txBody>
      </p:sp>
      <p:sp>
        <p:nvSpPr>
          <p:cNvPr id="23" name="TextBox 22"/>
          <p:cNvSpPr txBox="1"/>
          <p:nvPr/>
        </p:nvSpPr>
        <p:spPr>
          <a:xfrm>
            <a:off x="2606040" y="5358384"/>
            <a:ext cx="3291840" cy="292608"/>
          </a:xfrm>
          <a:prstGeom prst="rect">
            <a:avLst/>
          </a:prstGeom>
          <a:noFill/>
        </p:spPr>
        <p:txBody>
          <a:bodyPr wrap="square">
            <a:spAutoFit/>
          </a:bodyPr>
          <a:lstStyle/>
          <a:p>
            <a:pPr algn="l"/>
            <a:r>
              <a:rPr sz="1000" b="0" i="0">
                <a:solidFill>
                  <a:srgbClr val="888888"/>
                </a:solidFill>
                <a:latin typeface="Segoe UI"/>
              </a:rPr>
              <a:t>Step-by-step troubleshooting in seconds</a:t>
            </a:r>
          </a:p>
        </p:txBody>
      </p:sp>
      <p:sp>
        <p:nvSpPr>
          <p:cNvPr id="24" name="Rectangle 23"/>
          <p:cNvSpPr/>
          <p:nvPr/>
        </p:nvSpPr>
        <p:spPr>
          <a:xfrm>
            <a:off x="6400800" y="1371600"/>
            <a:ext cx="5394960" cy="466344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508760"/>
            <a:ext cx="4937760" cy="365760"/>
          </a:xfrm>
          <a:prstGeom prst="rect">
            <a:avLst/>
          </a:prstGeom>
          <a:noFill/>
        </p:spPr>
        <p:txBody>
          <a:bodyPr wrap="square">
            <a:spAutoFit/>
          </a:bodyPr>
          <a:lstStyle/>
          <a:p>
            <a:pPr algn="l"/>
            <a:r>
              <a:rPr sz="1200" b="1" i="0">
                <a:solidFill>
                  <a:srgbClr val="0A84FF"/>
                </a:solidFill>
                <a:latin typeface="Segoe UI"/>
              </a:rPr>
              <a:t>What makes it different?</a:t>
            </a:r>
          </a:p>
        </p:txBody>
      </p:sp>
      <p:sp>
        <p:nvSpPr>
          <p:cNvPr id="26" name="TextBox 25"/>
          <p:cNvSpPr txBox="1"/>
          <p:nvPr/>
        </p:nvSpPr>
        <p:spPr>
          <a:xfrm>
            <a:off x="6629400" y="2011680"/>
            <a:ext cx="4937760" cy="502920"/>
          </a:xfrm>
          <a:prstGeom prst="rect">
            <a:avLst/>
          </a:prstGeom>
          <a:noFill/>
        </p:spPr>
        <p:txBody>
          <a:bodyPr wrap="square">
            <a:spAutoFit/>
          </a:bodyPr>
          <a:lstStyle/>
          <a:p>
            <a:pPr algn="l"/>
            <a:r>
              <a:rPr sz="1000" b="0" i="0">
                <a:solidFill>
                  <a:srgbClr val="F0F0F0"/>
                </a:solidFill>
                <a:latin typeface="Segoe UI"/>
              </a:rPr>
              <a:t>→  It doesn't wait for failure.</a:t>
            </a:r>
          </a:p>
        </p:txBody>
      </p:sp>
      <p:sp>
        <p:nvSpPr>
          <p:cNvPr id="27" name="TextBox 26"/>
          <p:cNvSpPr txBox="1"/>
          <p:nvPr/>
        </p:nvSpPr>
        <p:spPr>
          <a:xfrm>
            <a:off x="6629400" y="2578608"/>
            <a:ext cx="4937760" cy="502920"/>
          </a:xfrm>
          <a:prstGeom prst="rect">
            <a:avLst/>
          </a:prstGeom>
          <a:noFill/>
        </p:spPr>
        <p:txBody>
          <a:bodyPr wrap="square">
            <a:spAutoFit/>
          </a:bodyPr>
          <a:lstStyle/>
          <a:p>
            <a:pPr algn="l"/>
            <a:r>
              <a:rPr sz="1000" b="0" i="0">
                <a:solidFill>
                  <a:srgbClr val="30D158"/>
                </a:solidFill>
                <a:latin typeface="Segoe UI"/>
              </a:rPr>
              <a:t>   It predicts failure — hours ahead.</a:t>
            </a:r>
          </a:p>
        </p:txBody>
      </p:sp>
      <p:sp>
        <p:nvSpPr>
          <p:cNvPr id="28" name="TextBox 27"/>
          <p:cNvSpPr txBox="1"/>
          <p:nvPr/>
        </p:nvSpPr>
        <p:spPr>
          <a:xfrm>
            <a:off x="6629400" y="3145536"/>
            <a:ext cx="4937760" cy="502920"/>
          </a:xfrm>
          <a:prstGeom prst="rect">
            <a:avLst/>
          </a:prstGeom>
          <a:noFill/>
        </p:spPr>
        <p:txBody>
          <a:bodyPr wrap="square">
            <a:spAutoFit/>
          </a:bodyPr>
          <a:lstStyle/>
          <a:p>
            <a:pPr algn="l"/>
            <a:r>
              <a:rPr sz="1000" b="0" i="0">
                <a:solidFill>
                  <a:srgbClr val="F0F0F0"/>
                </a:solidFill>
                <a:latin typeface="Segoe UI"/>
              </a:rPr>
              <a:t>→  Every recommendation comes from the
manufacturer's own manual.</a:t>
            </a:r>
          </a:p>
        </p:txBody>
      </p:sp>
      <p:sp>
        <p:nvSpPr>
          <p:cNvPr id="29" name="TextBox 28"/>
          <p:cNvSpPr txBox="1"/>
          <p:nvPr/>
        </p:nvSpPr>
        <p:spPr>
          <a:xfrm>
            <a:off x="6629400" y="3712464"/>
            <a:ext cx="4937760" cy="502920"/>
          </a:xfrm>
          <a:prstGeom prst="rect">
            <a:avLst/>
          </a:prstGeom>
          <a:noFill/>
        </p:spPr>
        <p:txBody>
          <a:bodyPr wrap="square">
            <a:spAutoFit/>
          </a:bodyPr>
          <a:lstStyle/>
          <a:p>
            <a:pPr algn="l"/>
            <a:r>
              <a:rPr sz="1000" b="0" i="0">
                <a:solidFill>
                  <a:srgbClr val="30D158"/>
                </a:solidFill>
                <a:latin typeface="Segoe UI"/>
              </a:rPr>
              <a:t>   No guessing. No improvising.
No expertise required on the floor.</a:t>
            </a:r>
          </a:p>
        </p:txBody>
      </p:sp>
      <p:sp>
        <p:nvSpPr>
          <p:cNvPr id="30" name="TextBox 29"/>
          <p:cNvSpPr txBox="1"/>
          <p:nvPr/>
        </p:nvSpPr>
        <p:spPr>
          <a:xfrm>
            <a:off x="6629400" y="4279392"/>
            <a:ext cx="4937760" cy="502920"/>
          </a:xfrm>
          <a:prstGeom prst="rect">
            <a:avLst/>
          </a:prstGeom>
          <a:noFill/>
        </p:spPr>
        <p:txBody>
          <a:bodyPr wrap="square">
            <a:spAutoFit/>
          </a:bodyPr>
          <a:lstStyle/>
          <a:p>
            <a:pPr algn="l"/>
            <a:r>
              <a:rPr sz="1000" b="0" i="0">
                <a:solidFill>
                  <a:srgbClr val="F0F0F0"/>
                </a:solidFill>
                <a:latin typeface="Segoe UI"/>
              </a:rPr>
              <a:t>→  It monitors 600 sensors across 50
robots simultaneously.</a:t>
            </a:r>
          </a:p>
        </p:txBody>
      </p:sp>
      <p:sp>
        <p:nvSpPr>
          <p:cNvPr id="31" name="TextBox 30"/>
          <p:cNvSpPr txBox="1"/>
          <p:nvPr/>
        </p:nvSpPr>
        <p:spPr>
          <a:xfrm>
            <a:off x="6629400" y="4846320"/>
            <a:ext cx="4937760" cy="502920"/>
          </a:xfrm>
          <a:prstGeom prst="rect">
            <a:avLst/>
          </a:prstGeom>
          <a:noFill/>
        </p:spPr>
        <p:txBody>
          <a:bodyPr wrap="square">
            <a:spAutoFit/>
          </a:bodyPr>
          <a:lstStyle/>
          <a:p>
            <a:pPr algn="l"/>
            <a:r>
              <a:rPr sz="1000" b="0" i="0">
                <a:solidFill>
                  <a:srgbClr val="30D158"/>
                </a:solidFill>
                <a:latin typeface="Segoe UI"/>
              </a:rPr>
              <a:t>   24 hours a day. 365 days a year.
Without breaks. Without errors.</a:t>
            </a:r>
          </a:p>
        </p:txBody>
      </p:sp>
      <p:sp>
        <p:nvSpPr>
          <p:cNvPr id="32" name="Rectangle 31"/>
          <p:cNvSpPr/>
          <p:nvPr/>
        </p:nvSpPr>
        <p:spPr>
          <a:xfrm>
            <a:off x="365760" y="6199632"/>
            <a:ext cx="11430000" cy="5029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6245352"/>
            <a:ext cx="10972800" cy="429768"/>
          </a:xfrm>
          <a:prstGeom prst="rect">
            <a:avLst/>
          </a:prstGeom>
          <a:noFill/>
        </p:spPr>
        <p:txBody>
          <a:bodyPr wrap="square">
            <a:spAutoFit/>
          </a:bodyPr>
          <a:lstStyle/>
          <a:p>
            <a:pPr algn="l"/>
            <a:r>
              <a:rPr sz="900" b="0" i="1">
                <a:solidFill>
                  <a:srgbClr val="888888"/>
                </a:solidFill>
                <a:latin typeface="Segoe UI"/>
              </a:rPr>
              <a:t>SPEAKER SCRIPT: "This is the Guardian Box. It's not complicated to explain. It sits on your control cabinet. It listens to every sensor on every robot. It cross-references what it hears against the manufacturer's own manual — the document your team should be using anyway. And when it detects a problem, it doesn't just fire an alarm. It tells your tech exactly what to do, in what order, sourced directly from the people who built the machine."</a:t>
            </a:r>
          </a:p>
        </p:txBody>
      </p:sp>
      <p:sp>
        <p:nvSpPr>
          <p:cNvPr id="34" name="TextBox 33"/>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35" name="TextBox 34"/>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3191256" cy="292608"/>
          </a:xfrm>
          <a:prstGeom prst="rect">
            <a:avLst/>
          </a:prstGeom>
          <a:solidFill>
            <a:srgbClr val="02213F"/>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3099816" cy="256032"/>
          </a:xfrm>
          <a:prstGeom prst="rect">
            <a:avLst/>
          </a:prstGeom>
          <a:noFill/>
        </p:spPr>
        <p:txBody>
          <a:bodyPr wrap="square">
            <a:spAutoFit/>
          </a:bodyPr>
          <a:lstStyle/>
          <a:p>
            <a:pPr algn="l"/>
            <a:r>
              <a:rPr sz="900" b="1" i="0">
                <a:solidFill>
                  <a:srgbClr val="0A84FF"/>
                </a:solidFill>
                <a:latin typeface="Segoe UI"/>
              </a:rPr>
              <a:t>ACT 2  —  SYSTEM ARCHITECTURE</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200" b="1" i="0">
                <a:solidFill>
                  <a:srgbClr val="F0F0F0"/>
                </a:solidFill>
                <a:latin typeface="Segoe UI"/>
              </a:rPr>
              <a:t>How It Works: The Full System Map</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3200400" cy="475488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08760"/>
            <a:ext cx="2834640" cy="320040"/>
          </a:xfrm>
          <a:prstGeom prst="rect">
            <a:avLst/>
          </a:prstGeom>
          <a:noFill/>
        </p:spPr>
        <p:txBody>
          <a:bodyPr wrap="square">
            <a:spAutoFit/>
          </a:bodyPr>
          <a:lstStyle/>
          <a:p>
            <a:pPr algn="l"/>
            <a:r>
              <a:rPr sz="1100" b="1" i="0">
                <a:solidFill>
                  <a:srgbClr val="888888"/>
                </a:solidFill>
                <a:latin typeface="Segoe UI"/>
              </a:rPr>
              <a:t>🤖  ROBOT R-47</a:t>
            </a:r>
          </a:p>
        </p:txBody>
      </p:sp>
      <p:sp>
        <p:nvSpPr>
          <p:cNvPr id="10" name="Rectangle 9"/>
          <p:cNvSpPr/>
          <p:nvPr/>
        </p:nvSpPr>
        <p:spPr>
          <a:xfrm>
            <a:off x="502920" y="1920240"/>
            <a:ext cx="2926080" cy="384048"/>
          </a:xfrm>
          <a:prstGeom prst="rect">
            <a:avLst/>
          </a:prstGeom>
          <a:solidFill>
            <a:srgbClr val="222222"/>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75104"/>
            <a:ext cx="914400" cy="256032"/>
          </a:xfrm>
          <a:prstGeom prst="rect">
            <a:avLst/>
          </a:prstGeom>
          <a:noFill/>
        </p:spPr>
        <p:txBody>
          <a:bodyPr wrap="square">
            <a:spAutoFit/>
          </a:bodyPr>
          <a:lstStyle/>
          <a:p>
            <a:pPr algn="l"/>
            <a:r>
              <a:rPr sz="1000" b="0" i="0">
                <a:solidFill>
                  <a:srgbClr val="888888"/>
                </a:solidFill>
                <a:latin typeface="Segoe UI"/>
              </a:rPr>
              <a:t>Gear 1</a:t>
            </a:r>
          </a:p>
        </p:txBody>
      </p:sp>
      <p:sp>
        <p:nvSpPr>
          <p:cNvPr id="12" name="TextBox 11"/>
          <p:cNvSpPr txBox="1"/>
          <p:nvPr/>
        </p:nvSpPr>
        <p:spPr>
          <a:xfrm>
            <a:off x="1645920" y="1975104"/>
            <a:ext cx="1645920" cy="256032"/>
          </a:xfrm>
          <a:prstGeom prst="rect">
            <a:avLst/>
          </a:prstGeom>
          <a:noFill/>
        </p:spPr>
        <p:txBody>
          <a:bodyPr wrap="square">
            <a:spAutoFit/>
          </a:bodyPr>
          <a:lstStyle/>
          <a:p>
            <a:pPr algn="l"/>
            <a:r>
              <a:rPr sz="1000" b="0" i="0">
                <a:solidFill>
                  <a:srgbClr val="30D158"/>
                </a:solidFill>
                <a:latin typeface="Segoe UI"/>
              </a:rPr>
              <a:t>🌡 Temp Sensor</a:t>
            </a:r>
          </a:p>
        </p:txBody>
      </p:sp>
      <p:sp>
        <p:nvSpPr>
          <p:cNvPr id="13" name="Rectangle 12"/>
          <p:cNvSpPr/>
          <p:nvPr/>
        </p:nvSpPr>
        <p:spPr>
          <a:xfrm>
            <a:off x="502920" y="2395728"/>
            <a:ext cx="2926080" cy="384048"/>
          </a:xfrm>
          <a:prstGeom prst="rect">
            <a:avLst/>
          </a:prstGeom>
          <a:solidFill>
            <a:srgbClr val="222222"/>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450592"/>
            <a:ext cx="914400" cy="256032"/>
          </a:xfrm>
          <a:prstGeom prst="rect">
            <a:avLst/>
          </a:prstGeom>
          <a:noFill/>
        </p:spPr>
        <p:txBody>
          <a:bodyPr wrap="square">
            <a:spAutoFit/>
          </a:bodyPr>
          <a:lstStyle/>
          <a:p>
            <a:pPr algn="l"/>
            <a:r>
              <a:rPr sz="1000" b="0" i="0">
                <a:solidFill>
                  <a:srgbClr val="888888"/>
                </a:solidFill>
                <a:latin typeface="Segoe UI"/>
              </a:rPr>
              <a:t>Gear 2</a:t>
            </a:r>
          </a:p>
        </p:txBody>
      </p:sp>
      <p:sp>
        <p:nvSpPr>
          <p:cNvPr id="15" name="TextBox 14"/>
          <p:cNvSpPr txBox="1"/>
          <p:nvPr/>
        </p:nvSpPr>
        <p:spPr>
          <a:xfrm>
            <a:off x="1645920" y="2450592"/>
            <a:ext cx="1645920" cy="256032"/>
          </a:xfrm>
          <a:prstGeom prst="rect">
            <a:avLst/>
          </a:prstGeom>
          <a:noFill/>
        </p:spPr>
        <p:txBody>
          <a:bodyPr wrap="square">
            <a:spAutoFit/>
          </a:bodyPr>
          <a:lstStyle/>
          <a:p>
            <a:pPr algn="l"/>
            <a:r>
              <a:rPr sz="1000" b="0" i="0">
                <a:solidFill>
                  <a:srgbClr val="30D158"/>
                </a:solidFill>
                <a:latin typeface="Segoe UI"/>
              </a:rPr>
              <a:t>🌡 Temp Sensor</a:t>
            </a:r>
          </a:p>
        </p:txBody>
      </p:sp>
      <p:sp>
        <p:nvSpPr>
          <p:cNvPr id="16" name="Rectangle 15"/>
          <p:cNvSpPr/>
          <p:nvPr/>
        </p:nvSpPr>
        <p:spPr>
          <a:xfrm>
            <a:off x="502920" y="2871216"/>
            <a:ext cx="2926080" cy="384048"/>
          </a:xfrm>
          <a:prstGeom prst="rect">
            <a:avLst/>
          </a:prstGeom>
          <a:solidFill>
            <a:srgbClr val="222222"/>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926080"/>
            <a:ext cx="914400" cy="256032"/>
          </a:xfrm>
          <a:prstGeom prst="rect">
            <a:avLst/>
          </a:prstGeom>
          <a:noFill/>
        </p:spPr>
        <p:txBody>
          <a:bodyPr wrap="square">
            <a:spAutoFit/>
          </a:bodyPr>
          <a:lstStyle/>
          <a:p>
            <a:pPr algn="l"/>
            <a:r>
              <a:rPr sz="1000" b="0" i="0">
                <a:solidFill>
                  <a:srgbClr val="888888"/>
                </a:solidFill>
                <a:latin typeface="Segoe UI"/>
              </a:rPr>
              <a:t>Gear 3</a:t>
            </a:r>
          </a:p>
        </p:txBody>
      </p:sp>
      <p:sp>
        <p:nvSpPr>
          <p:cNvPr id="18" name="TextBox 17"/>
          <p:cNvSpPr txBox="1"/>
          <p:nvPr/>
        </p:nvSpPr>
        <p:spPr>
          <a:xfrm>
            <a:off x="1645920" y="2926080"/>
            <a:ext cx="1645920" cy="256032"/>
          </a:xfrm>
          <a:prstGeom prst="rect">
            <a:avLst/>
          </a:prstGeom>
          <a:noFill/>
        </p:spPr>
        <p:txBody>
          <a:bodyPr wrap="square">
            <a:spAutoFit/>
          </a:bodyPr>
          <a:lstStyle/>
          <a:p>
            <a:pPr algn="l"/>
            <a:r>
              <a:rPr sz="1000" b="0" i="0">
                <a:solidFill>
                  <a:srgbClr val="FF9F0A"/>
                </a:solidFill>
                <a:latin typeface="Segoe UI"/>
              </a:rPr>
              <a:t>🌡 Temp Sensor</a:t>
            </a:r>
          </a:p>
        </p:txBody>
      </p:sp>
      <p:sp>
        <p:nvSpPr>
          <p:cNvPr id="19" name="Rectangle 18"/>
          <p:cNvSpPr/>
          <p:nvPr/>
        </p:nvSpPr>
        <p:spPr>
          <a:xfrm>
            <a:off x="502920" y="3346704"/>
            <a:ext cx="2926080" cy="384048"/>
          </a:xfrm>
          <a:prstGeom prst="rect">
            <a:avLst/>
          </a:prstGeom>
          <a:solidFill>
            <a:srgbClr val="222222"/>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401568"/>
            <a:ext cx="914400" cy="256032"/>
          </a:xfrm>
          <a:prstGeom prst="rect">
            <a:avLst/>
          </a:prstGeom>
          <a:noFill/>
        </p:spPr>
        <p:txBody>
          <a:bodyPr wrap="square">
            <a:spAutoFit/>
          </a:bodyPr>
          <a:lstStyle/>
          <a:p>
            <a:pPr algn="l"/>
            <a:r>
              <a:rPr sz="1000" b="0" i="0">
                <a:solidFill>
                  <a:srgbClr val="888888"/>
                </a:solidFill>
                <a:latin typeface="Segoe UI"/>
              </a:rPr>
              <a:t>Gear 4</a:t>
            </a:r>
          </a:p>
        </p:txBody>
      </p:sp>
      <p:sp>
        <p:nvSpPr>
          <p:cNvPr id="21" name="TextBox 20"/>
          <p:cNvSpPr txBox="1"/>
          <p:nvPr/>
        </p:nvSpPr>
        <p:spPr>
          <a:xfrm>
            <a:off x="1645920" y="3401568"/>
            <a:ext cx="1645920" cy="256032"/>
          </a:xfrm>
          <a:prstGeom prst="rect">
            <a:avLst/>
          </a:prstGeom>
          <a:noFill/>
        </p:spPr>
        <p:txBody>
          <a:bodyPr wrap="square">
            <a:spAutoFit/>
          </a:bodyPr>
          <a:lstStyle/>
          <a:p>
            <a:pPr algn="l"/>
            <a:r>
              <a:rPr sz="1000" b="0" i="0">
                <a:solidFill>
                  <a:srgbClr val="30D158"/>
                </a:solidFill>
                <a:latin typeface="Segoe UI"/>
              </a:rPr>
              <a:t>📳 Vibr Sensor</a:t>
            </a:r>
          </a:p>
        </p:txBody>
      </p:sp>
      <p:sp>
        <p:nvSpPr>
          <p:cNvPr id="22" name="Rectangle 21"/>
          <p:cNvSpPr/>
          <p:nvPr/>
        </p:nvSpPr>
        <p:spPr>
          <a:xfrm>
            <a:off x="502920" y="3822191"/>
            <a:ext cx="2926080" cy="384048"/>
          </a:xfrm>
          <a:prstGeom prst="rect">
            <a:avLst/>
          </a:prstGeom>
          <a:solidFill>
            <a:srgbClr val="222222"/>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877055"/>
            <a:ext cx="914400" cy="256032"/>
          </a:xfrm>
          <a:prstGeom prst="rect">
            <a:avLst/>
          </a:prstGeom>
          <a:noFill/>
        </p:spPr>
        <p:txBody>
          <a:bodyPr wrap="square">
            <a:spAutoFit/>
          </a:bodyPr>
          <a:lstStyle/>
          <a:p>
            <a:pPr algn="l"/>
            <a:r>
              <a:rPr sz="1000" b="0" i="0">
                <a:solidFill>
                  <a:srgbClr val="888888"/>
                </a:solidFill>
                <a:latin typeface="Segoe UI"/>
              </a:rPr>
              <a:t>Gear 5</a:t>
            </a:r>
          </a:p>
        </p:txBody>
      </p:sp>
      <p:sp>
        <p:nvSpPr>
          <p:cNvPr id="24" name="TextBox 23"/>
          <p:cNvSpPr txBox="1"/>
          <p:nvPr/>
        </p:nvSpPr>
        <p:spPr>
          <a:xfrm>
            <a:off x="1645920" y="3877055"/>
            <a:ext cx="1645920" cy="256032"/>
          </a:xfrm>
          <a:prstGeom prst="rect">
            <a:avLst/>
          </a:prstGeom>
          <a:noFill/>
        </p:spPr>
        <p:txBody>
          <a:bodyPr wrap="square">
            <a:spAutoFit/>
          </a:bodyPr>
          <a:lstStyle/>
          <a:p>
            <a:pPr algn="l"/>
            <a:r>
              <a:rPr sz="1000" b="0" i="0">
                <a:solidFill>
                  <a:srgbClr val="FF3B30"/>
                </a:solidFill>
                <a:latin typeface="Segoe UI"/>
              </a:rPr>
              <a:t>📳 Vibr Sensor</a:t>
            </a:r>
          </a:p>
        </p:txBody>
      </p:sp>
      <p:sp>
        <p:nvSpPr>
          <p:cNvPr id="25" name="Rectangle 24"/>
          <p:cNvSpPr/>
          <p:nvPr/>
        </p:nvSpPr>
        <p:spPr>
          <a:xfrm>
            <a:off x="502920" y="4297680"/>
            <a:ext cx="2926080" cy="384048"/>
          </a:xfrm>
          <a:prstGeom prst="rect">
            <a:avLst/>
          </a:prstGeom>
          <a:solidFill>
            <a:srgbClr val="222222"/>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352544"/>
            <a:ext cx="914400" cy="256032"/>
          </a:xfrm>
          <a:prstGeom prst="rect">
            <a:avLst/>
          </a:prstGeom>
          <a:noFill/>
        </p:spPr>
        <p:txBody>
          <a:bodyPr wrap="square">
            <a:spAutoFit/>
          </a:bodyPr>
          <a:lstStyle/>
          <a:p>
            <a:pPr algn="l"/>
            <a:r>
              <a:rPr sz="1000" b="0" i="0">
                <a:solidFill>
                  <a:srgbClr val="888888"/>
                </a:solidFill>
                <a:latin typeface="Segoe UI"/>
              </a:rPr>
              <a:t>Gear 6</a:t>
            </a:r>
          </a:p>
        </p:txBody>
      </p:sp>
      <p:sp>
        <p:nvSpPr>
          <p:cNvPr id="27" name="TextBox 26"/>
          <p:cNvSpPr txBox="1"/>
          <p:nvPr/>
        </p:nvSpPr>
        <p:spPr>
          <a:xfrm>
            <a:off x="1645920" y="4352544"/>
            <a:ext cx="1645920" cy="256032"/>
          </a:xfrm>
          <a:prstGeom prst="rect">
            <a:avLst/>
          </a:prstGeom>
          <a:noFill/>
        </p:spPr>
        <p:txBody>
          <a:bodyPr wrap="square">
            <a:spAutoFit/>
          </a:bodyPr>
          <a:lstStyle/>
          <a:p>
            <a:pPr algn="l"/>
            <a:r>
              <a:rPr sz="1000" b="0" i="0">
                <a:solidFill>
                  <a:srgbClr val="30D158"/>
                </a:solidFill>
                <a:latin typeface="Segoe UI"/>
              </a:rPr>
              <a:t>📳 Vibr Sensor</a:t>
            </a:r>
          </a:p>
        </p:txBody>
      </p:sp>
      <p:sp>
        <p:nvSpPr>
          <p:cNvPr id="28" name="Rectangle 27"/>
          <p:cNvSpPr/>
          <p:nvPr/>
        </p:nvSpPr>
        <p:spPr>
          <a:xfrm>
            <a:off x="502920" y="4773168"/>
            <a:ext cx="2926080" cy="384048"/>
          </a:xfrm>
          <a:prstGeom prst="rect">
            <a:avLst/>
          </a:prstGeom>
          <a:solidFill>
            <a:srgbClr val="222222"/>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828032"/>
            <a:ext cx="914400" cy="256032"/>
          </a:xfrm>
          <a:prstGeom prst="rect">
            <a:avLst/>
          </a:prstGeom>
          <a:noFill/>
        </p:spPr>
        <p:txBody>
          <a:bodyPr wrap="square">
            <a:spAutoFit/>
          </a:bodyPr>
          <a:lstStyle/>
          <a:p>
            <a:pPr algn="l"/>
            <a:r>
              <a:rPr sz="1000" b="0" i="0">
                <a:solidFill>
                  <a:srgbClr val="888888"/>
                </a:solidFill>
                <a:latin typeface="Segoe UI"/>
              </a:rPr>
              <a:t>Motor</a:t>
            </a:r>
          </a:p>
        </p:txBody>
      </p:sp>
      <p:sp>
        <p:nvSpPr>
          <p:cNvPr id="30" name="TextBox 29"/>
          <p:cNvSpPr txBox="1"/>
          <p:nvPr/>
        </p:nvSpPr>
        <p:spPr>
          <a:xfrm>
            <a:off x="1645920" y="4828032"/>
            <a:ext cx="1645920" cy="256032"/>
          </a:xfrm>
          <a:prstGeom prst="rect">
            <a:avLst/>
          </a:prstGeom>
          <a:noFill/>
        </p:spPr>
        <p:txBody>
          <a:bodyPr wrap="square">
            <a:spAutoFit/>
          </a:bodyPr>
          <a:lstStyle/>
          <a:p>
            <a:pPr algn="l"/>
            <a:r>
              <a:rPr sz="1000" b="0" i="0">
                <a:solidFill>
                  <a:srgbClr val="FF9F0A"/>
                </a:solidFill>
                <a:latin typeface="Segoe UI"/>
              </a:rPr>
              <a:t>⚡ Load Sensor</a:t>
            </a:r>
          </a:p>
        </p:txBody>
      </p:sp>
      <p:sp>
        <p:nvSpPr>
          <p:cNvPr id="31" name="Rectangle 30"/>
          <p:cNvSpPr/>
          <p:nvPr/>
        </p:nvSpPr>
        <p:spPr>
          <a:xfrm>
            <a:off x="502920" y="5248656"/>
            <a:ext cx="2926080" cy="384048"/>
          </a:xfrm>
          <a:prstGeom prst="rect">
            <a:avLst/>
          </a:prstGeom>
          <a:solidFill>
            <a:srgbClr val="222222"/>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5303520"/>
            <a:ext cx="914400" cy="256032"/>
          </a:xfrm>
          <a:prstGeom prst="rect">
            <a:avLst/>
          </a:prstGeom>
          <a:noFill/>
        </p:spPr>
        <p:txBody>
          <a:bodyPr wrap="square">
            <a:spAutoFit/>
          </a:bodyPr>
          <a:lstStyle/>
          <a:p>
            <a:pPr algn="l"/>
            <a:r>
              <a:rPr sz="1000" b="0" i="0">
                <a:solidFill>
                  <a:srgbClr val="888888"/>
                </a:solidFill>
                <a:latin typeface="Segoe UI"/>
              </a:rPr>
              <a:t>Bearing</a:t>
            </a:r>
          </a:p>
        </p:txBody>
      </p:sp>
      <p:sp>
        <p:nvSpPr>
          <p:cNvPr id="33" name="TextBox 32"/>
          <p:cNvSpPr txBox="1"/>
          <p:nvPr/>
        </p:nvSpPr>
        <p:spPr>
          <a:xfrm>
            <a:off x="1645920" y="5303520"/>
            <a:ext cx="1645920" cy="256032"/>
          </a:xfrm>
          <a:prstGeom prst="rect">
            <a:avLst/>
          </a:prstGeom>
          <a:noFill/>
        </p:spPr>
        <p:txBody>
          <a:bodyPr wrap="square">
            <a:spAutoFit/>
          </a:bodyPr>
          <a:lstStyle/>
          <a:p>
            <a:pPr algn="l"/>
            <a:r>
              <a:rPr sz="1000" b="0" i="0">
                <a:solidFill>
                  <a:srgbClr val="FF3B30"/>
                </a:solidFill>
                <a:latin typeface="Segoe UI"/>
              </a:rPr>
              <a:t>🔊 Sound Sensor</a:t>
            </a:r>
          </a:p>
        </p:txBody>
      </p:sp>
      <p:sp>
        <p:nvSpPr>
          <p:cNvPr id="34" name="TextBox 33"/>
          <p:cNvSpPr txBox="1"/>
          <p:nvPr/>
        </p:nvSpPr>
        <p:spPr>
          <a:xfrm>
            <a:off x="3703320" y="3566160"/>
            <a:ext cx="548640" cy="457200"/>
          </a:xfrm>
          <a:prstGeom prst="rect">
            <a:avLst/>
          </a:prstGeom>
          <a:noFill/>
        </p:spPr>
        <p:txBody>
          <a:bodyPr wrap="square">
            <a:spAutoFit/>
          </a:bodyPr>
          <a:lstStyle/>
          <a:p>
            <a:pPr algn="l"/>
            <a:r>
              <a:rPr sz="2800" b="1" i="0">
                <a:solidFill>
                  <a:srgbClr val="0A84FF"/>
                </a:solidFill>
                <a:latin typeface="Segoe UI"/>
              </a:rPr>
              <a:t>►</a:t>
            </a:r>
          </a:p>
        </p:txBody>
      </p:sp>
      <p:sp>
        <p:nvSpPr>
          <p:cNvPr id="35" name="TextBox 34"/>
          <p:cNvSpPr txBox="1"/>
          <p:nvPr/>
        </p:nvSpPr>
        <p:spPr>
          <a:xfrm>
            <a:off x="3657600" y="4069080"/>
            <a:ext cx="731520" cy="457200"/>
          </a:xfrm>
          <a:prstGeom prst="rect">
            <a:avLst/>
          </a:prstGeom>
          <a:noFill/>
        </p:spPr>
        <p:txBody>
          <a:bodyPr wrap="square">
            <a:spAutoFit/>
          </a:bodyPr>
          <a:lstStyle/>
          <a:p>
            <a:pPr algn="ctr"/>
            <a:r>
              <a:rPr sz="800" b="0" i="0">
                <a:solidFill>
                  <a:srgbClr val="555555"/>
                </a:solidFill>
                <a:latin typeface="Segoe UI"/>
              </a:rPr>
              <a:t>DATA
STREAM</a:t>
            </a:r>
          </a:p>
        </p:txBody>
      </p:sp>
      <p:sp>
        <p:nvSpPr>
          <p:cNvPr id="36" name="Rectangle 35"/>
          <p:cNvSpPr/>
          <p:nvPr/>
        </p:nvSpPr>
        <p:spPr>
          <a:xfrm>
            <a:off x="4389120" y="1828800"/>
            <a:ext cx="3657600" cy="3840480"/>
          </a:xfrm>
          <a:prstGeom prst="rect">
            <a:avLst/>
          </a:prstGeom>
          <a:solidFill>
            <a:srgbClr val="000000"/>
          </a:solidFill>
          <a:ln w="254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0" y="1920240"/>
            <a:ext cx="3657600" cy="731520"/>
          </a:xfrm>
          <a:prstGeom prst="rect">
            <a:avLst/>
          </a:prstGeom>
          <a:noFill/>
        </p:spPr>
        <p:txBody>
          <a:bodyPr wrap="square">
            <a:spAutoFit/>
          </a:bodyPr>
          <a:lstStyle/>
          <a:p>
            <a:pPr algn="ctr"/>
            <a:r>
              <a:rPr sz="4000" b="0" i="0">
                <a:solidFill>
                  <a:srgbClr val="F0F0F0"/>
                </a:solidFill>
                <a:latin typeface="Segoe UI"/>
              </a:rPr>
              <a:t>🖤</a:t>
            </a:r>
          </a:p>
        </p:txBody>
      </p:sp>
      <p:sp>
        <p:nvSpPr>
          <p:cNvPr id="38" name="TextBox 37"/>
          <p:cNvSpPr txBox="1"/>
          <p:nvPr/>
        </p:nvSpPr>
        <p:spPr>
          <a:xfrm>
            <a:off x="4389120" y="2697480"/>
            <a:ext cx="3657600" cy="365760"/>
          </a:xfrm>
          <a:prstGeom prst="rect">
            <a:avLst/>
          </a:prstGeom>
          <a:noFill/>
        </p:spPr>
        <p:txBody>
          <a:bodyPr wrap="square">
            <a:spAutoFit/>
          </a:bodyPr>
          <a:lstStyle/>
          <a:p>
            <a:pPr algn="ctr"/>
            <a:r>
              <a:rPr sz="1300" b="1" i="0">
                <a:solidFill>
                  <a:srgbClr val="F0F0F0"/>
                </a:solidFill>
                <a:latin typeface="Segoe UI"/>
              </a:rPr>
              <a:t>GUARDIAN BOX</a:t>
            </a:r>
          </a:p>
        </p:txBody>
      </p:sp>
      <p:cxnSp>
        <p:nvCxnSpPr>
          <p:cNvPr id="39" name="Connector 38"/>
          <p:cNvCxnSpPr/>
          <p:nvPr/>
        </p:nvCxnSpPr>
        <p:spPr>
          <a:xfrm>
            <a:off x="365760" y="3154680"/>
            <a:ext cx="11457432" cy="0"/>
          </a:xfrm>
          <a:prstGeom prst="line">
            <a:avLst/>
          </a:prstGeom>
          <a:ln w="9525">
            <a:solidFill>
              <a:srgbClr val="0A84FF"/>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72000" y="3246120"/>
            <a:ext cx="3291840" cy="320040"/>
          </a:xfrm>
          <a:prstGeom prst="rect">
            <a:avLst/>
          </a:prstGeom>
          <a:noFill/>
        </p:spPr>
        <p:txBody>
          <a:bodyPr wrap="square">
            <a:spAutoFit/>
          </a:bodyPr>
          <a:lstStyle/>
          <a:p>
            <a:pPr algn="l"/>
            <a:r>
              <a:rPr sz="1000" b="0" i="0">
                <a:solidFill>
                  <a:srgbClr val="0A84FF"/>
                </a:solidFill>
                <a:latin typeface="Segoe UI"/>
              </a:rPr>
              <a:t>🧠  AI Analysis Core</a:t>
            </a:r>
          </a:p>
        </p:txBody>
      </p:sp>
      <p:sp>
        <p:nvSpPr>
          <p:cNvPr id="41" name="TextBox 40"/>
          <p:cNvSpPr txBox="1"/>
          <p:nvPr/>
        </p:nvSpPr>
        <p:spPr>
          <a:xfrm>
            <a:off x="4572000" y="3611880"/>
            <a:ext cx="3291840" cy="320040"/>
          </a:xfrm>
          <a:prstGeom prst="rect">
            <a:avLst/>
          </a:prstGeom>
          <a:noFill/>
        </p:spPr>
        <p:txBody>
          <a:bodyPr wrap="square">
            <a:spAutoFit/>
          </a:bodyPr>
          <a:lstStyle/>
          <a:p>
            <a:pPr algn="l"/>
            <a:r>
              <a:rPr sz="1000" b="0" i="0">
                <a:solidFill>
                  <a:srgbClr val="0A84FF"/>
                </a:solidFill>
                <a:latin typeface="Segoe UI"/>
              </a:rPr>
              <a:t>📖  Manufacturer Manual DB</a:t>
            </a:r>
          </a:p>
        </p:txBody>
      </p:sp>
      <p:sp>
        <p:nvSpPr>
          <p:cNvPr id="42" name="TextBox 41"/>
          <p:cNvSpPr txBox="1"/>
          <p:nvPr/>
        </p:nvSpPr>
        <p:spPr>
          <a:xfrm>
            <a:off x="4572000" y="3977639"/>
            <a:ext cx="3291840" cy="320040"/>
          </a:xfrm>
          <a:prstGeom prst="rect">
            <a:avLst/>
          </a:prstGeom>
          <a:noFill/>
        </p:spPr>
        <p:txBody>
          <a:bodyPr wrap="square">
            <a:spAutoFit/>
          </a:bodyPr>
          <a:lstStyle/>
          <a:p>
            <a:pPr algn="l"/>
            <a:r>
              <a:rPr sz="1000" b="0" i="0">
                <a:solidFill>
                  <a:srgbClr val="0A84FF"/>
                </a:solidFill>
                <a:latin typeface="Segoe UI"/>
              </a:rPr>
              <a:t>⚡  4M Root Cause Engine</a:t>
            </a:r>
          </a:p>
        </p:txBody>
      </p:sp>
      <p:sp>
        <p:nvSpPr>
          <p:cNvPr id="43" name="TextBox 42"/>
          <p:cNvSpPr txBox="1"/>
          <p:nvPr/>
        </p:nvSpPr>
        <p:spPr>
          <a:xfrm>
            <a:off x="4572000" y="4343400"/>
            <a:ext cx="3291840" cy="320040"/>
          </a:xfrm>
          <a:prstGeom prst="rect">
            <a:avLst/>
          </a:prstGeom>
          <a:noFill/>
        </p:spPr>
        <p:txBody>
          <a:bodyPr wrap="square">
            <a:spAutoFit/>
          </a:bodyPr>
          <a:lstStyle/>
          <a:p>
            <a:pPr algn="l"/>
            <a:r>
              <a:rPr sz="1000" b="0" i="0">
                <a:solidFill>
                  <a:srgbClr val="0A84FF"/>
                </a:solidFill>
                <a:latin typeface="Segoe UI"/>
              </a:rPr>
              <a:t>📋  Protocol Generator</a:t>
            </a:r>
          </a:p>
        </p:txBody>
      </p:sp>
      <p:sp>
        <p:nvSpPr>
          <p:cNvPr id="44" name="TextBox 43"/>
          <p:cNvSpPr txBox="1"/>
          <p:nvPr/>
        </p:nvSpPr>
        <p:spPr>
          <a:xfrm>
            <a:off x="4572000" y="4800600"/>
            <a:ext cx="3291840" cy="274320"/>
          </a:xfrm>
          <a:prstGeom prst="rect">
            <a:avLst/>
          </a:prstGeom>
          <a:noFill/>
        </p:spPr>
        <p:txBody>
          <a:bodyPr wrap="square">
            <a:spAutoFit/>
          </a:bodyPr>
          <a:lstStyle/>
          <a:p>
            <a:pPr algn="l"/>
            <a:r>
              <a:rPr sz="900" b="0" i="1">
                <a:solidFill>
                  <a:srgbClr val="555555"/>
                </a:solidFill>
                <a:latin typeface="Segoe UI"/>
              </a:rPr>
              <a:t>Updates every 30 seconds</a:t>
            </a:r>
          </a:p>
        </p:txBody>
      </p:sp>
      <p:sp>
        <p:nvSpPr>
          <p:cNvPr id="45" name="TextBox 44"/>
          <p:cNvSpPr txBox="1"/>
          <p:nvPr/>
        </p:nvSpPr>
        <p:spPr>
          <a:xfrm>
            <a:off x="8229600" y="3566160"/>
            <a:ext cx="457200" cy="457200"/>
          </a:xfrm>
          <a:prstGeom prst="rect">
            <a:avLst/>
          </a:prstGeom>
          <a:noFill/>
        </p:spPr>
        <p:txBody>
          <a:bodyPr wrap="square">
            <a:spAutoFit/>
          </a:bodyPr>
          <a:lstStyle/>
          <a:p>
            <a:pPr algn="l"/>
            <a:r>
              <a:rPr sz="2800" b="1" i="0">
                <a:solidFill>
                  <a:srgbClr val="30D158"/>
                </a:solidFill>
                <a:latin typeface="Segoe UI"/>
              </a:rPr>
              <a:t>►</a:t>
            </a:r>
          </a:p>
        </p:txBody>
      </p:sp>
      <p:sp>
        <p:nvSpPr>
          <p:cNvPr id="46" name="Rectangle 45"/>
          <p:cNvSpPr/>
          <p:nvPr/>
        </p:nvSpPr>
        <p:spPr>
          <a:xfrm>
            <a:off x="8778240" y="1371600"/>
            <a:ext cx="3017520" cy="2194560"/>
          </a:xfrm>
          <a:prstGeom prst="rect">
            <a:avLst/>
          </a:prstGeom>
          <a:solidFill>
            <a:srgbClr val="1A1A1A"/>
          </a:solidFill>
          <a:ln w="1905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61120" y="1508760"/>
            <a:ext cx="2651760" cy="320040"/>
          </a:xfrm>
          <a:prstGeom prst="rect">
            <a:avLst/>
          </a:prstGeom>
          <a:noFill/>
        </p:spPr>
        <p:txBody>
          <a:bodyPr wrap="square">
            <a:spAutoFit/>
          </a:bodyPr>
          <a:lstStyle/>
          <a:p>
            <a:pPr algn="l"/>
            <a:r>
              <a:rPr sz="1000" b="1" i="0">
                <a:solidFill>
                  <a:srgbClr val="30D158"/>
                </a:solidFill>
                <a:latin typeface="Segoe UI"/>
              </a:rPr>
              <a:t>📱  MOBILE ALERT</a:t>
            </a:r>
          </a:p>
        </p:txBody>
      </p:sp>
      <p:sp>
        <p:nvSpPr>
          <p:cNvPr id="48" name="TextBox 47"/>
          <p:cNvSpPr txBox="1"/>
          <p:nvPr/>
        </p:nvSpPr>
        <p:spPr>
          <a:xfrm>
            <a:off x="8961120" y="1920240"/>
            <a:ext cx="2651760" cy="685800"/>
          </a:xfrm>
          <a:prstGeom prst="rect">
            <a:avLst/>
          </a:prstGeom>
          <a:noFill/>
        </p:spPr>
        <p:txBody>
          <a:bodyPr wrap="square">
            <a:spAutoFit/>
          </a:bodyPr>
          <a:lstStyle/>
          <a:p>
            <a:pPr algn="l"/>
            <a:r>
              <a:rPr sz="900" b="0" i="0">
                <a:solidFill>
                  <a:srgbClr val="888888"/>
                </a:solidFill>
                <a:latin typeface="Segoe UI"/>
              </a:rPr>
              <a:t>Maintenance tech notified
within 2 minutes of anomaly
Full troubleshooting guide attached</a:t>
            </a:r>
          </a:p>
        </p:txBody>
      </p:sp>
      <p:sp>
        <p:nvSpPr>
          <p:cNvPr id="49" name="Rectangle 48"/>
          <p:cNvSpPr/>
          <p:nvPr/>
        </p:nvSpPr>
        <p:spPr>
          <a:xfrm>
            <a:off x="8778240" y="3749039"/>
            <a:ext cx="3017520" cy="2194560"/>
          </a:xfrm>
          <a:prstGeom prst="rect">
            <a:avLst/>
          </a:prstGeom>
          <a:solidFill>
            <a:srgbClr val="1A1A1A"/>
          </a:solidFill>
          <a:ln w="1905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1120" y="3886200"/>
            <a:ext cx="2651760" cy="320040"/>
          </a:xfrm>
          <a:prstGeom prst="rect">
            <a:avLst/>
          </a:prstGeom>
          <a:noFill/>
        </p:spPr>
        <p:txBody>
          <a:bodyPr wrap="square">
            <a:spAutoFit/>
          </a:bodyPr>
          <a:lstStyle/>
          <a:p>
            <a:pPr algn="l"/>
            <a:r>
              <a:rPr sz="1000" b="1" i="0">
                <a:solidFill>
                  <a:srgbClr val="0A84FF"/>
                </a:solidFill>
                <a:latin typeface="Segoe UI"/>
              </a:rPr>
              <a:t>🖥  FLOOR DASHBOARD</a:t>
            </a:r>
          </a:p>
        </p:txBody>
      </p:sp>
      <p:sp>
        <p:nvSpPr>
          <p:cNvPr id="51" name="TextBox 50"/>
          <p:cNvSpPr txBox="1"/>
          <p:nvPr/>
        </p:nvSpPr>
        <p:spPr>
          <a:xfrm>
            <a:off x="8961120" y="4297680"/>
            <a:ext cx="2651760" cy="822960"/>
          </a:xfrm>
          <a:prstGeom prst="rect">
            <a:avLst/>
          </a:prstGeom>
          <a:noFill/>
        </p:spPr>
        <p:txBody>
          <a:bodyPr wrap="square">
            <a:spAutoFit/>
          </a:bodyPr>
          <a:lstStyle/>
          <a:p>
            <a:pPr algn="l"/>
            <a:r>
              <a:rPr sz="900" b="0" i="0">
                <a:solidFill>
                  <a:srgbClr val="888888"/>
                </a:solidFill>
                <a:latin typeface="Segoe UI"/>
              </a:rPr>
              <a:t>Robot R-47 highlighted
Supervisor Maria notified
Parts inventory system
automatically flagged</a:t>
            </a:r>
          </a:p>
        </p:txBody>
      </p:sp>
      <p:sp>
        <p:nvSpPr>
          <p:cNvPr id="52" name="TextBox 51"/>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53" name="TextBox 52"/>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0D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30D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4800600" cy="292608"/>
          </a:xfrm>
          <a:prstGeom prst="rect">
            <a:avLst/>
          </a:prstGeom>
          <a:solidFill>
            <a:srgbClr val="0C3416"/>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4709160" cy="256032"/>
          </a:xfrm>
          <a:prstGeom prst="rect">
            <a:avLst/>
          </a:prstGeom>
          <a:noFill/>
        </p:spPr>
        <p:txBody>
          <a:bodyPr wrap="square">
            <a:spAutoFit/>
          </a:bodyPr>
          <a:lstStyle/>
          <a:p>
            <a:pPr algn="l"/>
            <a:r>
              <a:rPr sz="900" b="1" i="0">
                <a:solidFill>
                  <a:srgbClr val="30D158"/>
                </a:solidFill>
                <a:latin typeface="Segoe UI"/>
              </a:rPr>
              <a:t>ACT 3  —  THE SAME DAY  —  A DIFFERENT ENDING</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400" b="1" i="0">
                <a:solidFill>
                  <a:srgbClr val="F0F0F0"/>
                </a:solidFill>
                <a:latin typeface="Segoe UI"/>
              </a:rPr>
              <a:t>Tuesday, 6:47 AM — Take Two</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5486400" cy="4663440"/>
          </a:xfrm>
          <a:prstGeom prst="rect">
            <a:avLst/>
          </a:prstGeom>
          <a:solidFill>
            <a:srgbClr val="000000"/>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5486400" cy="347472"/>
          </a:xfrm>
          <a:prstGeom prst="rect">
            <a:avLst/>
          </a:prstGeom>
          <a:solidFill>
            <a:srgbClr val="001400"/>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35608"/>
            <a:ext cx="5212080" cy="256032"/>
          </a:xfrm>
          <a:prstGeom prst="rect">
            <a:avLst/>
          </a:prstGeom>
          <a:noFill/>
        </p:spPr>
        <p:txBody>
          <a:bodyPr wrap="square">
            <a:spAutoFit/>
          </a:bodyPr>
          <a:lstStyle/>
          <a:p>
            <a:pPr algn="l"/>
            <a:r>
              <a:rPr sz="900" b="0" i="0">
                <a:solidFill>
                  <a:srgbClr val="30D158"/>
                </a:solidFill>
                <a:latin typeface="Segoe UI"/>
              </a:rPr>
              <a:t>⬤  ⬤  ⬤    GUARDIAN BOX  —  ONLINE  ✅</a:t>
            </a:r>
          </a:p>
        </p:txBody>
      </p:sp>
      <p:sp>
        <p:nvSpPr>
          <p:cNvPr id="11" name="TextBox 10"/>
          <p:cNvSpPr txBox="1"/>
          <p:nvPr/>
        </p:nvSpPr>
        <p:spPr>
          <a:xfrm>
            <a:off x="548640" y="1874519"/>
            <a:ext cx="5029200" cy="274320"/>
          </a:xfrm>
          <a:prstGeom prst="rect">
            <a:avLst/>
          </a:prstGeom>
          <a:noFill/>
        </p:spPr>
        <p:txBody>
          <a:bodyPr wrap="square">
            <a:spAutoFit/>
          </a:bodyPr>
          <a:lstStyle/>
          <a:p>
            <a:pPr algn="l"/>
            <a:r>
              <a:rPr sz="1000" b="0" i="0">
                <a:solidFill>
                  <a:srgbClr val="30D158"/>
                </a:solidFill>
                <a:latin typeface="Segoe UI"/>
              </a:rPr>
              <a:t>✅  Connecting to 12 sensors...</a:t>
            </a:r>
          </a:p>
        </p:txBody>
      </p:sp>
      <p:sp>
        <p:nvSpPr>
          <p:cNvPr id="12" name="TextBox 11"/>
          <p:cNvSpPr txBox="1"/>
          <p:nvPr/>
        </p:nvSpPr>
        <p:spPr>
          <a:xfrm>
            <a:off x="548640" y="2221991"/>
            <a:ext cx="5029200" cy="274320"/>
          </a:xfrm>
          <a:prstGeom prst="rect">
            <a:avLst/>
          </a:prstGeom>
          <a:noFill/>
        </p:spPr>
        <p:txBody>
          <a:bodyPr wrap="square">
            <a:spAutoFit/>
          </a:bodyPr>
          <a:lstStyle/>
          <a:p>
            <a:pPr algn="l"/>
            <a:r>
              <a:rPr sz="1000" b="0" i="0">
                <a:solidFill>
                  <a:srgbClr val="30D158"/>
                </a:solidFill>
                <a:latin typeface="Segoe UI"/>
              </a:rPr>
              <a:t>✅  Loading R-47 manufacturer manual...</a:t>
            </a:r>
          </a:p>
        </p:txBody>
      </p:sp>
      <p:sp>
        <p:nvSpPr>
          <p:cNvPr id="13" name="TextBox 12"/>
          <p:cNvSpPr txBox="1"/>
          <p:nvPr/>
        </p:nvSpPr>
        <p:spPr>
          <a:xfrm>
            <a:off x="548640" y="2569463"/>
            <a:ext cx="5029200" cy="274320"/>
          </a:xfrm>
          <a:prstGeom prst="rect">
            <a:avLst/>
          </a:prstGeom>
          <a:noFill/>
        </p:spPr>
        <p:txBody>
          <a:bodyPr wrap="square">
            <a:spAutoFit/>
          </a:bodyPr>
          <a:lstStyle/>
          <a:p>
            <a:pPr algn="l"/>
            <a:r>
              <a:rPr sz="1000" b="0" i="0">
                <a:solidFill>
                  <a:srgbClr val="30D158"/>
                </a:solidFill>
                <a:latin typeface="Segoe UI"/>
              </a:rPr>
              <a:t>✅  Establishing baseline readings...</a:t>
            </a:r>
          </a:p>
        </p:txBody>
      </p:sp>
      <p:sp>
        <p:nvSpPr>
          <p:cNvPr id="14" name="TextBox 13"/>
          <p:cNvSpPr txBox="1"/>
          <p:nvPr/>
        </p:nvSpPr>
        <p:spPr>
          <a:xfrm>
            <a:off x="548640" y="2916936"/>
            <a:ext cx="5029200" cy="274320"/>
          </a:xfrm>
          <a:prstGeom prst="rect">
            <a:avLst/>
          </a:prstGeom>
          <a:noFill/>
        </p:spPr>
        <p:txBody>
          <a:bodyPr wrap="square">
            <a:spAutoFit/>
          </a:bodyPr>
          <a:lstStyle/>
          <a:p>
            <a:pPr algn="l"/>
            <a:r>
              <a:rPr sz="1000" b="0" i="0">
                <a:solidFill>
                  <a:srgbClr val="30D158"/>
                </a:solidFill>
                <a:latin typeface="Segoe UI"/>
              </a:rPr>
              <a:t>✅  Beginning real-time monitoring...</a:t>
            </a:r>
          </a:p>
        </p:txBody>
      </p:sp>
      <p:cxnSp>
        <p:nvCxnSpPr>
          <p:cNvPr id="15" name="Connector 14"/>
          <p:cNvCxnSpPr/>
          <p:nvPr/>
        </p:nvCxnSpPr>
        <p:spPr>
          <a:xfrm>
            <a:off x="365760" y="3337560"/>
            <a:ext cx="11457432" cy="0"/>
          </a:xfrm>
          <a:prstGeom prst="line">
            <a:avLst/>
          </a:prstGeom>
          <a:ln w="9525">
            <a:solidFill>
              <a:srgbClr val="30D15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3429000"/>
            <a:ext cx="1097280" cy="274320"/>
          </a:xfrm>
          <a:prstGeom prst="rect">
            <a:avLst/>
          </a:prstGeom>
          <a:noFill/>
        </p:spPr>
        <p:txBody>
          <a:bodyPr wrap="square">
            <a:spAutoFit/>
          </a:bodyPr>
          <a:lstStyle/>
          <a:p>
            <a:pPr algn="l"/>
            <a:r>
              <a:rPr sz="1000" b="0" i="0">
                <a:solidFill>
                  <a:srgbClr val="888888"/>
                </a:solidFill>
                <a:latin typeface="Segoe UI"/>
              </a:rPr>
              <a:t>GEAR 1:</a:t>
            </a:r>
          </a:p>
        </p:txBody>
      </p:sp>
      <p:sp>
        <p:nvSpPr>
          <p:cNvPr id="17" name="TextBox 16"/>
          <p:cNvSpPr txBox="1"/>
          <p:nvPr/>
        </p:nvSpPr>
        <p:spPr>
          <a:xfrm>
            <a:off x="1737360" y="3429000"/>
            <a:ext cx="1188720" cy="274320"/>
          </a:xfrm>
          <a:prstGeom prst="rect">
            <a:avLst/>
          </a:prstGeom>
          <a:noFill/>
        </p:spPr>
        <p:txBody>
          <a:bodyPr wrap="square">
            <a:spAutoFit/>
          </a:bodyPr>
          <a:lstStyle/>
          <a:p>
            <a:pPr algn="l"/>
            <a:r>
              <a:rPr sz="1000" b="1" i="0">
                <a:solidFill>
                  <a:srgbClr val="30D158"/>
                </a:solidFill>
                <a:latin typeface="Segoe UI"/>
              </a:rPr>
              <a:t>118°F</a:t>
            </a:r>
          </a:p>
        </p:txBody>
      </p:sp>
      <p:sp>
        <p:nvSpPr>
          <p:cNvPr id="18" name="TextBox 17"/>
          <p:cNvSpPr txBox="1"/>
          <p:nvPr/>
        </p:nvSpPr>
        <p:spPr>
          <a:xfrm>
            <a:off x="3017520" y="3429000"/>
            <a:ext cx="2560320" cy="274320"/>
          </a:xfrm>
          <a:prstGeom prst="rect">
            <a:avLst/>
          </a:prstGeom>
          <a:noFill/>
        </p:spPr>
        <p:txBody>
          <a:bodyPr wrap="square">
            <a:spAutoFit/>
          </a:bodyPr>
          <a:lstStyle/>
          <a:p>
            <a:pPr algn="l"/>
            <a:r>
              <a:rPr sz="1000" b="0" i="0">
                <a:solidFill>
                  <a:srgbClr val="30D158"/>
                </a:solidFill>
                <a:latin typeface="Segoe UI"/>
              </a:rPr>
              <a:t>✅ Normal</a:t>
            </a:r>
          </a:p>
        </p:txBody>
      </p:sp>
      <p:sp>
        <p:nvSpPr>
          <p:cNvPr id="19" name="TextBox 18"/>
          <p:cNvSpPr txBox="1"/>
          <p:nvPr/>
        </p:nvSpPr>
        <p:spPr>
          <a:xfrm>
            <a:off x="548640" y="3840480"/>
            <a:ext cx="1097280" cy="274320"/>
          </a:xfrm>
          <a:prstGeom prst="rect">
            <a:avLst/>
          </a:prstGeom>
          <a:noFill/>
        </p:spPr>
        <p:txBody>
          <a:bodyPr wrap="square">
            <a:spAutoFit/>
          </a:bodyPr>
          <a:lstStyle/>
          <a:p>
            <a:pPr algn="l"/>
            <a:r>
              <a:rPr sz="1000" b="0" i="0">
                <a:solidFill>
                  <a:srgbClr val="888888"/>
                </a:solidFill>
                <a:latin typeface="Segoe UI"/>
              </a:rPr>
              <a:t>GEAR 2:</a:t>
            </a:r>
          </a:p>
        </p:txBody>
      </p:sp>
      <p:sp>
        <p:nvSpPr>
          <p:cNvPr id="20" name="TextBox 19"/>
          <p:cNvSpPr txBox="1"/>
          <p:nvPr/>
        </p:nvSpPr>
        <p:spPr>
          <a:xfrm>
            <a:off x="1737360" y="3840480"/>
            <a:ext cx="1188720" cy="274320"/>
          </a:xfrm>
          <a:prstGeom prst="rect">
            <a:avLst/>
          </a:prstGeom>
          <a:noFill/>
        </p:spPr>
        <p:txBody>
          <a:bodyPr wrap="square">
            <a:spAutoFit/>
          </a:bodyPr>
          <a:lstStyle/>
          <a:p>
            <a:pPr algn="l"/>
            <a:r>
              <a:rPr sz="1000" b="1" i="0">
                <a:solidFill>
                  <a:srgbClr val="30D158"/>
                </a:solidFill>
                <a:latin typeface="Segoe UI"/>
              </a:rPr>
              <a:t>121°F</a:t>
            </a:r>
          </a:p>
        </p:txBody>
      </p:sp>
      <p:sp>
        <p:nvSpPr>
          <p:cNvPr id="21" name="TextBox 20"/>
          <p:cNvSpPr txBox="1"/>
          <p:nvPr/>
        </p:nvSpPr>
        <p:spPr>
          <a:xfrm>
            <a:off x="3017520" y="3840480"/>
            <a:ext cx="2560320" cy="274320"/>
          </a:xfrm>
          <a:prstGeom prst="rect">
            <a:avLst/>
          </a:prstGeom>
          <a:noFill/>
        </p:spPr>
        <p:txBody>
          <a:bodyPr wrap="square">
            <a:spAutoFit/>
          </a:bodyPr>
          <a:lstStyle/>
          <a:p>
            <a:pPr algn="l"/>
            <a:r>
              <a:rPr sz="1000" b="0" i="0">
                <a:solidFill>
                  <a:srgbClr val="30D158"/>
                </a:solidFill>
                <a:latin typeface="Segoe UI"/>
              </a:rPr>
              <a:t>✅ Normal</a:t>
            </a:r>
          </a:p>
        </p:txBody>
      </p:sp>
      <p:sp>
        <p:nvSpPr>
          <p:cNvPr id="22" name="TextBox 21"/>
          <p:cNvSpPr txBox="1"/>
          <p:nvPr/>
        </p:nvSpPr>
        <p:spPr>
          <a:xfrm>
            <a:off x="548640" y="4251960"/>
            <a:ext cx="1097280" cy="274320"/>
          </a:xfrm>
          <a:prstGeom prst="rect">
            <a:avLst/>
          </a:prstGeom>
          <a:noFill/>
        </p:spPr>
        <p:txBody>
          <a:bodyPr wrap="square">
            <a:spAutoFit/>
          </a:bodyPr>
          <a:lstStyle/>
          <a:p>
            <a:pPr algn="l"/>
            <a:r>
              <a:rPr sz="1000" b="0" i="0">
                <a:solidFill>
                  <a:srgbClr val="888888"/>
                </a:solidFill>
                <a:latin typeface="Segoe UI"/>
              </a:rPr>
              <a:t>GEAR 3:</a:t>
            </a:r>
          </a:p>
        </p:txBody>
      </p:sp>
      <p:sp>
        <p:nvSpPr>
          <p:cNvPr id="23" name="TextBox 22"/>
          <p:cNvSpPr txBox="1"/>
          <p:nvPr/>
        </p:nvSpPr>
        <p:spPr>
          <a:xfrm>
            <a:off x="1737360" y="4251960"/>
            <a:ext cx="1188720" cy="274320"/>
          </a:xfrm>
          <a:prstGeom prst="rect">
            <a:avLst/>
          </a:prstGeom>
          <a:noFill/>
        </p:spPr>
        <p:txBody>
          <a:bodyPr wrap="square">
            <a:spAutoFit/>
          </a:bodyPr>
          <a:lstStyle/>
          <a:p>
            <a:pPr algn="l"/>
            <a:r>
              <a:rPr sz="1000" b="1" i="0">
                <a:solidFill>
                  <a:srgbClr val="FF9F0A"/>
                </a:solidFill>
                <a:latin typeface="Segoe UI"/>
              </a:rPr>
              <a:t>142°F</a:t>
            </a:r>
          </a:p>
        </p:txBody>
      </p:sp>
      <p:sp>
        <p:nvSpPr>
          <p:cNvPr id="24" name="TextBox 23"/>
          <p:cNvSpPr txBox="1"/>
          <p:nvPr/>
        </p:nvSpPr>
        <p:spPr>
          <a:xfrm>
            <a:off x="3017520" y="4251960"/>
            <a:ext cx="2560320" cy="274320"/>
          </a:xfrm>
          <a:prstGeom prst="rect">
            <a:avLst/>
          </a:prstGeom>
          <a:noFill/>
        </p:spPr>
        <p:txBody>
          <a:bodyPr wrap="square">
            <a:spAutoFit/>
          </a:bodyPr>
          <a:lstStyle/>
          <a:p>
            <a:pPr algn="l"/>
            <a:r>
              <a:rPr sz="1000" b="1" i="0">
                <a:solidFill>
                  <a:srgbClr val="FF9F0A"/>
                </a:solidFill>
                <a:latin typeface="Segoe UI"/>
              </a:rPr>
              <a:t>⚠ ELEVATED — CAUGHT</a:t>
            </a:r>
          </a:p>
        </p:txBody>
      </p:sp>
      <p:sp>
        <p:nvSpPr>
          <p:cNvPr id="25" name="TextBox 24"/>
          <p:cNvSpPr txBox="1"/>
          <p:nvPr/>
        </p:nvSpPr>
        <p:spPr>
          <a:xfrm>
            <a:off x="548640" y="4663440"/>
            <a:ext cx="1097280" cy="274320"/>
          </a:xfrm>
          <a:prstGeom prst="rect">
            <a:avLst/>
          </a:prstGeom>
          <a:noFill/>
        </p:spPr>
        <p:txBody>
          <a:bodyPr wrap="square">
            <a:spAutoFit/>
          </a:bodyPr>
          <a:lstStyle/>
          <a:p>
            <a:pPr algn="l"/>
            <a:r>
              <a:rPr sz="1000" b="0" i="0">
                <a:solidFill>
                  <a:srgbClr val="888888"/>
                </a:solidFill>
                <a:latin typeface="Segoe UI"/>
              </a:rPr>
              <a:t>GEAR 4:</a:t>
            </a:r>
          </a:p>
        </p:txBody>
      </p:sp>
      <p:sp>
        <p:nvSpPr>
          <p:cNvPr id="26" name="TextBox 25"/>
          <p:cNvSpPr txBox="1"/>
          <p:nvPr/>
        </p:nvSpPr>
        <p:spPr>
          <a:xfrm>
            <a:off x="1737360" y="4663440"/>
            <a:ext cx="1188720" cy="274320"/>
          </a:xfrm>
          <a:prstGeom prst="rect">
            <a:avLst/>
          </a:prstGeom>
          <a:noFill/>
        </p:spPr>
        <p:txBody>
          <a:bodyPr wrap="square">
            <a:spAutoFit/>
          </a:bodyPr>
          <a:lstStyle/>
          <a:p>
            <a:pPr algn="l"/>
            <a:r>
              <a:rPr sz="1000" b="1" i="0">
                <a:solidFill>
                  <a:srgbClr val="30D158"/>
                </a:solidFill>
                <a:latin typeface="Segoe UI"/>
              </a:rPr>
              <a:t>125°F</a:t>
            </a:r>
          </a:p>
        </p:txBody>
      </p:sp>
      <p:sp>
        <p:nvSpPr>
          <p:cNvPr id="27" name="TextBox 26"/>
          <p:cNvSpPr txBox="1"/>
          <p:nvPr/>
        </p:nvSpPr>
        <p:spPr>
          <a:xfrm>
            <a:off x="3017520" y="4663440"/>
            <a:ext cx="2560320" cy="274320"/>
          </a:xfrm>
          <a:prstGeom prst="rect">
            <a:avLst/>
          </a:prstGeom>
          <a:noFill/>
        </p:spPr>
        <p:txBody>
          <a:bodyPr wrap="square">
            <a:spAutoFit/>
          </a:bodyPr>
          <a:lstStyle/>
          <a:p>
            <a:pPr algn="l"/>
            <a:r>
              <a:rPr sz="1000" b="0" i="0">
                <a:solidFill>
                  <a:srgbClr val="30D158"/>
                </a:solidFill>
                <a:latin typeface="Segoe UI"/>
              </a:rPr>
              <a:t>✅ Normal</a:t>
            </a:r>
          </a:p>
        </p:txBody>
      </p:sp>
      <p:sp>
        <p:nvSpPr>
          <p:cNvPr id="28" name="TextBox 27"/>
          <p:cNvSpPr txBox="1"/>
          <p:nvPr/>
        </p:nvSpPr>
        <p:spPr>
          <a:xfrm>
            <a:off x="548640" y="5074920"/>
            <a:ext cx="1097280" cy="274320"/>
          </a:xfrm>
          <a:prstGeom prst="rect">
            <a:avLst/>
          </a:prstGeom>
          <a:noFill/>
        </p:spPr>
        <p:txBody>
          <a:bodyPr wrap="square">
            <a:spAutoFit/>
          </a:bodyPr>
          <a:lstStyle/>
          <a:p>
            <a:pPr algn="l"/>
            <a:r>
              <a:rPr sz="1000" b="0" i="0">
                <a:solidFill>
                  <a:srgbClr val="888888"/>
                </a:solidFill>
                <a:latin typeface="Segoe UI"/>
              </a:rPr>
              <a:t>GEAR 5:</a:t>
            </a:r>
          </a:p>
        </p:txBody>
      </p:sp>
      <p:sp>
        <p:nvSpPr>
          <p:cNvPr id="29" name="TextBox 28"/>
          <p:cNvSpPr txBox="1"/>
          <p:nvPr/>
        </p:nvSpPr>
        <p:spPr>
          <a:xfrm>
            <a:off x="1737360" y="5074920"/>
            <a:ext cx="1188720" cy="274320"/>
          </a:xfrm>
          <a:prstGeom prst="rect">
            <a:avLst/>
          </a:prstGeom>
          <a:noFill/>
        </p:spPr>
        <p:txBody>
          <a:bodyPr wrap="square">
            <a:spAutoFit/>
          </a:bodyPr>
          <a:lstStyle/>
          <a:p>
            <a:pPr algn="l"/>
            <a:r>
              <a:rPr sz="1000" b="1" i="0">
                <a:solidFill>
                  <a:srgbClr val="30D158"/>
                </a:solidFill>
                <a:latin typeface="Segoe UI"/>
              </a:rPr>
              <a:t>128°F</a:t>
            </a:r>
          </a:p>
        </p:txBody>
      </p:sp>
      <p:sp>
        <p:nvSpPr>
          <p:cNvPr id="30" name="TextBox 29"/>
          <p:cNvSpPr txBox="1"/>
          <p:nvPr/>
        </p:nvSpPr>
        <p:spPr>
          <a:xfrm>
            <a:off x="3017520" y="5074920"/>
            <a:ext cx="2560320" cy="274320"/>
          </a:xfrm>
          <a:prstGeom prst="rect">
            <a:avLst/>
          </a:prstGeom>
          <a:noFill/>
        </p:spPr>
        <p:txBody>
          <a:bodyPr wrap="square">
            <a:spAutoFit/>
          </a:bodyPr>
          <a:lstStyle/>
          <a:p>
            <a:pPr algn="l"/>
            <a:r>
              <a:rPr sz="1000" b="0" i="0">
                <a:solidFill>
                  <a:srgbClr val="30D158"/>
                </a:solidFill>
                <a:latin typeface="Segoe UI"/>
              </a:rPr>
              <a:t>✅ Normal</a:t>
            </a:r>
          </a:p>
        </p:txBody>
      </p:sp>
      <p:sp>
        <p:nvSpPr>
          <p:cNvPr id="31" name="TextBox 30"/>
          <p:cNvSpPr txBox="1"/>
          <p:nvPr/>
        </p:nvSpPr>
        <p:spPr>
          <a:xfrm>
            <a:off x="548640" y="5486400"/>
            <a:ext cx="1097280" cy="274320"/>
          </a:xfrm>
          <a:prstGeom prst="rect">
            <a:avLst/>
          </a:prstGeom>
          <a:noFill/>
        </p:spPr>
        <p:txBody>
          <a:bodyPr wrap="square">
            <a:spAutoFit/>
          </a:bodyPr>
          <a:lstStyle/>
          <a:p>
            <a:pPr algn="l"/>
            <a:r>
              <a:rPr sz="1000" b="0" i="0">
                <a:solidFill>
                  <a:srgbClr val="888888"/>
                </a:solidFill>
                <a:latin typeface="Segoe UI"/>
              </a:rPr>
              <a:t>VIBRATION:</a:t>
            </a:r>
          </a:p>
        </p:txBody>
      </p:sp>
      <p:sp>
        <p:nvSpPr>
          <p:cNvPr id="32" name="TextBox 31"/>
          <p:cNvSpPr txBox="1"/>
          <p:nvPr/>
        </p:nvSpPr>
        <p:spPr>
          <a:xfrm>
            <a:off x="1737360" y="5486400"/>
            <a:ext cx="1188720" cy="274320"/>
          </a:xfrm>
          <a:prstGeom prst="rect">
            <a:avLst/>
          </a:prstGeom>
          <a:noFill/>
        </p:spPr>
        <p:txBody>
          <a:bodyPr wrap="square">
            <a:spAutoFit/>
          </a:bodyPr>
          <a:lstStyle/>
          <a:p>
            <a:pPr algn="l"/>
            <a:r>
              <a:rPr sz="1000" b="1" i="0">
                <a:solidFill>
                  <a:srgbClr val="FF9F0A"/>
                </a:solidFill>
                <a:latin typeface="Segoe UI"/>
              </a:rPr>
              <a:t>4.2 mm/s</a:t>
            </a:r>
          </a:p>
        </p:txBody>
      </p:sp>
      <p:sp>
        <p:nvSpPr>
          <p:cNvPr id="33" name="TextBox 32"/>
          <p:cNvSpPr txBox="1"/>
          <p:nvPr/>
        </p:nvSpPr>
        <p:spPr>
          <a:xfrm>
            <a:off x="3017520" y="5486400"/>
            <a:ext cx="2560320" cy="274320"/>
          </a:xfrm>
          <a:prstGeom prst="rect">
            <a:avLst/>
          </a:prstGeom>
          <a:noFill/>
        </p:spPr>
        <p:txBody>
          <a:bodyPr wrap="square">
            <a:spAutoFit/>
          </a:bodyPr>
          <a:lstStyle/>
          <a:p>
            <a:pPr algn="l"/>
            <a:r>
              <a:rPr sz="1000" b="1" i="0">
                <a:solidFill>
                  <a:srgbClr val="FF9F0A"/>
                </a:solidFill>
                <a:latin typeface="Segoe UI"/>
              </a:rPr>
              <a:t>⚠ ELEVATED — CAUGHT</a:t>
            </a:r>
          </a:p>
        </p:txBody>
      </p:sp>
      <p:sp>
        <p:nvSpPr>
          <p:cNvPr id="34" name="Rectangle 33"/>
          <p:cNvSpPr/>
          <p:nvPr/>
        </p:nvSpPr>
        <p:spPr>
          <a:xfrm>
            <a:off x="6217920" y="1371600"/>
            <a:ext cx="5577840" cy="4663440"/>
          </a:xfrm>
          <a:prstGeom prst="rect">
            <a:avLst/>
          </a:prstGeom>
          <a:solidFill>
            <a:srgbClr val="1A1A1A"/>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1508760"/>
            <a:ext cx="5120640" cy="320040"/>
          </a:xfrm>
          <a:prstGeom prst="rect">
            <a:avLst/>
          </a:prstGeom>
          <a:noFill/>
        </p:spPr>
        <p:txBody>
          <a:bodyPr wrap="square">
            <a:spAutoFit/>
          </a:bodyPr>
          <a:lstStyle/>
          <a:p>
            <a:pPr algn="l"/>
            <a:r>
              <a:rPr sz="1000" b="1" i="0">
                <a:solidFill>
                  <a:srgbClr val="FF9F0A"/>
                </a:solidFill>
                <a:latin typeface="Segoe UI"/>
              </a:rPr>
              <a:t>🧠  GUARDIAN BOX ANALYSIS — T+02:00</a:t>
            </a:r>
          </a:p>
        </p:txBody>
      </p:sp>
      <p:sp>
        <p:nvSpPr>
          <p:cNvPr id="36" name="TextBox 35"/>
          <p:cNvSpPr txBox="1"/>
          <p:nvPr/>
        </p:nvSpPr>
        <p:spPr>
          <a:xfrm>
            <a:off x="6446520" y="1920240"/>
            <a:ext cx="2560320" cy="274320"/>
          </a:xfrm>
          <a:prstGeom prst="rect">
            <a:avLst/>
          </a:prstGeom>
          <a:noFill/>
        </p:spPr>
        <p:txBody>
          <a:bodyPr wrap="square">
            <a:spAutoFit/>
          </a:bodyPr>
          <a:lstStyle/>
          <a:p>
            <a:pPr algn="l"/>
            <a:r>
              <a:rPr sz="900" b="0" i="0">
                <a:solidFill>
                  <a:srgbClr val="555555"/>
                </a:solidFill>
                <a:latin typeface="Segoe UI"/>
              </a:rPr>
              <a:t>Pattern detected:</a:t>
            </a:r>
          </a:p>
        </p:txBody>
      </p:sp>
      <p:sp>
        <p:nvSpPr>
          <p:cNvPr id="37" name="TextBox 36"/>
          <p:cNvSpPr txBox="1"/>
          <p:nvPr/>
        </p:nvSpPr>
        <p:spPr>
          <a:xfrm>
            <a:off x="6446520" y="2157984"/>
            <a:ext cx="5120640" cy="256032"/>
          </a:xfrm>
          <a:prstGeom prst="rect">
            <a:avLst/>
          </a:prstGeom>
          <a:noFill/>
        </p:spPr>
        <p:txBody>
          <a:bodyPr wrap="square">
            <a:spAutoFit/>
          </a:bodyPr>
          <a:lstStyle/>
          <a:p>
            <a:pPr algn="l"/>
            <a:r>
              <a:rPr sz="1000" b="1" i="0">
                <a:solidFill>
                  <a:srgbClr val="FF9F0A"/>
                </a:solidFill>
                <a:latin typeface="Segoe UI"/>
              </a:rPr>
              <a:t>Lubrication failure (94.3% confidence)</a:t>
            </a:r>
          </a:p>
        </p:txBody>
      </p:sp>
      <p:sp>
        <p:nvSpPr>
          <p:cNvPr id="38" name="TextBox 37"/>
          <p:cNvSpPr txBox="1"/>
          <p:nvPr/>
        </p:nvSpPr>
        <p:spPr>
          <a:xfrm>
            <a:off x="6446520" y="2432304"/>
            <a:ext cx="2560320" cy="274320"/>
          </a:xfrm>
          <a:prstGeom prst="rect">
            <a:avLst/>
          </a:prstGeom>
          <a:noFill/>
        </p:spPr>
        <p:txBody>
          <a:bodyPr wrap="square">
            <a:spAutoFit/>
          </a:bodyPr>
          <a:lstStyle/>
          <a:p>
            <a:pPr algn="l"/>
            <a:r>
              <a:rPr sz="900" b="0" i="0">
                <a:solidFill>
                  <a:srgbClr val="555555"/>
                </a:solidFill>
                <a:latin typeface="Segoe UI"/>
              </a:rPr>
              <a:t>Secondary risk:</a:t>
            </a:r>
          </a:p>
        </p:txBody>
      </p:sp>
      <p:sp>
        <p:nvSpPr>
          <p:cNvPr id="39" name="TextBox 38"/>
          <p:cNvSpPr txBox="1"/>
          <p:nvPr/>
        </p:nvSpPr>
        <p:spPr>
          <a:xfrm>
            <a:off x="6446520" y="2670048"/>
            <a:ext cx="5120640" cy="256032"/>
          </a:xfrm>
          <a:prstGeom prst="rect">
            <a:avLst/>
          </a:prstGeom>
          <a:noFill/>
        </p:spPr>
        <p:txBody>
          <a:bodyPr wrap="square">
            <a:spAutoFit/>
          </a:bodyPr>
          <a:lstStyle/>
          <a:p>
            <a:pPr algn="l"/>
            <a:r>
              <a:rPr sz="1000" b="1" i="0">
                <a:solidFill>
                  <a:srgbClr val="FF9F0A"/>
                </a:solidFill>
                <a:latin typeface="Segoe UI"/>
              </a:rPr>
              <a:t>Bearing stress (67.8% confidence)</a:t>
            </a:r>
          </a:p>
        </p:txBody>
      </p:sp>
      <p:sp>
        <p:nvSpPr>
          <p:cNvPr id="40" name="TextBox 39"/>
          <p:cNvSpPr txBox="1"/>
          <p:nvPr/>
        </p:nvSpPr>
        <p:spPr>
          <a:xfrm>
            <a:off x="6446520" y="2944368"/>
            <a:ext cx="2560320" cy="274320"/>
          </a:xfrm>
          <a:prstGeom prst="rect">
            <a:avLst/>
          </a:prstGeom>
          <a:noFill/>
        </p:spPr>
        <p:txBody>
          <a:bodyPr wrap="square">
            <a:spAutoFit/>
          </a:bodyPr>
          <a:lstStyle/>
          <a:p>
            <a:pPr algn="l"/>
            <a:r>
              <a:rPr sz="900" b="0" i="0">
                <a:solidFill>
                  <a:srgbClr val="555555"/>
                </a:solidFill>
                <a:latin typeface="Segoe UI"/>
              </a:rPr>
              <a:t>ROOT CAUSE — HUMAN:</a:t>
            </a:r>
          </a:p>
        </p:txBody>
      </p:sp>
      <p:sp>
        <p:nvSpPr>
          <p:cNvPr id="41" name="TextBox 40"/>
          <p:cNvSpPr txBox="1"/>
          <p:nvPr/>
        </p:nvSpPr>
        <p:spPr>
          <a:xfrm>
            <a:off x="6446520" y="3182112"/>
            <a:ext cx="5120640" cy="256032"/>
          </a:xfrm>
          <a:prstGeom prst="rect">
            <a:avLst/>
          </a:prstGeom>
          <a:noFill/>
        </p:spPr>
        <p:txBody>
          <a:bodyPr wrap="square">
            <a:spAutoFit/>
          </a:bodyPr>
          <a:lstStyle/>
          <a:p>
            <a:pPr algn="l"/>
            <a:r>
              <a:rPr sz="1000" b="1" i="0">
                <a:solidFill>
                  <a:srgbClr val="FF3B30"/>
                </a:solidFill>
                <a:latin typeface="Segoe UI"/>
              </a:rPr>
              <a:t>Shift handoff gap detected</a:t>
            </a:r>
          </a:p>
        </p:txBody>
      </p:sp>
      <p:sp>
        <p:nvSpPr>
          <p:cNvPr id="42" name="TextBox 41"/>
          <p:cNvSpPr txBox="1"/>
          <p:nvPr/>
        </p:nvSpPr>
        <p:spPr>
          <a:xfrm>
            <a:off x="6446520" y="3456432"/>
            <a:ext cx="2560320" cy="274320"/>
          </a:xfrm>
          <a:prstGeom prst="rect">
            <a:avLst/>
          </a:prstGeom>
          <a:noFill/>
        </p:spPr>
        <p:txBody>
          <a:bodyPr wrap="square">
            <a:spAutoFit/>
          </a:bodyPr>
          <a:lstStyle/>
          <a:p>
            <a:pPr algn="l"/>
            <a:r>
              <a:rPr sz="900" b="0" i="0">
                <a:solidFill>
                  <a:srgbClr val="555555"/>
                </a:solidFill>
                <a:latin typeface="Segoe UI"/>
              </a:rPr>
              <a:t>ROOT CAUSE — MATERIAL:</a:t>
            </a:r>
          </a:p>
        </p:txBody>
      </p:sp>
      <p:sp>
        <p:nvSpPr>
          <p:cNvPr id="43" name="TextBox 42"/>
          <p:cNvSpPr txBox="1"/>
          <p:nvPr/>
        </p:nvSpPr>
        <p:spPr>
          <a:xfrm>
            <a:off x="6446520" y="3694176"/>
            <a:ext cx="5120640" cy="256032"/>
          </a:xfrm>
          <a:prstGeom prst="rect">
            <a:avLst/>
          </a:prstGeom>
          <a:noFill/>
        </p:spPr>
        <p:txBody>
          <a:bodyPr wrap="square">
            <a:spAutoFit/>
          </a:bodyPr>
          <a:lstStyle/>
          <a:p>
            <a:pPr algn="l"/>
            <a:r>
              <a:rPr sz="1000" b="1" i="0">
                <a:solidFill>
                  <a:srgbClr val="FF3B30"/>
                </a:solidFill>
                <a:latin typeface="Segoe UI"/>
              </a:rPr>
              <a:t>Lubricant overdue ~340 hours</a:t>
            </a:r>
          </a:p>
        </p:txBody>
      </p:sp>
      <p:sp>
        <p:nvSpPr>
          <p:cNvPr id="44" name="TextBox 43"/>
          <p:cNvSpPr txBox="1"/>
          <p:nvPr/>
        </p:nvSpPr>
        <p:spPr>
          <a:xfrm>
            <a:off x="6446520" y="3968496"/>
            <a:ext cx="2560320" cy="274320"/>
          </a:xfrm>
          <a:prstGeom prst="rect">
            <a:avLst/>
          </a:prstGeom>
          <a:noFill/>
        </p:spPr>
        <p:txBody>
          <a:bodyPr wrap="square">
            <a:spAutoFit/>
          </a:bodyPr>
          <a:lstStyle/>
          <a:p>
            <a:pPr algn="l"/>
            <a:r>
              <a:rPr sz="900" b="0" i="0">
                <a:solidFill>
                  <a:srgbClr val="555555"/>
                </a:solidFill>
                <a:latin typeface="Segoe UI"/>
              </a:rPr>
              <a:t>ROOT CAUSE — METHODS:</a:t>
            </a:r>
          </a:p>
        </p:txBody>
      </p:sp>
      <p:sp>
        <p:nvSpPr>
          <p:cNvPr id="45" name="TextBox 44"/>
          <p:cNvSpPr txBox="1"/>
          <p:nvPr/>
        </p:nvSpPr>
        <p:spPr>
          <a:xfrm>
            <a:off x="6446520" y="4206240"/>
            <a:ext cx="5120640" cy="256032"/>
          </a:xfrm>
          <a:prstGeom prst="rect">
            <a:avLst/>
          </a:prstGeom>
          <a:noFill/>
        </p:spPr>
        <p:txBody>
          <a:bodyPr wrap="square">
            <a:spAutoFit/>
          </a:bodyPr>
          <a:lstStyle/>
          <a:p>
            <a:pPr algn="l"/>
            <a:r>
              <a:rPr sz="1000" b="1" i="0">
                <a:solidFill>
                  <a:srgbClr val="FF3B30"/>
                </a:solidFill>
                <a:latin typeface="Segoe UI"/>
              </a:rPr>
              <a:t>Last inspection 42 days ago (manual: 30)</a:t>
            </a:r>
          </a:p>
        </p:txBody>
      </p:sp>
      <p:sp>
        <p:nvSpPr>
          <p:cNvPr id="46" name="TextBox 45"/>
          <p:cNvSpPr txBox="1"/>
          <p:nvPr/>
        </p:nvSpPr>
        <p:spPr>
          <a:xfrm>
            <a:off x="6446520" y="4480560"/>
            <a:ext cx="2560320" cy="274320"/>
          </a:xfrm>
          <a:prstGeom prst="rect">
            <a:avLst/>
          </a:prstGeom>
          <a:noFill/>
        </p:spPr>
        <p:txBody>
          <a:bodyPr wrap="square">
            <a:spAutoFit/>
          </a:bodyPr>
          <a:lstStyle/>
          <a:p>
            <a:pPr algn="l"/>
            <a:r>
              <a:rPr sz="900" b="0" i="0">
                <a:solidFill>
                  <a:srgbClr val="555555"/>
                </a:solidFill>
                <a:latin typeface="Segoe UI"/>
              </a:rPr>
              <a:t>ROOT CAUSE — MACHINE:</a:t>
            </a:r>
          </a:p>
        </p:txBody>
      </p:sp>
      <p:sp>
        <p:nvSpPr>
          <p:cNvPr id="47" name="TextBox 46"/>
          <p:cNvSpPr txBox="1"/>
          <p:nvPr/>
        </p:nvSpPr>
        <p:spPr>
          <a:xfrm>
            <a:off x="6446520" y="4718304"/>
            <a:ext cx="5120640" cy="256032"/>
          </a:xfrm>
          <a:prstGeom prst="rect">
            <a:avLst/>
          </a:prstGeom>
          <a:noFill/>
        </p:spPr>
        <p:txBody>
          <a:bodyPr wrap="square">
            <a:spAutoFit/>
          </a:bodyPr>
          <a:lstStyle/>
          <a:p>
            <a:pPr algn="l"/>
            <a:r>
              <a:rPr sz="1000" b="1" i="0">
                <a:solidFill>
                  <a:srgbClr val="FF3B30"/>
                </a:solidFill>
                <a:latin typeface="Segoe UI"/>
              </a:rPr>
              <a:t>Gear 3 wear + bearing micro-stress</a:t>
            </a:r>
          </a:p>
        </p:txBody>
      </p:sp>
      <p:sp>
        <p:nvSpPr>
          <p:cNvPr id="48" name="TextBox 47"/>
          <p:cNvSpPr txBox="1"/>
          <p:nvPr/>
        </p:nvSpPr>
        <p:spPr>
          <a:xfrm>
            <a:off x="6446520" y="4992624"/>
            <a:ext cx="2560320" cy="274320"/>
          </a:xfrm>
          <a:prstGeom prst="rect">
            <a:avLst/>
          </a:prstGeom>
          <a:noFill/>
        </p:spPr>
        <p:txBody>
          <a:bodyPr wrap="square">
            <a:spAutoFit/>
          </a:bodyPr>
          <a:lstStyle/>
          <a:p>
            <a:pPr algn="l"/>
            <a:r>
              <a:rPr sz="900" b="0" i="0">
                <a:solidFill>
                  <a:srgbClr val="555555"/>
                </a:solidFill>
                <a:latin typeface="Segoe UI"/>
              </a:rPr>
              <a:t>Severity:</a:t>
            </a:r>
          </a:p>
        </p:txBody>
      </p:sp>
      <p:sp>
        <p:nvSpPr>
          <p:cNvPr id="49" name="TextBox 48"/>
          <p:cNvSpPr txBox="1"/>
          <p:nvPr/>
        </p:nvSpPr>
        <p:spPr>
          <a:xfrm>
            <a:off x="6446520" y="5230368"/>
            <a:ext cx="5120640" cy="256032"/>
          </a:xfrm>
          <a:prstGeom prst="rect">
            <a:avLst/>
          </a:prstGeom>
          <a:noFill/>
        </p:spPr>
        <p:txBody>
          <a:bodyPr wrap="square">
            <a:spAutoFit/>
          </a:bodyPr>
          <a:lstStyle/>
          <a:p>
            <a:pPr algn="l"/>
            <a:r>
              <a:rPr sz="1000" b="1" i="0">
                <a:solidFill>
                  <a:srgbClr val="FF9F0A"/>
                </a:solidFill>
                <a:latin typeface="Segoe UI"/>
              </a:rPr>
              <a:t>⚠ YELLOW ALERT</a:t>
            </a:r>
          </a:p>
        </p:txBody>
      </p:sp>
      <p:sp>
        <p:nvSpPr>
          <p:cNvPr id="50" name="TextBox 49"/>
          <p:cNvSpPr txBox="1"/>
          <p:nvPr/>
        </p:nvSpPr>
        <p:spPr>
          <a:xfrm>
            <a:off x="6446520" y="5504688"/>
            <a:ext cx="2560320" cy="274320"/>
          </a:xfrm>
          <a:prstGeom prst="rect">
            <a:avLst/>
          </a:prstGeom>
          <a:noFill/>
        </p:spPr>
        <p:txBody>
          <a:bodyPr wrap="square">
            <a:spAutoFit/>
          </a:bodyPr>
          <a:lstStyle/>
          <a:p>
            <a:pPr algn="l"/>
            <a:r>
              <a:rPr sz="900" b="0" i="0">
                <a:solidFill>
                  <a:srgbClr val="555555"/>
                </a:solidFill>
                <a:latin typeface="Segoe UI"/>
              </a:rPr>
              <a:t>Projected failure:</a:t>
            </a:r>
          </a:p>
        </p:txBody>
      </p:sp>
      <p:sp>
        <p:nvSpPr>
          <p:cNvPr id="51" name="TextBox 50"/>
          <p:cNvSpPr txBox="1"/>
          <p:nvPr/>
        </p:nvSpPr>
        <p:spPr>
          <a:xfrm>
            <a:off x="6446520" y="5742432"/>
            <a:ext cx="5120640" cy="256032"/>
          </a:xfrm>
          <a:prstGeom prst="rect">
            <a:avLst/>
          </a:prstGeom>
          <a:noFill/>
        </p:spPr>
        <p:txBody>
          <a:bodyPr wrap="square">
            <a:spAutoFit/>
          </a:bodyPr>
          <a:lstStyle/>
          <a:p>
            <a:pPr algn="l"/>
            <a:r>
              <a:rPr sz="1000" b="1" i="0">
                <a:solidFill>
                  <a:srgbClr val="FF3B30"/>
                </a:solidFill>
                <a:latin typeface="Segoe UI"/>
              </a:rPr>
              <a:t>2.5–3 hours if ignored</a:t>
            </a:r>
          </a:p>
        </p:txBody>
      </p:sp>
      <p:sp>
        <p:nvSpPr>
          <p:cNvPr id="52" name="Rectangle 51"/>
          <p:cNvSpPr/>
          <p:nvPr/>
        </p:nvSpPr>
        <p:spPr>
          <a:xfrm>
            <a:off x="365760" y="6199632"/>
            <a:ext cx="11430000" cy="5029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6245352"/>
            <a:ext cx="10972800" cy="429768"/>
          </a:xfrm>
          <a:prstGeom prst="rect">
            <a:avLst/>
          </a:prstGeom>
          <a:noFill/>
        </p:spPr>
        <p:txBody>
          <a:bodyPr wrap="square">
            <a:spAutoFit/>
          </a:bodyPr>
          <a:lstStyle/>
          <a:p>
            <a:pPr algn="l"/>
            <a:r>
              <a:rPr sz="900" b="0" i="1">
                <a:solidFill>
                  <a:srgbClr val="888888"/>
                </a:solidFill>
                <a:latin typeface="Segoe UI"/>
              </a:rPr>
              <a:t>SPEAKER SCRIPT: "Same morning. Same robot. 6:47 AM. But this time — the Guardian Box is online. [Beat.] Watch what happens in the first two minutes. The system connects, loads the manual, establishes its baseline. And immediately — immediately — it flags Gear 3 and the vibration sensor. Not with a blaring alarm. With a precise, confident analysis: lubrication failure, 94.3% confidence, 2.5 hours to catastrophic failure. [Pause.] Two minutes. That's all it took."</a:t>
            </a:r>
          </a:p>
        </p:txBody>
      </p:sp>
      <p:sp>
        <p:nvSpPr>
          <p:cNvPr id="54" name="TextBox 53"/>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55" name="TextBox 54"/>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F9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F9F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3593591" cy="292608"/>
          </a:xfrm>
          <a:prstGeom prst="rect">
            <a:avLst/>
          </a:prstGeom>
          <a:solidFill>
            <a:srgbClr val="3F2702"/>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3502152" cy="256032"/>
          </a:xfrm>
          <a:prstGeom prst="rect">
            <a:avLst/>
          </a:prstGeom>
          <a:noFill/>
        </p:spPr>
        <p:txBody>
          <a:bodyPr wrap="square">
            <a:spAutoFit/>
          </a:bodyPr>
          <a:lstStyle/>
          <a:p>
            <a:pPr algn="l"/>
            <a:r>
              <a:rPr sz="900" b="1" i="0">
                <a:solidFill>
                  <a:srgbClr val="FF9F0A"/>
                </a:solidFill>
                <a:latin typeface="Segoe UI"/>
              </a:rPr>
              <a:t>ACT 3  —  SCENE 3 &amp; 4  —  6:49 AM</a:t>
            </a:r>
          </a:p>
        </p:txBody>
      </p:sp>
      <p:sp>
        <p:nvSpPr>
          <p:cNvPr id="6" name="TextBox 5"/>
          <p:cNvSpPr txBox="1"/>
          <p:nvPr/>
        </p:nvSpPr>
        <p:spPr>
          <a:xfrm>
            <a:off x="365760" y="502920"/>
            <a:ext cx="10972800" cy="594360"/>
          </a:xfrm>
          <a:prstGeom prst="rect">
            <a:avLst/>
          </a:prstGeom>
          <a:noFill/>
        </p:spPr>
        <p:txBody>
          <a:bodyPr wrap="square">
            <a:spAutoFit/>
          </a:bodyPr>
          <a:lstStyle/>
          <a:p>
            <a:pPr algn="l"/>
            <a:r>
              <a:rPr sz="3000" b="1" i="0">
                <a:solidFill>
                  <a:srgbClr val="F0F0F0"/>
                </a:solidFill>
                <a:latin typeface="Segoe UI"/>
              </a:rPr>
              <a:t>The Alert Goes Out. The Guide Deploys.</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3200400" cy="4754880"/>
          </a:xfrm>
          <a:prstGeom prst="rect">
            <a:avLst/>
          </a:prstGeom>
          <a:solidFill>
            <a:srgbClr val="000000"/>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71600"/>
            <a:ext cx="3200400" cy="457200"/>
          </a:xfrm>
          <a:prstGeom prst="rect">
            <a:avLst/>
          </a:prstGeom>
          <a:solidFill>
            <a:srgbClr val="190F00"/>
          </a:solidFill>
          <a:ln w="254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44752"/>
            <a:ext cx="2834640" cy="274320"/>
          </a:xfrm>
          <a:prstGeom prst="rect">
            <a:avLst/>
          </a:prstGeom>
          <a:noFill/>
        </p:spPr>
        <p:txBody>
          <a:bodyPr wrap="square">
            <a:spAutoFit/>
          </a:bodyPr>
          <a:lstStyle/>
          <a:p>
            <a:pPr algn="l"/>
            <a:r>
              <a:rPr sz="900" b="1" i="0">
                <a:solidFill>
                  <a:srgbClr val="FF9F0A"/>
                </a:solidFill>
                <a:latin typeface="Segoe UI"/>
              </a:rPr>
              <a:t>🖤  GUARDIAN BOX ALERT</a:t>
            </a:r>
          </a:p>
        </p:txBody>
      </p:sp>
      <p:sp>
        <p:nvSpPr>
          <p:cNvPr id="11" name="TextBox 10"/>
          <p:cNvSpPr txBox="1"/>
          <p:nvPr/>
        </p:nvSpPr>
        <p:spPr>
          <a:xfrm>
            <a:off x="548640" y="1920240"/>
            <a:ext cx="2834640" cy="365760"/>
          </a:xfrm>
          <a:prstGeom prst="rect">
            <a:avLst/>
          </a:prstGeom>
          <a:noFill/>
        </p:spPr>
        <p:txBody>
          <a:bodyPr wrap="square">
            <a:spAutoFit/>
          </a:bodyPr>
          <a:lstStyle/>
          <a:p>
            <a:pPr algn="ctr"/>
            <a:r>
              <a:rPr sz="1300" b="1" i="0">
                <a:solidFill>
                  <a:srgbClr val="FF9F0A"/>
                </a:solidFill>
                <a:latin typeface="Segoe UI"/>
              </a:rPr>
              <a:t>⚠ YELLOW ALERT — R-47</a:t>
            </a:r>
          </a:p>
        </p:txBody>
      </p:sp>
      <p:sp>
        <p:nvSpPr>
          <p:cNvPr id="12" name="TextBox 11"/>
          <p:cNvSpPr txBox="1"/>
          <p:nvPr/>
        </p:nvSpPr>
        <p:spPr>
          <a:xfrm>
            <a:off x="548640" y="2331720"/>
            <a:ext cx="2834640" cy="502920"/>
          </a:xfrm>
          <a:prstGeom prst="rect">
            <a:avLst/>
          </a:prstGeom>
          <a:noFill/>
        </p:spPr>
        <p:txBody>
          <a:bodyPr wrap="square">
            <a:spAutoFit/>
          </a:bodyPr>
          <a:lstStyle/>
          <a:p>
            <a:pPr algn="ctr"/>
            <a:r>
              <a:rPr sz="1000" b="0" i="0">
                <a:solidFill>
                  <a:srgbClr val="F0F0F0"/>
                </a:solidFill>
                <a:latin typeface="Segoe UI"/>
              </a:rPr>
              <a:t>PREDICTED FAILURE: 2.5 hrs
CONFIDENCE: 94.3%</a:t>
            </a:r>
          </a:p>
        </p:txBody>
      </p:sp>
      <p:cxnSp>
        <p:nvCxnSpPr>
          <p:cNvPr id="13" name="Connector 12"/>
          <p:cNvCxnSpPr/>
          <p:nvPr/>
        </p:nvCxnSpPr>
        <p:spPr>
          <a:xfrm>
            <a:off x="365760" y="2926080"/>
            <a:ext cx="11457432" cy="0"/>
          </a:xfrm>
          <a:prstGeom prst="line">
            <a:avLst/>
          </a:prstGeom>
          <a:ln w="9525">
            <a:solidFill>
              <a:srgbClr val="FF9F0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8640" y="3017520"/>
            <a:ext cx="1188720" cy="292608"/>
          </a:xfrm>
          <a:prstGeom prst="rect">
            <a:avLst/>
          </a:prstGeom>
          <a:noFill/>
        </p:spPr>
        <p:txBody>
          <a:bodyPr wrap="square">
            <a:spAutoFit/>
          </a:bodyPr>
          <a:lstStyle/>
          <a:p>
            <a:pPr algn="l"/>
            <a:r>
              <a:rPr sz="900" b="0" i="0">
                <a:solidFill>
                  <a:srgbClr val="888888"/>
                </a:solidFill>
                <a:latin typeface="Segoe UI"/>
              </a:rPr>
              <a:t>👤 Human:</a:t>
            </a:r>
          </a:p>
        </p:txBody>
      </p:sp>
      <p:sp>
        <p:nvSpPr>
          <p:cNvPr id="15" name="TextBox 14"/>
          <p:cNvSpPr txBox="1"/>
          <p:nvPr/>
        </p:nvSpPr>
        <p:spPr>
          <a:xfrm>
            <a:off x="1828800" y="3017520"/>
            <a:ext cx="1645920" cy="292608"/>
          </a:xfrm>
          <a:prstGeom prst="rect">
            <a:avLst/>
          </a:prstGeom>
          <a:noFill/>
        </p:spPr>
        <p:txBody>
          <a:bodyPr wrap="square">
            <a:spAutoFit/>
          </a:bodyPr>
          <a:lstStyle/>
          <a:p>
            <a:pPr algn="l"/>
            <a:r>
              <a:rPr sz="900" b="1" i="0">
                <a:solidFill>
                  <a:srgbClr val="FF3B30"/>
                </a:solidFill>
                <a:latin typeface="Segoe UI"/>
              </a:rPr>
              <a:t>Pre-shift check missed</a:t>
            </a:r>
          </a:p>
        </p:txBody>
      </p:sp>
      <p:sp>
        <p:nvSpPr>
          <p:cNvPr id="16" name="TextBox 15"/>
          <p:cNvSpPr txBox="1"/>
          <p:nvPr/>
        </p:nvSpPr>
        <p:spPr>
          <a:xfrm>
            <a:off x="548640" y="3456432"/>
            <a:ext cx="1188720" cy="292608"/>
          </a:xfrm>
          <a:prstGeom prst="rect">
            <a:avLst/>
          </a:prstGeom>
          <a:noFill/>
        </p:spPr>
        <p:txBody>
          <a:bodyPr wrap="square">
            <a:spAutoFit/>
          </a:bodyPr>
          <a:lstStyle/>
          <a:p>
            <a:pPr algn="l"/>
            <a:r>
              <a:rPr sz="900" b="0" i="0">
                <a:solidFill>
                  <a:srgbClr val="888888"/>
                </a:solidFill>
                <a:latin typeface="Segoe UI"/>
              </a:rPr>
              <a:t>🔩 Material:</a:t>
            </a:r>
          </a:p>
        </p:txBody>
      </p:sp>
      <p:sp>
        <p:nvSpPr>
          <p:cNvPr id="17" name="TextBox 16"/>
          <p:cNvSpPr txBox="1"/>
          <p:nvPr/>
        </p:nvSpPr>
        <p:spPr>
          <a:xfrm>
            <a:off x="1828800" y="3456432"/>
            <a:ext cx="1645920" cy="292608"/>
          </a:xfrm>
          <a:prstGeom prst="rect">
            <a:avLst/>
          </a:prstGeom>
          <a:noFill/>
        </p:spPr>
        <p:txBody>
          <a:bodyPr wrap="square">
            <a:spAutoFit/>
          </a:bodyPr>
          <a:lstStyle/>
          <a:p>
            <a:pPr algn="l"/>
            <a:r>
              <a:rPr sz="900" b="1" i="0">
                <a:solidFill>
                  <a:srgbClr val="FF9F0A"/>
                </a:solidFill>
                <a:latin typeface="Segoe UI"/>
              </a:rPr>
              <a:t>Lubrication low</a:t>
            </a:r>
          </a:p>
        </p:txBody>
      </p:sp>
      <p:sp>
        <p:nvSpPr>
          <p:cNvPr id="18" name="TextBox 17"/>
          <p:cNvSpPr txBox="1"/>
          <p:nvPr/>
        </p:nvSpPr>
        <p:spPr>
          <a:xfrm>
            <a:off x="548640" y="3895344"/>
            <a:ext cx="1188720" cy="292608"/>
          </a:xfrm>
          <a:prstGeom prst="rect">
            <a:avLst/>
          </a:prstGeom>
          <a:noFill/>
        </p:spPr>
        <p:txBody>
          <a:bodyPr wrap="square">
            <a:spAutoFit/>
          </a:bodyPr>
          <a:lstStyle/>
          <a:p>
            <a:pPr algn="l"/>
            <a:r>
              <a:rPr sz="900" b="0" i="0">
                <a:solidFill>
                  <a:srgbClr val="888888"/>
                </a:solidFill>
                <a:latin typeface="Segoe UI"/>
              </a:rPr>
              <a:t>📋 Methods:</a:t>
            </a:r>
          </a:p>
        </p:txBody>
      </p:sp>
      <p:sp>
        <p:nvSpPr>
          <p:cNvPr id="19" name="TextBox 18"/>
          <p:cNvSpPr txBox="1"/>
          <p:nvPr/>
        </p:nvSpPr>
        <p:spPr>
          <a:xfrm>
            <a:off x="1828800" y="3895344"/>
            <a:ext cx="1645920" cy="292608"/>
          </a:xfrm>
          <a:prstGeom prst="rect">
            <a:avLst/>
          </a:prstGeom>
          <a:noFill/>
        </p:spPr>
        <p:txBody>
          <a:bodyPr wrap="square">
            <a:spAutoFit/>
          </a:bodyPr>
          <a:lstStyle/>
          <a:p>
            <a:pPr algn="l"/>
            <a:r>
              <a:rPr sz="900" b="1" i="0">
                <a:solidFill>
                  <a:srgbClr val="FF9F0A"/>
                </a:solidFill>
                <a:latin typeface="Segoe UI"/>
              </a:rPr>
              <a:t>Inspection overdue</a:t>
            </a:r>
          </a:p>
        </p:txBody>
      </p:sp>
      <p:sp>
        <p:nvSpPr>
          <p:cNvPr id="20" name="TextBox 19"/>
          <p:cNvSpPr txBox="1"/>
          <p:nvPr/>
        </p:nvSpPr>
        <p:spPr>
          <a:xfrm>
            <a:off x="548640" y="4334256"/>
            <a:ext cx="1188720" cy="292608"/>
          </a:xfrm>
          <a:prstGeom prst="rect">
            <a:avLst/>
          </a:prstGeom>
          <a:noFill/>
        </p:spPr>
        <p:txBody>
          <a:bodyPr wrap="square">
            <a:spAutoFit/>
          </a:bodyPr>
          <a:lstStyle/>
          <a:p>
            <a:pPr algn="l"/>
            <a:r>
              <a:rPr sz="900" b="0" i="0">
                <a:solidFill>
                  <a:srgbClr val="888888"/>
                </a:solidFill>
                <a:latin typeface="Segoe UI"/>
              </a:rPr>
              <a:t>⚙ Machine:</a:t>
            </a:r>
          </a:p>
        </p:txBody>
      </p:sp>
      <p:sp>
        <p:nvSpPr>
          <p:cNvPr id="21" name="TextBox 20"/>
          <p:cNvSpPr txBox="1"/>
          <p:nvPr/>
        </p:nvSpPr>
        <p:spPr>
          <a:xfrm>
            <a:off x="1828800" y="4334256"/>
            <a:ext cx="1645920" cy="292608"/>
          </a:xfrm>
          <a:prstGeom prst="rect">
            <a:avLst/>
          </a:prstGeom>
          <a:noFill/>
        </p:spPr>
        <p:txBody>
          <a:bodyPr wrap="square">
            <a:spAutoFit/>
          </a:bodyPr>
          <a:lstStyle/>
          <a:p>
            <a:pPr algn="l"/>
            <a:r>
              <a:rPr sz="900" b="1" i="0">
                <a:solidFill>
                  <a:srgbClr val="FF3B30"/>
                </a:solidFill>
                <a:latin typeface="Segoe UI"/>
              </a:rPr>
              <a:t>Gear 3 heat elevated</a:t>
            </a:r>
          </a:p>
        </p:txBody>
      </p:sp>
      <p:sp>
        <p:nvSpPr>
          <p:cNvPr id="22" name="Rectangle 21"/>
          <p:cNvSpPr/>
          <p:nvPr/>
        </p:nvSpPr>
        <p:spPr>
          <a:xfrm>
            <a:off x="457200" y="4800600"/>
            <a:ext cx="3017520" cy="548640"/>
          </a:xfrm>
          <a:prstGeom prst="rect">
            <a:avLst/>
          </a:prstGeom>
          <a:solidFill>
            <a:srgbClr val="001400"/>
          </a:solidFill>
          <a:ln w="1905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910328"/>
            <a:ext cx="2834640" cy="274320"/>
          </a:xfrm>
          <a:prstGeom prst="rect">
            <a:avLst/>
          </a:prstGeom>
          <a:noFill/>
        </p:spPr>
        <p:txBody>
          <a:bodyPr wrap="square">
            <a:spAutoFit/>
          </a:bodyPr>
          <a:lstStyle/>
          <a:p>
            <a:pPr algn="ctr"/>
            <a:r>
              <a:rPr sz="900" b="0" i="0">
                <a:solidFill>
                  <a:srgbClr val="30D158"/>
                </a:solidFill>
                <a:latin typeface="Segoe UI"/>
              </a:rPr>
              <a:t>[VIEW STEPS]  [CALL SUPERVISOR]</a:t>
            </a:r>
          </a:p>
        </p:txBody>
      </p:sp>
      <p:sp>
        <p:nvSpPr>
          <p:cNvPr id="24" name="Rectangle 23"/>
          <p:cNvSpPr/>
          <p:nvPr/>
        </p:nvSpPr>
        <p:spPr>
          <a:xfrm>
            <a:off x="3840480" y="1371600"/>
            <a:ext cx="7955279" cy="4754880"/>
          </a:xfrm>
          <a:prstGeom prst="rect">
            <a:avLst/>
          </a:prstGeom>
          <a:solidFill>
            <a:srgbClr val="1A1A1A"/>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069080" y="1508760"/>
            <a:ext cx="7498079" cy="320040"/>
          </a:xfrm>
          <a:prstGeom prst="rect">
            <a:avLst/>
          </a:prstGeom>
          <a:noFill/>
        </p:spPr>
        <p:txBody>
          <a:bodyPr wrap="square">
            <a:spAutoFit/>
          </a:bodyPr>
          <a:lstStyle/>
          <a:p>
            <a:pPr algn="l"/>
            <a:r>
              <a:rPr sz="1000" b="1" i="0">
                <a:solidFill>
                  <a:srgbClr val="FF9F0A"/>
                </a:solidFill>
                <a:latin typeface="Segoe UI"/>
              </a:rPr>
              <a:t>📋  TROUBLESHOOTING PROTOCOL R-47-LUB-03  |  Manual §7.3.2 &amp; §12.1.4</a:t>
            </a:r>
          </a:p>
        </p:txBody>
      </p:sp>
      <p:sp>
        <p:nvSpPr>
          <p:cNvPr id="26" name="Rectangle 25"/>
          <p:cNvSpPr/>
          <p:nvPr/>
        </p:nvSpPr>
        <p:spPr>
          <a:xfrm>
            <a:off x="3977639" y="1920240"/>
            <a:ext cx="7680960" cy="960120"/>
          </a:xfrm>
          <a:prstGeom prst="rect">
            <a:avLst/>
          </a:prstGeom>
          <a:solidFill>
            <a:srgbClr val="222222"/>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60520" y="1984248"/>
            <a:ext cx="5029200" cy="320040"/>
          </a:xfrm>
          <a:prstGeom prst="rect">
            <a:avLst/>
          </a:prstGeom>
          <a:noFill/>
        </p:spPr>
        <p:txBody>
          <a:bodyPr wrap="square">
            <a:spAutoFit/>
          </a:bodyPr>
          <a:lstStyle/>
          <a:p>
            <a:pPr algn="l"/>
            <a:r>
              <a:rPr sz="1000" b="1" i="0">
                <a:solidFill>
                  <a:srgbClr val="0A84FF"/>
                </a:solidFill>
                <a:latin typeface="Segoe UI"/>
              </a:rPr>
              <a:t>🔐 STEP 0:  IMMEDIATE — HUMAN ISSUE</a:t>
            </a:r>
          </a:p>
        </p:txBody>
      </p:sp>
      <p:sp>
        <p:nvSpPr>
          <p:cNvPr id="28" name="TextBox 27"/>
          <p:cNvSpPr txBox="1"/>
          <p:nvPr/>
        </p:nvSpPr>
        <p:spPr>
          <a:xfrm>
            <a:off x="4160520" y="2304288"/>
            <a:ext cx="5486400" cy="457200"/>
          </a:xfrm>
          <a:prstGeom prst="rect">
            <a:avLst/>
          </a:prstGeom>
          <a:noFill/>
        </p:spPr>
        <p:txBody>
          <a:bodyPr wrap="square">
            <a:spAutoFit/>
          </a:bodyPr>
          <a:lstStyle/>
          <a:p>
            <a:pPr algn="l"/>
            <a:r>
              <a:rPr sz="900" b="0" i="0">
                <a:solidFill>
                  <a:srgbClr val="888888"/>
                </a:solidFill>
                <a:latin typeface="Segoe UI"/>
              </a:rPr>
              <a:t>Brief incoming operator · Assign monitor · Mandatory 15-min check logs · Supervisor verify handoffs</a:t>
            </a:r>
          </a:p>
        </p:txBody>
      </p:sp>
      <p:sp>
        <p:nvSpPr>
          <p:cNvPr id="29" name="TextBox 28"/>
          <p:cNvSpPr txBox="1"/>
          <p:nvPr/>
        </p:nvSpPr>
        <p:spPr>
          <a:xfrm>
            <a:off x="9509760" y="2194560"/>
            <a:ext cx="1920240" cy="320040"/>
          </a:xfrm>
          <a:prstGeom prst="rect">
            <a:avLst/>
          </a:prstGeom>
          <a:noFill/>
        </p:spPr>
        <p:txBody>
          <a:bodyPr wrap="square">
            <a:spAutoFit/>
          </a:bodyPr>
          <a:lstStyle/>
          <a:p>
            <a:pPr algn="r"/>
            <a:r>
              <a:rPr sz="900" b="1" i="0">
                <a:solidFill>
                  <a:srgbClr val="0A84FF"/>
                </a:solidFill>
                <a:latin typeface="Segoe UI"/>
              </a:rPr>
              <a:t>ETA: 5 minutes</a:t>
            </a:r>
          </a:p>
        </p:txBody>
      </p:sp>
      <p:sp>
        <p:nvSpPr>
          <p:cNvPr id="30" name="Rectangle 29"/>
          <p:cNvSpPr/>
          <p:nvPr/>
        </p:nvSpPr>
        <p:spPr>
          <a:xfrm>
            <a:off x="3977639" y="2944368"/>
            <a:ext cx="7680960" cy="960120"/>
          </a:xfrm>
          <a:prstGeom prst="rect">
            <a:avLst/>
          </a:prstGeom>
          <a:solidFill>
            <a:srgbClr val="222222"/>
          </a:solidFill>
          <a:ln w="1270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0520" y="3008376"/>
            <a:ext cx="5029200" cy="320040"/>
          </a:xfrm>
          <a:prstGeom prst="rect">
            <a:avLst/>
          </a:prstGeom>
          <a:noFill/>
        </p:spPr>
        <p:txBody>
          <a:bodyPr wrap="square">
            <a:spAutoFit/>
          </a:bodyPr>
          <a:lstStyle/>
          <a:p>
            <a:pPr algn="l"/>
            <a:r>
              <a:rPr sz="1000" b="1" i="0">
                <a:solidFill>
                  <a:srgbClr val="FF9F0A"/>
                </a:solidFill>
                <a:latin typeface="Segoe UI"/>
              </a:rPr>
              <a:t>⏰ STEP 1:  SCHEDULE WINDOW — 10:30 AM</a:t>
            </a:r>
          </a:p>
        </p:txBody>
      </p:sp>
      <p:sp>
        <p:nvSpPr>
          <p:cNvPr id="32" name="TextBox 31"/>
          <p:cNvSpPr txBox="1"/>
          <p:nvPr/>
        </p:nvSpPr>
        <p:spPr>
          <a:xfrm>
            <a:off x="4160520" y="3328416"/>
            <a:ext cx="5486400" cy="457200"/>
          </a:xfrm>
          <a:prstGeom prst="rect">
            <a:avLst/>
          </a:prstGeom>
          <a:noFill/>
        </p:spPr>
        <p:txBody>
          <a:bodyPr wrap="square">
            <a:spAutoFit/>
          </a:bodyPr>
          <a:lstStyle/>
          <a:p>
            <a:pPr algn="l"/>
            <a:r>
              <a:rPr sz="900" b="0" i="0">
                <a:solidFill>
                  <a:srgbClr val="888888"/>
                </a:solidFill>
                <a:latin typeface="Segoe UI"/>
              </a:rPr>
              <a:t>Flag R-47 for next break · Do NOT shut down yet — 2.5 hrs safe · Notify line coordinator</a:t>
            </a:r>
          </a:p>
        </p:txBody>
      </p:sp>
      <p:sp>
        <p:nvSpPr>
          <p:cNvPr id="33" name="TextBox 32"/>
          <p:cNvSpPr txBox="1"/>
          <p:nvPr/>
        </p:nvSpPr>
        <p:spPr>
          <a:xfrm>
            <a:off x="9509760" y="3218688"/>
            <a:ext cx="1920240" cy="320040"/>
          </a:xfrm>
          <a:prstGeom prst="rect">
            <a:avLst/>
          </a:prstGeom>
          <a:noFill/>
        </p:spPr>
        <p:txBody>
          <a:bodyPr wrap="square">
            <a:spAutoFit/>
          </a:bodyPr>
          <a:lstStyle/>
          <a:p>
            <a:pPr algn="r"/>
            <a:r>
              <a:rPr sz="900" b="1" i="0">
                <a:solidFill>
                  <a:srgbClr val="FF9F0A"/>
                </a:solidFill>
                <a:latin typeface="Segoe UI"/>
              </a:rPr>
              <a:t>ETA: Plan now</a:t>
            </a:r>
          </a:p>
        </p:txBody>
      </p:sp>
      <p:sp>
        <p:nvSpPr>
          <p:cNvPr id="34" name="Rectangle 33"/>
          <p:cNvSpPr/>
          <p:nvPr/>
        </p:nvSpPr>
        <p:spPr>
          <a:xfrm>
            <a:off x="3977639" y="3968496"/>
            <a:ext cx="7680960" cy="960120"/>
          </a:xfrm>
          <a:prstGeom prst="rect">
            <a:avLst/>
          </a:prstGeom>
          <a:solidFill>
            <a:srgbClr val="222222"/>
          </a:solidFill>
          <a:ln w="127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0520" y="4032504"/>
            <a:ext cx="5029200" cy="320040"/>
          </a:xfrm>
          <a:prstGeom prst="rect">
            <a:avLst/>
          </a:prstGeom>
          <a:noFill/>
        </p:spPr>
        <p:txBody>
          <a:bodyPr wrap="square">
            <a:spAutoFit/>
          </a:bodyPr>
          <a:lstStyle/>
          <a:p>
            <a:pPr algn="l"/>
            <a:r>
              <a:rPr sz="1000" b="1" i="0">
                <a:solidFill>
                  <a:srgbClr val="FF3B30"/>
                </a:solidFill>
                <a:latin typeface="Segoe UI"/>
              </a:rPr>
              <a:t>🧪 STEP 2:  MATERIAL FIX  [§7.3.2]</a:t>
            </a:r>
          </a:p>
        </p:txBody>
      </p:sp>
      <p:sp>
        <p:nvSpPr>
          <p:cNvPr id="36" name="TextBox 35"/>
          <p:cNvSpPr txBox="1"/>
          <p:nvPr/>
        </p:nvSpPr>
        <p:spPr>
          <a:xfrm>
            <a:off x="4160520" y="4352544"/>
            <a:ext cx="5486400" cy="457200"/>
          </a:xfrm>
          <a:prstGeom prst="rect">
            <a:avLst/>
          </a:prstGeom>
          <a:noFill/>
        </p:spPr>
        <p:txBody>
          <a:bodyPr wrap="square">
            <a:spAutoFit/>
          </a:bodyPr>
          <a:lstStyle/>
          <a:p>
            <a:pPr algn="l"/>
            <a:r>
              <a:rPr sz="900" b="0" i="0">
                <a:solidFill>
                  <a:srgbClr val="888888"/>
                </a:solidFill>
                <a:latin typeface="Segoe UI"/>
              </a:rPr>
              <a:t>Flush Gear 3 lubrication · Apply Type-B synthetic lubricant (HND-LUB-3342) · Inspect Gear 5 bearing · Replace coolant · Check seals</a:t>
            </a:r>
          </a:p>
        </p:txBody>
      </p:sp>
      <p:sp>
        <p:nvSpPr>
          <p:cNvPr id="37" name="TextBox 36"/>
          <p:cNvSpPr txBox="1"/>
          <p:nvPr/>
        </p:nvSpPr>
        <p:spPr>
          <a:xfrm>
            <a:off x="9509760" y="4242816"/>
            <a:ext cx="1920240" cy="320040"/>
          </a:xfrm>
          <a:prstGeom prst="rect">
            <a:avLst/>
          </a:prstGeom>
          <a:noFill/>
        </p:spPr>
        <p:txBody>
          <a:bodyPr wrap="square">
            <a:spAutoFit/>
          </a:bodyPr>
          <a:lstStyle/>
          <a:p>
            <a:pPr algn="r"/>
            <a:r>
              <a:rPr sz="900" b="1" i="0">
                <a:solidFill>
                  <a:srgbClr val="FF3B30"/>
                </a:solidFill>
                <a:latin typeface="Segoe UI"/>
              </a:rPr>
              <a:t>ETA: 15 minutes</a:t>
            </a:r>
          </a:p>
        </p:txBody>
      </p:sp>
      <p:sp>
        <p:nvSpPr>
          <p:cNvPr id="38" name="Rectangle 37"/>
          <p:cNvSpPr/>
          <p:nvPr/>
        </p:nvSpPr>
        <p:spPr>
          <a:xfrm>
            <a:off x="3977639" y="4992624"/>
            <a:ext cx="7680960" cy="960120"/>
          </a:xfrm>
          <a:prstGeom prst="rect">
            <a:avLst/>
          </a:prstGeom>
          <a:solidFill>
            <a:srgbClr val="222222"/>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60520" y="5056632"/>
            <a:ext cx="5029200" cy="320040"/>
          </a:xfrm>
          <a:prstGeom prst="rect">
            <a:avLst/>
          </a:prstGeom>
          <a:noFill/>
        </p:spPr>
        <p:txBody>
          <a:bodyPr wrap="square">
            <a:spAutoFit/>
          </a:bodyPr>
          <a:lstStyle/>
          <a:p>
            <a:pPr algn="l"/>
            <a:r>
              <a:rPr sz="1000" b="1" i="0">
                <a:solidFill>
                  <a:srgbClr val="30D158"/>
                </a:solidFill>
                <a:latin typeface="Segoe UI"/>
              </a:rPr>
              <a:t>⚙ STEP 3:  MACHINE VERIFY  [§12.1.4]</a:t>
            </a:r>
          </a:p>
        </p:txBody>
      </p:sp>
      <p:sp>
        <p:nvSpPr>
          <p:cNvPr id="40" name="TextBox 39"/>
          <p:cNvSpPr txBox="1"/>
          <p:nvPr/>
        </p:nvSpPr>
        <p:spPr>
          <a:xfrm>
            <a:off x="4160520" y="5376672"/>
            <a:ext cx="5486400" cy="457200"/>
          </a:xfrm>
          <a:prstGeom prst="rect">
            <a:avLst/>
          </a:prstGeom>
          <a:noFill/>
        </p:spPr>
        <p:txBody>
          <a:bodyPr wrap="square">
            <a:spAutoFit/>
          </a:bodyPr>
          <a:lstStyle/>
          <a:p>
            <a:pPr algn="l"/>
            <a:r>
              <a:rPr sz="900" b="0" i="0">
                <a:solidFill>
                  <a:srgbClr val="888888"/>
                </a:solidFill>
                <a:latin typeface="Segoe UI"/>
              </a:rPr>
              <a:t>Inspect Gear 3 tooth wear · Measure bearing play · If &gt;0.3mm: REPLACE · Run test cycle at 50% speed</a:t>
            </a:r>
          </a:p>
        </p:txBody>
      </p:sp>
      <p:sp>
        <p:nvSpPr>
          <p:cNvPr id="41" name="TextBox 40"/>
          <p:cNvSpPr txBox="1"/>
          <p:nvPr/>
        </p:nvSpPr>
        <p:spPr>
          <a:xfrm>
            <a:off x="9509760" y="5266944"/>
            <a:ext cx="1920240" cy="320040"/>
          </a:xfrm>
          <a:prstGeom prst="rect">
            <a:avLst/>
          </a:prstGeom>
          <a:noFill/>
        </p:spPr>
        <p:txBody>
          <a:bodyPr wrap="square">
            <a:spAutoFit/>
          </a:bodyPr>
          <a:lstStyle/>
          <a:p>
            <a:pPr algn="r"/>
            <a:r>
              <a:rPr sz="900" b="1" i="0">
                <a:solidFill>
                  <a:srgbClr val="30D158"/>
                </a:solidFill>
                <a:latin typeface="Segoe UI"/>
              </a:rPr>
              <a:t>ETA: 10 minutes</a:t>
            </a:r>
          </a:p>
        </p:txBody>
      </p:sp>
      <p:sp>
        <p:nvSpPr>
          <p:cNvPr id="42" name="Rectangle 41"/>
          <p:cNvSpPr/>
          <p:nvPr/>
        </p:nvSpPr>
        <p:spPr>
          <a:xfrm>
            <a:off x="365760" y="6199632"/>
            <a:ext cx="11430000" cy="5029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6245352"/>
            <a:ext cx="10972800" cy="429768"/>
          </a:xfrm>
          <a:prstGeom prst="rect">
            <a:avLst/>
          </a:prstGeom>
          <a:noFill/>
        </p:spPr>
        <p:txBody>
          <a:bodyPr wrap="square">
            <a:spAutoFit/>
          </a:bodyPr>
          <a:lstStyle/>
          <a:p>
            <a:pPr algn="l"/>
            <a:r>
              <a:rPr sz="900" b="0" i="1">
                <a:solidFill>
                  <a:srgbClr val="888888"/>
                </a:solidFill>
                <a:latin typeface="Segoe UI"/>
              </a:rPr>
              <a:t>SPEAKER SCRIPT: "6:49 AM — two minutes after startup — Carlos the maintenance tech's phone buzzes. He doesn't get a vague alarm. He gets a diagnosis, a confidence score, all four root causes identified, and a tap-through to a step-by-step guide sourced directly from the manufacturer's manual. The supervisor's dashboard lights up yellow on R-47. Parts inventory is automatically flagged. All of this — in the time it took Mike to pour his coffee."</a:t>
            </a:r>
          </a:p>
        </p:txBody>
      </p:sp>
      <p:sp>
        <p:nvSpPr>
          <p:cNvPr id="44" name="TextBox 43"/>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45" name="TextBox 44"/>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30D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30D1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3694176" cy="292608"/>
          </a:xfrm>
          <a:prstGeom prst="rect">
            <a:avLst/>
          </a:prstGeom>
          <a:solidFill>
            <a:srgbClr val="0C3416"/>
          </a:solidFill>
          <a:ln w="127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3602736" cy="256032"/>
          </a:xfrm>
          <a:prstGeom prst="rect">
            <a:avLst/>
          </a:prstGeom>
          <a:noFill/>
        </p:spPr>
        <p:txBody>
          <a:bodyPr wrap="square">
            <a:spAutoFit/>
          </a:bodyPr>
          <a:lstStyle/>
          <a:p>
            <a:pPr algn="l"/>
            <a:r>
              <a:rPr sz="900" b="1" i="0">
                <a:solidFill>
                  <a:srgbClr val="30D158"/>
                </a:solidFill>
                <a:latin typeface="Segoe UI"/>
              </a:rPr>
              <a:t>ACT 3  —  SCENE 5  —  THE RECOVERY</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400" b="1" i="0">
                <a:solidFill>
                  <a:srgbClr val="F0F0F0"/>
                </a:solidFill>
                <a:latin typeface="Segoe UI"/>
              </a:rPr>
              <a:t>21 Minutes. Line Never Stopped.</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426464"/>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463040"/>
            <a:ext cx="1280160" cy="256032"/>
          </a:xfrm>
          <a:prstGeom prst="rect">
            <a:avLst/>
          </a:prstGeom>
          <a:noFill/>
        </p:spPr>
        <p:txBody>
          <a:bodyPr wrap="square">
            <a:spAutoFit/>
          </a:bodyPr>
          <a:lstStyle/>
          <a:p>
            <a:pPr algn="l"/>
            <a:r>
              <a:rPr sz="900" b="0" i="0">
                <a:solidFill>
                  <a:srgbClr val="555555"/>
                </a:solidFill>
                <a:latin typeface="Segoe UI"/>
              </a:rPr>
              <a:t>6:47 AM</a:t>
            </a:r>
          </a:p>
        </p:txBody>
      </p:sp>
      <p:sp>
        <p:nvSpPr>
          <p:cNvPr id="10" name="TextBox 9"/>
          <p:cNvSpPr txBox="1"/>
          <p:nvPr/>
        </p:nvSpPr>
        <p:spPr>
          <a:xfrm>
            <a:off x="1828800" y="1463040"/>
            <a:ext cx="3931920" cy="292608"/>
          </a:xfrm>
          <a:prstGeom prst="rect">
            <a:avLst/>
          </a:prstGeom>
          <a:noFill/>
        </p:spPr>
        <p:txBody>
          <a:bodyPr wrap="square">
            <a:spAutoFit/>
          </a:bodyPr>
          <a:lstStyle/>
          <a:p>
            <a:pPr algn="l"/>
            <a:r>
              <a:rPr sz="1000" b="0" i="0">
                <a:solidFill>
                  <a:srgbClr val="888888"/>
                </a:solidFill>
                <a:latin typeface="Segoe UI"/>
              </a:rPr>
              <a:t>R-47 starts shift</a:t>
            </a:r>
          </a:p>
        </p:txBody>
      </p:sp>
      <p:sp>
        <p:nvSpPr>
          <p:cNvPr id="11" name="Rectangle 10"/>
          <p:cNvSpPr/>
          <p:nvPr/>
        </p:nvSpPr>
        <p:spPr>
          <a:xfrm>
            <a:off x="365760" y="1947672"/>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84248"/>
            <a:ext cx="1280160" cy="256032"/>
          </a:xfrm>
          <a:prstGeom prst="rect">
            <a:avLst/>
          </a:prstGeom>
          <a:noFill/>
        </p:spPr>
        <p:txBody>
          <a:bodyPr wrap="square">
            <a:spAutoFit/>
          </a:bodyPr>
          <a:lstStyle/>
          <a:p>
            <a:pPr algn="l"/>
            <a:r>
              <a:rPr sz="900" b="0" i="0">
                <a:solidFill>
                  <a:srgbClr val="555555"/>
                </a:solidFill>
                <a:latin typeface="Segoe UI"/>
              </a:rPr>
              <a:t>6:49 AM</a:t>
            </a:r>
          </a:p>
        </p:txBody>
      </p:sp>
      <p:sp>
        <p:nvSpPr>
          <p:cNvPr id="13" name="TextBox 12"/>
          <p:cNvSpPr txBox="1"/>
          <p:nvPr/>
        </p:nvSpPr>
        <p:spPr>
          <a:xfrm>
            <a:off x="1828800" y="1984248"/>
            <a:ext cx="3931920" cy="292608"/>
          </a:xfrm>
          <a:prstGeom prst="rect">
            <a:avLst/>
          </a:prstGeom>
          <a:noFill/>
        </p:spPr>
        <p:txBody>
          <a:bodyPr wrap="square">
            <a:spAutoFit/>
          </a:bodyPr>
          <a:lstStyle/>
          <a:p>
            <a:pPr algn="l"/>
            <a:r>
              <a:rPr sz="1000" b="0" i="0">
                <a:solidFill>
                  <a:srgbClr val="FF9F0A"/>
                </a:solidFill>
                <a:latin typeface="Segoe UI"/>
              </a:rPr>
              <a:t>Guardian Box detects anomaly ⚠</a:t>
            </a:r>
          </a:p>
        </p:txBody>
      </p:sp>
      <p:sp>
        <p:nvSpPr>
          <p:cNvPr id="14" name="TextBox 13"/>
          <p:cNvSpPr txBox="1"/>
          <p:nvPr/>
        </p:nvSpPr>
        <p:spPr>
          <a:xfrm>
            <a:off x="5852160" y="1984248"/>
            <a:ext cx="822960" cy="256032"/>
          </a:xfrm>
          <a:prstGeom prst="rect">
            <a:avLst/>
          </a:prstGeom>
          <a:noFill/>
        </p:spPr>
        <p:txBody>
          <a:bodyPr wrap="square">
            <a:spAutoFit/>
          </a:bodyPr>
          <a:lstStyle/>
          <a:p>
            <a:pPr algn="r"/>
            <a:r>
              <a:rPr sz="900" b="0" i="0">
                <a:solidFill>
                  <a:srgbClr val="FF9F0A"/>
                </a:solidFill>
                <a:latin typeface="Segoe UI"/>
              </a:rPr>
              <a:t>2 min</a:t>
            </a:r>
          </a:p>
        </p:txBody>
      </p:sp>
      <p:sp>
        <p:nvSpPr>
          <p:cNvPr id="15" name="Rectangle 14"/>
          <p:cNvSpPr/>
          <p:nvPr/>
        </p:nvSpPr>
        <p:spPr>
          <a:xfrm>
            <a:off x="365760" y="2468879"/>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05456"/>
            <a:ext cx="1280160" cy="256032"/>
          </a:xfrm>
          <a:prstGeom prst="rect">
            <a:avLst/>
          </a:prstGeom>
          <a:noFill/>
        </p:spPr>
        <p:txBody>
          <a:bodyPr wrap="square">
            <a:spAutoFit/>
          </a:bodyPr>
          <a:lstStyle/>
          <a:p>
            <a:pPr algn="l"/>
            <a:r>
              <a:rPr sz="900" b="0" i="0">
                <a:solidFill>
                  <a:srgbClr val="555555"/>
                </a:solidFill>
                <a:latin typeface="Segoe UI"/>
              </a:rPr>
              <a:t>6:50 AM</a:t>
            </a:r>
          </a:p>
        </p:txBody>
      </p:sp>
      <p:sp>
        <p:nvSpPr>
          <p:cNvPr id="17" name="TextBox 16"/>
          <p:cNvSpPr txBox="1"/>
          <p:nvPr/>
        </p:nvSpPr>
        <p:spPr>
          <a:xfrm>
            <a:off x="1828800" y="2505456"/>
            <a:ext cx="3931920" cy="292608"/>
          </a:xfrm>
          <a:prstGeom prst="rect">
            <a:avLst/>
          </a:prstGeom>
          <a:noFill/>
        </p:spPr>
        <p:txBody>
          <a:bodyPr wrap="square">
            <a:spAutoFit/>
          </a:bodyPr>
          <a:lstStyle/>
          <a:p>
            <a:pPr algn="l"/>
            <a:r>
              <a:rPr sz="1000" b="0" i="0">
                <a:solidFill>
                  <a:srgbClr val="FF9F0A"/>
                </a:solidFill>
                <a:latin typeface="Segoe UI"/>
              </a:rPr>
              <a:t>Carlos (Tech) receives full alert 📱</a:t>
            </a:r>
          </a:p>
        </p:txBody>
      </p:sp>
      <p:sp>
        <p:nvSpPr>
          <p:cNvPr id="18" name="TextBox 17"/>
          <p:cNvSpPr txBox="1"/>
          <p:nvPr/>
        </p:nvSpPr>
        <p:spPr>
          <a:xfrm>
            <a:off x="5852160" y="2505456"/>
            <a:ext cx="822960" cy="256032"/>
          </a:xfrm>
          <a:prstGeom prst="rect">
            <a:avLst/>
          </a:prstGeom>
          <a:noFill/>
        </p:spPr>
        <p:txBody>
          <a:bodyPr wrap="square">
            <a:spAutoFit/>
          </a:bodyPr>
          <a:lstStyle/>
          <a:p>
            <a:pPr algn="r"/>
            <a:r>
              <a:rPr sz="900" b="0" i="0">
                <a:solidFill>
                  <a:srgbClr val="FF9F0A"/>
                </a:solidFill>
                <a:latin typeface="Segoe UI"/>
              </a:rPr>
              <a:t>3 min</a:t>
            </a:r>
          </a:p>
        </p:txBody>
      </p:sp>
      <p:sp>
        <p:nvSpPr>
          <p:cNvPr id="19" name="Rectangle 18"/>
          <p:cNvSpPr/>
          <p:nvPr/>
        </p:nvSpPr>
        <p:spPr>
          <a:xfrm>
            <a:off x="365760" y="2990088"/>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026664"/>
            <a:ext cx="1280160" cy="256032"/>
          </a:xfrm>
          <a:prstGeom prst="rect">
            <a:avLst/>
          </a:prstGeom>
          <a:noFill/>
        </p:spPr>
        <p:txBody>
          <a:bodyPr wrap="square">
            <a:spAutoFit/>
          </a:bodyPr>
          <a:lstStyle/>
          <a:p>
            <a:pPr algn="l"/>
            <a:r>
              <a:rPr sz="900" b="0" i="0">
                <a:solidFill>
                  <a:srgbClr val="555555"/>
                </a:solidFill>
                <a:latin typeface="Segoe UI"/>
              </a:rPr>
              <a:t>6:52 AM</a:t>
            </a:r>
          </a:p>
        </p:txBody>
      </p:sp>
      <p:sp>
        <p:nvSpPr>
          <p:cNvPr id="21" name="TextBox 20"/>
          <p:cNvSpPr txBox="1"/>
          <p:nvPr/>
        </p:nvSpPr>
        <p:spPr>
          <a:xfrm>
            <a:off x="1828800" y="3026664"/>
            <a:ext cx="3931920" cy="292608"/>
          </a:xfrm>
          <a:prstGeom prst="rect">
            <a:avLst/>
          </a:prstGeom>
          <a:noFill/>
        </p:spPr>
        <p:txBody>
          <a:bodyPr wrap="square">
            <a:spAutoFit/>
          </a:bodyPr>
          <a:lstStyle/>
          <a:p>
            <a:pPr algn="l"/>
            <a:r>
              <a:rPr sz="1000" b="0" i="0">
                <a:solidFill>
                  <a:srgbClr val="0A84FF"/>
                </a:solidFill>
                <a:latin typeface="Segoe UI"/>
              </a:rPr>
              <a:t>Maria (Supervisor) reviews dashboard 🖥</a:t>
            </a:r>
          </a:p>
        </p:txBody>
      </p:sp>
      <p:sp>
        <p:nvSpPr>
          <p:cNvPr id="22" name="TextBox 21"/>
          <p:cNvSpPr txBox="1"/>
          <p:nvPr/>
        </p:nvSpPr>
        <p:spPr>
          <a:xfrm>
            <a:off x="5852160" y="3026664"/>
            <a:ext cx="822960" cy="256032"/>
          </a:xfrm>
          <a:prstGeom prst="rect">
            <a:avLst/>
          </a:prstGeom>
          <a:noFill/>
        </p:spPr>
        <p:txBody>
          <a:bodyPr wrap="square">
            <a:spAutoFit/>
          </a:bodyPr>
          <a:lstStyle/>
          <a:p>
            <a:pPr algn="r"/>
            <a:r>
              <a:rPr sz="900" b="0" i="0">
                <a:solidFill>
                  <a:srgbClr val="0A84FF"/>
                </a:solidFill>
                <a:latin typeface="Segoe UI"/>
              </a:rPr>
              <a:t>5 min</a:t>
            </a:r>
          </a:p>
        </p:txBody>
      </p:sp>
      <p:sp>
        <p:nvSpPr>
          <p:cNvPr id="23" name="Rectangle 22"/>
          <p:cNvSpPr/>
          <p:nvPr/>
        </p:nvSpPr>
        <p:spPr>
          <a:xfrm>
            <a:off x="365760" y="3511296"/>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547872"/>
            <a:ext cx="1280160" cy="256032"/>
          </a:xfrm>
          <a:prstGeom prst="rect">
            <a:avLst/>
          </a:prstGeom>
          <a:noFill/>
        </p:spPr>
        <p:txBody>
          <a:bodyPr wrap="square">
            <a:spAutoFit/>
          </a:bodyPr>
          <a:lstStyle/>
          <a:p>
            <a:pPr algn="l"/>
            <a:r>
              <a:rPr sz="900" b="0" i="0">
                <a:solidFill>
                  <a:srgbClr val="555555"/>
                </a:solidFill>
                <a:latin typeface="Segoe UI"/>
              </a:rPr>
              <a:t>6:55 AM</a:t>
            </a:r>
          </a:p>
        </p:txBody>
      </p:sp>
      <p:sp>
        <p:nvSpPr>
          <p:cNvPr id="25" name="TextBox 24"/>
          <p:cNvSpPr txBox="1"/>
          <p:nvPr/>
        </p:nvSpPr>
        <p:spPr>
          <a:xfrm>
            <a:off x="1828800" y="3547872"/>
            <a:ext cx="3931920" cy="292608"/>
          </a:xfrm>
          <a:prstGeom prst="rect">
            <a:avLst/>
          </a:prstGeom>
          <a:noFill/>
        </p:spPr>
        <p:txBody>
          <a:bodyPr wrap="square">
            <a:spAutoFit/>
          </a:bodyPr>
          <a:lstStyle/>
          <a:p>
            <a:pPr algn="l"/>
            <a:r>
              <a:rPr sz="1000" b="0" i="0">
                <a:solidFill>
                  <a:srgbClr val="0A84FF"/>
                </a:solidFill>
                <a:latin typeface="Segoe UI"/>
              </a:rPr>
              <a:t>Parts pre-ordered from inventory 📦</a:t>
            </a:r>
          </a:p>
        </p:txBody>
      </p:sp>
      <p:sp>
        <p:nvSpPr>
          <p:cNvPr id="26" name="TextBox 25"/>
          <p:cNvSpPr txBox="1"/>
          <p:nvPr/>
        </p:nvSpPr>
        <p:spPr>
          <a:xfrm>
            <a:off x="5852160" y="3547872"/>
            <a:ext cx="822960" cy="256032"/>
          </a:xfrm>
          <a:prstGeom prst="rect">
            <a:avLst/>
          </a:prstGeom>
          <a:noFill/>
        </p:spPr>
        <p:txBody>
          <a:bodyPr wrap="square">
            <a:spAutoFit/>
          </a:bodyPr>
          <a:lstStyle/>
          <a:p>
            <a:pPr algn="r"/>
            <a:r>
              <a:rPr sz="900" b="0" i="0">
                <a:solidFill>
                  <a:srgbClr val="0A84FF"/>
                </a:solidFill>
                <a:latin typeface="Segoe UI"/>
              </a:rPr>
              <a:t>8 min</a:t>
            </a:r>
          </a:p>
        </p:txBody>
      </p:sp>
      <p:sp>
        <p:nvSpPr>
          <p:cNvPr id="27" name="Rectangle 26"/>
          <p:cNvSpPr/>
          <p:nvPr/>
        </p:nvSpPr>
        <p:spPr>
          <a:xfrm>
            <a:off x="365760" y="4032503"/>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4069079"/>
            <a:ext cx="1280160" cy="256032"/>
          </a:xfrm>
          <a:prstGeom prst="rect">
            <a:avLst/>
          </a:prstGeom>
          <a:noFill/>
        </p:spPr>
        <p:txBody>
          <a:bodyPr wrap="square">
            <a:spAutoFit/>
          </a:bodyPr>
          <a:lstStyle/>
          <a:p>
            <a:pPr algn="l"/>
            <a:r>
              <a:rPr sz="900" b="0" i="0">
                <a:solidFill>
                  <a:srgbClr val="555555"/>
                </a:solidFill>
                <a:latin typeface="Segoe UI"/>
              </a:rPr>
              <a:t>7:00 AM</a:t>
            </a:r>
          </a:p>
        </p:txBody>
      </p:sp>
      <p:sp>
        <p:nvSpPr>
          <p:cNvPr id="29" name="TextBox 28"/>
          <p:cNvSpPr txBox="1"/>
          <p:nvPr/>
        </p:nvSpPr>
        <p:spPr>
          <a:xfrm>
            <a:off x="1828800" y="4069079"/>
            <a:ext cx="3931920" cy="292608"/>
          </a:xfrm>
          <a:prstGeom prst="rect">
            <a:avLst/>
          </a:prstGeom>
          <a:noFill/>
        </p:spPr>
        <p:txBody>
          <a:bodyPr wrap="square">
            <a:spAutoFit/>
          </a:bodyPr>
          <a:lstStyle/>
          <a:p>
            <a:pPr algn="l"/>
            <a:r>
              <a:rPr sz="1000" b="0" i="0">
                <a:solidFill>
                  <a:srgbClr val="30D158"/>
                </a:solidFill>
                <a:latin typeface="Segoe UI"/>
              </a:rPr>
              <a:t>Operator briefed on R-47 status 👤</a:t>
            </a:r>
          </a:p>
        </p:txBody>
      </p:sp>
      <p:sp>
        <p:nvSpPr>
          <p:cNvPr id="30" name="TextBox 29"/>
          <p:cNvSpPr txBox="1"/>
          <p:nvPr/>
        </p:nvSpPr>
        <p:spPr>
          <a:xfrm>
            <a:off x="5852160" y="4069079"/>
            <a:ext cx="822960" cy="256032"/>
          </a:xfrm>
          <a:prstGeom prst="rect">
            <a:avLst/>
          </a:prstGeom>
          <a:noFill/>
        </p:spPr>
        <p:txBody>
          <a:bodyPr wrap="square">
            <a:spAutoFit/>
          </a:bodyPr>
          <a:lstStyle/>
          <a:p>
            <a:pPr algn="r"/>
            <a:r>
              <a:rPr sz="900" b="0" i="0">
                <a:solidFill>
                  <a:srgbClr val="30D158"/>
                </a:solidFill>
                <a:latin typeface="Segoe UI"/>
              </a:rPr>
              <a:t>13 min</a:t>
            </a:r>
          </a:p>
        </p:txBody>
      </p:sp>
      <p:sp>
        <p:nvSpPr>
          <p:cNvPr id="31" name="Rectangle 30"/>
          <p:cNvSpPr/>
          <p:nvPr/>
        </p:nvSpPr>
        <p:spPr>
          <a:xfrm>
            <a:off x="365760" y="4553712"/>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590288"/>
            <a:ext cx="1280160" cy="256032"/>
          </a:xfrm>
          <a:prstGeom prst="rect">
            <a:avLst/>
          </a:prstGeom>
          <a:noFill/>
        </p:spPr>
        <p:txBody>
          <a:bodyPr wrap="square">
            <a:spAutoFit/>
          </a:bodyPr>
          <a:lstStyle/>
          <a:p>
            <a:pPr algn="l"/>
            <a:r>
              <a:rPr sz="900" b="0" i="0">
                <a:solidFill>
                  <a:srgbClr val="555555"/>
                </a:solidFill>
                <a:latin typeface="Segoe UI"/>
              </a:rPr>
              <a:t>7:01 AM</a:t>
            </a:r>
          </a:p>
        </p:txBody>
      </p:sp>
      <p:sp>
        <p:nvSpPr>
          <p:cNvPr id="33" name="TextBox 32"/>
          <p:cNvSpPr txBox="1"/>
          <p:nvPr/>
        </p:nvSpPr>
        <p:spPr>
          <a:xfrm>
            <a:off x="1828800" y="4590288"/>
            <a:ext cx="3931920" cy="292608"/>
          </a:xfrm>
          <a:prstGeom prst="rect">
            <a:avLst/>
          </a:prstGeom>
          <a:noFill/>
        </p:spPr>
        <p:txBody>
          <a:bodyPr wrap="square">
            <a:spAutoFit/>
          </a:bodyPr>
          <a:lstStyle/>
          <a:p>
            <a:pPr algn="l"/>
            <a:r>
              <a:rPr sz="1000" b="1" i="0">
                <a:solidFill>
                  <a:srgbClr val="30D158"/>
                </a:solidFill>
                <a:latin typeface="Segoe UI"/>
              </a:rPr>
              <a:t>Line continues running normally ✅</a:t>
            </a:r>
          </a:p>
        </p:txBody>
      </p:sp>
      <p:sp>
        <p:nvSpPr>
          <p:cNvPr id="34" name="TextBox 33"/>
          <p:cNvSpPr txBox="1"/>
          <p:nvPr/>
        </p:nvSpPr>
        <p:spPr>
          <a:xfrm>
            <a:off x="5852160" y="4590288"/>
            <a:ext cx="822960" cy="256032"/>
          </a:xfrm>
          <a:prstGeom prst="rect">
            <a:avLst/>
          </a:prstGeom>
          <a:noFill/>
        </p:spPr>
        <p:txBody>
          <a:bodyPr wrap="square">
            <a:spAutoFit/>
          </a:bodyPr>
          <a:lstStyle/>
          <a:p>
            <a:pPr algn="r"/>
            <a:r>
              <a:rPr sz="900" b="0" i="0">
                <a:solidFill>
                  <a:srgbClr val="30D158"/>
                </a:solidFill>
                <a:latin typeface="Segoe UI"/>
              </a:rPr>
              <a:t>—</a:t>
            </a:r>
          </a:p>
        </p:txBody>
      </p:sp>
      <p:sp>
        <p:nvSpPr>
          <p:cNvPr id="35" name="Rectangle 34"/>
          <p:cNvSpPr/>
          <p:nvPr/>
        </p:nvSpPr>
        <p:spPr>
          <a:xfrm>
            <a:off x="365760" y="5074920"/>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5111496"/>
            <a:ext cx="1280160" cy="256032"/>
          </a:xfrm>
          <a:prstGeom prst="rect">
            <a:avLst/>
          </a:prstGeom>
          <a:noFill/>
        </p:spPr>
        <p:txBody>
          <a:bodyPr wrap="square">
            <a:spAutoFit/>
          </a:bodyPr>
          <a:lstStyle/>
          <a:p>
            <a:pPr algn="l"/>
            <a:r>
              <a:rPr sz="900" b="0" i="0">
                <a:solidFill>
                  <a:srgbClr val="555555"/>
                </a:solidFill>
                <a:latin typeface="Segoe UI"/>
              </a:rPr>
              <a:t>10:30 AM</a:t>
            </a:r>
          </a:p>
        </p:txBody>
      </p:sp>
      <p:sp>
        <p:nvSpPr>
          <p:cNvPr id="37" name="TextBox 36"/>
          <p:cNvSpPr txBox="1"/>
          <p:nvPr/>
        </p:nvSpPr>
        <p:spPr>
          <a:xfrm>
            <a:off x="1828800" y="5111496"/>
            <a:ext cx="3931920" cy="292608"/>
          </a:xfrm>
          <a:prstGeom prst="rect">
            <a:avLst/>
          </a:prstGeom>
          <a:noFill/>
        </p:spPr>
        <p:txBody>
          <a:bodyPr wrap="square">
            <a:spAutoFit/>
          </a:bodyPr>
          <a:lstStyle/>
          <a:p>
            <a:pPr algn="l"/>
            <a:r>
              <a:rPr sz="1000" b="0" i="0">
                <a:solidFill>
                  <a:srgbClr val="888888"/>
                </a:solidFill>
                <a:latin typeface="Segoe UI"/>
              </a:rPr>
              <a:t>Scheduled break begins 🛑</a:t>
            </a:r>
          </a:p>
        </p:txBody>
      </p:sp>
      <p:sp>
        <p:nvSpPr>
          <p:cNvPr id="38" name="TextBox 37"/>
          <p:cNvSpPr txBox="1"/>
          <p:nvPr/>
        </p:nvSpPr>
        <p:spPr>
          <a:xfrm>
            <a:off x="5852160" y="5111496"/>
            <a:ext cx="822960" cy="256032"/>
          </a:xfrm>
          <a:prstGeom prst="rect">
            <a:avLst/>
          </a:prstGeom>
          <a:noFill/>
        </p:spPr>
        <p:txBody>
          <a:bodyPr wrap="square">
            <a:spAutoFit/>
          </a:bodyPr>
          <a:lstStyle/>
          <a:p>
            <a:pPr algn="r"/>
            <a:r>
              <a:rPr sz="900" b="0" i="0">
                <a:solidFill>
                  <a:srgbClr val="888888"/>
                </a:solidFill>
                <a:latin typeface="Segoe UI"/>
              </a:rPr>
              <a:t>—</a:t>
            </a:r>
          </a:p>
        </p:txBody>
      </p:sp>
      <p:sp>
        <p:nvSpPr>
          <p:cNvPr id="39" name="Rectangle 38"/>
          <p:cNvSpPr/>
          <p:nvPr/>
        </p:nvSpPr>
        <p:spPr>
          <a:xfrm>
            <a:off x="6400800" y="1426464"/>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1463040"/>
            <a:ext cx="1280160" cy="256032"/>
          </a:xfrm>
          <a:prstGeom prst="rect">
            <a:avLst/>
          </a:prstGeom>
          <a:noFill/>
        </p:spPr>
        <p:txBody>
          <a:bodyPr wrap="square">
            <a:spAutoFit/>
          </a:bodyPr>
          <a:lstStyle/>
          <a:p>
            <a:pPr algn="l"/>
            <a:r>
              <a:rPr sz="900" b="0" i="0">
                <a:solidFill>
                  <a:srgbClr val="555555"/>
                </a:solidFill>
                <a:latin typeface="Segoe UI"/>
              </a:rPr>
              <a:t>10:30 AM</a:t>
            </a:r>
          </a:p>
        </p:txBody>
      </p:sp>
      <p:sp>
        <p:nvSpPr>
          <p:cNvPr id="41" name="TextBox 40"/>
          <p:cNvSpPr txBox="1"/>
          <p:nvPr/>
        </p:nvSpPr>
        <p:spPr>
          <a:xfrm>
            <a:off x="7863840" y="1463040"/>
            <a:ext cx="3931920" cy="292608"/>
          </a:xfrm>
          <a:prstGeom prst="rect">
            <a:avLst/>
          </a:prstGeom>
          <a:noFill/>
        </p:spPr>
        <p:txBody>
          <a:bodyPr wrap="square">
            <a:spAutoFit/>
          </a:bodyPr>
          <a:lstStyle/>
          <a:p>
            <a:pPr algn="l"/>
            <a:r>
              <a:rPr sz="1000" b="0" i="0">
                <a:solidFill>
                  <a:srgbClr val="888888"/>
                </a:solidFill>
                <a:latin typeface="Segoe UI"/>
              </a:rPr>
              <a:t>Scheduled break begins 🛑</a:t>
            </a:r>
          </a:p>
        </p:txBody>
      </p:sp>
      <p:sp>
        <p:nvSpPr>
          <p:cNvPr id="42" name="TextBox 41"/>
          <p:cNvSpPr txBox="1"/>
          <p:nvPr/>
        </p:nvSpPr>
        <p:spPr>
          <a:xfrm>
            <a:off x="11795760" y="1463040"/>
            <a:ext cx="822960" cy="256032"/>
          </a:xfrm>
          <a:prstGeom prst="rect">
            <a:avLst/>
          </a:prstGeom>
          <a:noFill/>
        </p:spPr>
        <p:txBody>
          <a:bodyPr wrap="square">
            <a:spAutoFit/>
          </a:bodyPr>
          <a:lstStyle/>
          <a:p>
            <a:pPr algn="r"/>
            <a:r>
              <a:rPr sz="900" b="0" i="0">
                <a:solidFill>
                  <a:srgbClr val="888888"/>
                </a:solidFill>
                <a:latin typeface="Segoe UI"/>
              </a:rPr>
              <a:t>—</a:t>
            </a:r>
          </a:p>
        </p:txBody>
      </p:sp>
      <p:sp>
        <p:nvSpPr>
          <p:cNvPr id="43" name="Rectangle 42"/>
          <p:cNvSpPr/>
          <p:nvPr/>
        </p:nvSpPr>
        <p:spPr>
          <a:xfrm>
            <a:off x="6400800" y="1947672"/>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1984248"/>
            <a:ext cx="1280160" cy="256032"/>
          </a:xfrm>
          <a:prstGeom prst="rect">
            <a:avLst/>
          </a:prstGeom>
          <a:noFill/>
        </p:spPr>
        <p:txBody>
          <a:bodyPr wrap="square">
            <a:spAutoFit/>
          </a:bodyPr>
          <a:lstStyle/>
          <a:p>
            <a:pPr algn="l"/>
            <a:r>
              <a:rPr sz="900" b="0" i="0">
                <a:solidFill>
                  <a:srgbClr val="555555"/>
                </a:solidFill>
                <a:latin typeface="Segoe UI"/>
              </a:rPr>
              <a:t>10:31 AM</a:t>
            </a:r>
          </a:p>
        </p:txBody>
      </p:sp>
      <p:sp>
        <p:nvSpPr>
          <p:cNvPr id="45" name="TextBox 44"/>
          <p:cNvSpPr txBox="1"/>
          <p:nvPr/>
        </p:nvSpPr>
        <p:spPr>
          <a:xfrm>
            <a:off x="7863840" y="1984248"/>
            <a:ext cx="3931920" cy="292608"/>
          </a:xfrm>
          <a:prstGeom prst="rect">
            <a:avLst/>
          </a:prstGeom>
          <a:noFill/>
        </p:spPr>
        <p:txBody>
          <a:bodyPr wrap="square">
            <a:spAutoFit/>
          </a:bodyPr>
          <a:lstStyle/>
          <a:p>
            <a:pPr algn="l"/>
            <a:r>
              <a:rPr sz="1000" b="1" i="0">
                <a:solidFill>
                  <a:srgbClr val="30D158"/>
                </a:solidFill>
                <a:latin typeface="Segoe UI"/>
              </a:rPr>
              <a:t>Carlos begins maintenance ✅</a:t>
            </a:r>
          </a:p>
        </p:txBody>
      </p:sp>
      <p:sp>
        <p:nvSpPr>
          <p:cNvPr id="46" name="TextBox 45"/>
          <p:cNvSpPr txBox="1"/>
          <p:nvPr/>
        </p:nvSpPr>
        <p:spPr>
          <a:xfrm>
            <a:off x="11795760" y="1984248"/>
            <a:ext cx="822960" cy="256032"/>
          </a:xfrm>
          <a:prstGeom prst="rect">
            <a:avLst/>
          </a:prstGeom>
          <a:noFill/>
        </p:spPr>
        <p:txBody>
          <a:bodyPr wrap="square">
            <a:spAutoFit/>
          </a:bodyPr>
          <a:lstStyle/>
          <a:p>
            <a:pPr algn="r"/>
            <a:r>
              <a:rPr sz="900" b="0" i="0">
                <a:solidFill>
                  <a:srgbClr val="30D158"/>
                </a:solidFill>
                <a:latin typeface="Segoe UI"/>
              </a:rPr>
              <a:t>1 min in</a:t>
            </a:r>
          </a:p>
        </p:txBody>
      </p:sp>
      <p:sp>
        <p:nvSpPr>
          <p:cNvPr id="47" name="Rectangle 46"/>
          <p:cNvSpPr/>
          <p:nvPr/>
        </p:nvSpPr>
        <p:spPr>
          <a:xfrm>
            <a:off x="6400800" y="2468879"/>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92240" y="2505456"/>
            <a:ext cx="1280160" cy="256032"/>
          </a:xfrm>
          <a:prstGeom prst="rect">
            <a:avLst/>
          </a:prstGeom>
          <a:noFill/>
        </p:spPr>
        <p:txBody>
          <a:bodyPr wrap="square">
            <a:spAutoFit/>
          </a:bodyPr>
          <a:lstStyle/>
          <a:p>
            <a:pPr algn="l"/>
            <a:r>
              <a:rPr sz="900" b="0" i="0">
                <a:solidFill>
                  <a:srgbClr val="555555"/>
                </a:solidFill>
                <a:latin typeface="Segoe UI"/>
              </a:rPr>
              <a:t>10:33 AM</a:t>
            </a:r>
          </a:p>
        </p:txBody>
      </p:sp>
      <p:sp>
        <p:nvSpPr>
          <p:cNvPr id="49" name="TextBox 48"/>
          <p:cNvSpPr txBox="1"/>
          <p:nvPr/>
        </p:nvSpPr>
        <p:spPr>
          <a:xfrm>
            <a:off x="7863840" y="2505456"/>
            <a:ext cx="3931920" cy="292608"/>
          </a:xfrm>
          <a:prstGeom prst="rect">
            <a:avLst/>
          </a:prstGeom>
          <a:noFill/>
        </p:spPr>
        <p:txBody>
          <a:bodyPr wrap="square">
            <a:spAutoFit/>
          </a:bodyPr>
          <a:lstStyle/>
          <a:p>
            <a:pPr algn="l"/>
            <a:r>
              <a:rPr sz="1000" b="1" i="0">
                <a:solidFill>
                  <a:srgbClr val="30D158"/>
                </a:solidFill>
                <a:latin typeface="Segoe UI"/>
              </a:rPr>
              <a:t>Lubrication flushed &amp; replaced ✅</a:t>
            </a:r>
          </a:p>
        </p:txBody>
      </p:sp>
      <p:sp>
        <p:nvSpPr>
          <p:cNvPr id="50" name="TextBox 49"/>
          <p:cNvSpPr txBox="1"/>
          <p:nvPr/>
        </p:nvSpPr>
        <p:spPr>
          <a:xfrm>
            <a:off x="11795760" y="2505456"/>
            <a:ext cx="822960" cy="256032"/>
          </a:xfrm>
          <a:prstGeom prst="rect">
            <a:avLst/>
          </a:prstGeom>
          <a:noFill/>
        </p:spPr>
        <p:txBody>
          <a:bodyPr wrap="square">
            <a:spAutoFit/>
          </a:bodyPr>
          <a:lstStyle/>
          <a:p>
            <a:pPr algn="r"/>
            <a:r>
              <a:rPr sz="900" b="0" i="0">
                <a:solidFill>
                  <a:srgbClr val="30D158"/>
                </a:solidFill>
                <a:latin typeface="Segoe UI"/>
              </a:rPr>
              <a:t>3 min in</a:t>
            </a:r>
          </a:p>
        </p:txBody>
      </p:sp>
      <p:sp>
        <p:nvSpPr>
          <p:cNvPr id="51" name="Rectangle 50"/>
          <p:cNvSpPr/>
          <p:nvPr/>
        </p:nvSpPr>
        <p:spPr>
          <a:xfrm>
            <a:off x="6400800" y="2990088"/>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3026664"/>
            <a:ext cx="1280160" cy="256032"/>
          </a:xfrm>
          <a:prstGeom prst="rect">
            <a:avLst/>
          </a:prstGeom>
          <a:noFill/>
        </p:spPr>
        <p:txBody>
          <a:bodyPr wrap="square">
            <a:spAutoFit/>
          </a:bodyPr>
          <a:lstStyle/>
          <a:p>
            <a:pPr algn="l"/>
            <a:r>
              <a:rPr sz="900" b="0" i="0">
                <a:solidFill>
                  <a:srgbClr val="555555"/>
                </a:solidFill>
                <a:latin typeface="Segoe UI"/>
              </a:rPr>
              <a:t>10:38 AM</a:t>
            </a:r>
          </a:p>
        </p:txBody>
      </p:sp>
      <p:sp>
        <p:nvSpPr>
          <p:cNvPr id="53" name="TextBox 52"/>
          <p:cNvSpPr txBox="1"/>
          <p:nvPr/>
        </p:nvSpPr>
        <p:spPr>
          <a:xfrm>
            <a:off x="7863840" y="3026664"/>
            <a:ext cx="3931920" cy="292608"/>
          </a:xfrm>
          <a:prstGeom prst="rect">
            <a:avLst/>
          </a:prstGeom>
          <a:noFill/>
        </p:spPr>
        <p:txBody>
          <a:bodyPr wrap="square">
            <a:spAutoFit/>
          </a:bodyPr>
          <a:lstStyle/>
          <a:p>
            <a:pPr algn="l"/>
            <a:r>
              <a:rPr sz="1000" b="1" i="0">
                <a:solidFill>
                  <a:srgbClr val="30D158"/>
                </a:solidFill>
                <a:latin typeface="Segoe UI"/>
              </a:rPr>
              <a:t>Bearing inspected &amp; cleared ✅</a:t>
            </a:r>
          </a:p>
        </p:txBody>
      </p:sp>
      <p:sp>
        <p:nvSpPr>
          <p:cNvPr id="54" name="TextBox 53"/>
          <p:cNvSpPr txBox="1"/>
          <p:nvPr/>
        </p:nvSpPr>
        <p:spPr>
          <a:xfrm>
            <a:off x="11795760" y="3026664"/>
            <a:ext cx="822960" cy="256032"/>
          </a:xfrm>
          <a:prstGeom prst="rect">
            <a:avLst/>
          </a:prstGeom>
          <a:noFill/>
        </p:spPr>
        <p:txBody>
          <a:bodyPr wrap="square">
            <a:spAutoFit/>
          </a:bodyPr>
          <a:lstStyle/>
          <a:p>
            <a:pPr algn="r"/>
            <a:r>
              <a:rPr sz="900" b="0" i="0">
                <a:solidFill>
                  <a:srgbClr val="30D158"/>
                </a:solidFill>
                <a:latin typeface="Segoe UI"/>
              </a:rPr>
              <a:t>8 min in</a:t>
            </a:r>
          </a:p>
        </p:txBody>
      </p:sp>
      <p:sp>
        <p:nvSpPr>
          <p:cNvPr id="55" name="Rectangle 54"/>
          <p:cNvSpPr/>
          <p:nvPr/>
        </p:nvSpPr>
        <p:spPr>
          <a:xfrm>
            <a:off x="6400800" y="3511296"/>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92240" y="3547872"/>
            <a:ext cx="1280160" cy="256032"/>
          </a:xfrm>
          <a:prstGeom prst="rect">
            <a:avLst/>
          </a:prstGeom>
          <a:noFill/>
        </p:spPr>
        <p:txBody>
          <a:bodyPr wrap="square">
            <a:spAutoFit/>
          </a:bodyPr>
          <a:lstStyle/>
          <a:p>
            <a:pPr algn="l"/>
            <a:r>
              <a:rPr sz="900" b="0" i="0">
                <a:solidFill>
                  <a:srgbClr val="555555"/>
                </a:solidFill>
                <a:latin typeface="Segoe UI"/>
              </a:rPr>
              <a:t>10:42 AM</a:t>
            </a:r>
          </a:p>
        </p:txBody>
      </p:sp>
      <p:sp>
        <p:nvSpPr>
          <p:cNvPr id="57" name="TextBox 56"/>
          <p:cNvSpPr txBox="1"/>
          <p:nvPr/>
        </p:nvSpPr>
        <p:spPr>
          <a:xfrm>
            <a:off x="7863840" y="3547872"/>
            <a:ext cx="3931920" cy="292608"/>
          </a:xfrm>
          <a:prstGeom prst="rect">
            <a:avLst/>
          </a:prstGeom>
          <a:noFill/>
        </p:spPr>
        <p:txBody>
          <a:bodyPr wrap="square">
            <a:spAutoFit/>
          </a:bodyPr>
          <a:lstStyle/>
          <a:p>
            <a:pPr algn="l"/>
            <a:r>
              <a:rPr sz="1000" b="1" i="0">
                <a:solidFill>
                  <a:srgbClr val="30D158"/>
                </a:solidFill>
                <a:latin typeface="Segoe UI"/>
              </a:rPr>
              <a:t>Coolant replaced ✅</a:t>
            </a:r>
          </a:p>
        </p:txBody>
      </p:sp>
      <p:sp>
        <p:nvSpPr>
          <p:cNvPr id="58" name="TextBox 57"/>
          <p:cNvSpPr txBox="1"/>
          <p:nvPr/>
        </p:nvSpPr>
        <p:spPr>
          <a:xfrm>
            <a:off x="11795760" y="3547872"/>
            <a:ext cx="822960" cy="256032"/>
          </a:xfrm>
          <a:prstGeom prst="rect">
            <a:avLst/>
          </a:prstGeom>
          <a:noFill/>
        </p:spPr>
        <p:txBody>
          <a:bodyPr wrap="square">
            <a:spAutoFit/>
          </a:bodyPr>
          <a:lstStyle/>
          <a:p>
            <a:pPr algn="r"/>
            <a:r>
              <a:rPr sz="900" b="0" i="0">
                <a:solidFill>
                  <a:srgbClr val="30D158"/>
                </a:solidFill>
                <a:latin typeface="Segoe UI"/>
              </a:rPr>
              <a:t>12 min in</a:t>
            </a:r>
          </a:p>
        </p:txBody>
      </p:sp>
      <p:sp>
        <p:nvSpPr>
          <p:cNvPr id="59" name="Rectangle 58"/>
          <p:cNvSpPr/>
          <p:nvPr/>
        </p:nvSpPr>
        <p:spPr>
          <a:xfrm>
            <a:off x="6400800" y="4032503"/>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4069079"/>
            <a:ext cx="1280160" cy="256032"/>
          </a:xfrm>
          <a:prstGeom prst="rect">
            <a:avLst/>
          </a:prstGeom>
          <a:noFill/>
        </p:spPr>
        <p:txBody>
          <a:bodyPr wrap="square">
            <a:spAutoFit/>
          </a:bodyPr>
          <a:lstStyle/>
          <a:p>
            <a:pPr algn="l"/>
            <a:r>
              <a:rPr sz="900" b="0" i="0">
                <a:solidFill>
                  <a:srgbClr val="555555"/>
                </a:solidFill>
                <a:latin typeface="Segoe UI"/>
              </a:rPr>
              <a:t>10:47 AM</a:t>
            </a:r>
          </a:p>
        </p:txBody>
      </p:sp>
      <p:sp>
        <p:nvSpPr>
          <p:cNvPr id="61" name="TextBox 60"/>
          <p:cNvSpPr txBox="1"/>
          <p:nvPr/>
        </p:nvSpPr>
        <p:spPr>
          <a:xfrm>
            <a:off x="7863840" y="4069079"/>
            <a:ext cx="3931920" cy="292608"/>
          </a:xfrm>
          <a:prstGeom prst="rect">
            <a:avLst/>
          </a:prstGeom>
          <a:noFill/>
        </p:spPr>
        <p:txBody>
          <a:bodyPr wrap="square">
            <a:spAutoFit/>
          </a:bodyPr>
          <a:lstStyle/>
          <a:p>
            <a:pPr algn="l"/>
            <a:r>
              <a:rPr sz="1000" b="1" i="0">
                <a:solidFill>
                  <a:srgbClr val="30D158"/>
                </a:solidFill>
                <a:latin typeface="Segoe UI"/>
              </a:rPr>
              <a:t>Test cycle complete ✅</a:t>
            </a:r>
          </a:p>
        </p:txBody>
      </p:sp>
      <p:sp>
        <p:nvSpPr>
          <p:cNvPr id="62" name="TextBox 61"/>
          <p:cNvSpPr txBox="1"/>
          <p:nvPr/>
        </p:nvSpPr>
        <p:spPr>
          <a:xfrm>
            <a:off x="11795760" y="4069079"/>
            <a:ext cx="822960" cy="256032"/>
          </a:xfrm>
          <a:prstGeom prst="rect">
            <a:avLst/>
          </a:prstGeom>
          <a:noFill/>
        </p:spPr>
        <p:txBody>
          <a:bodyPr wrap="square">
            <a:spAutoFit/>
          </a:bodyPr>
          <a:lstStyle/>
          <a:p>
            <a:pPr algn="r"/>
            <a:r>
              <a:rPr sz="900" b="0" i="0">
                <a:solidFill>
                  <a:srgbClr val="30D158"/>
                </a:solidFill>
                <a:latin typeface="Segoe UI"/>
              </a:rPr>
              <a:t>17 min in</a:t>
            </a:r>
          </a:p>
        </p:txBody>
      </p:sp>
      <p:sp>
        <p:nvSpPr>
          <p:cNvPr id="63" name="Rectangle 62"/>
          <p:cNvSpPr/>
          <p:nvPr/>
        </p:nvSpPr>
        <p:spPr>
          <a:xfrm>
            <a:off x="6400800" y="4553712"/>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2240" y="4590288"/>
            <a:ext cx="1280160" cy="256032"/>
          </a:xfrm>
          <a:prstGeom prst="rect">
            <a:avLst/>
          </a:prstGeom>
          <a:noFill/>
        </p:spPr>
        <p:txBody>
          <a:bodyPr wrap="square">
            <a:spAutoFit/>
          </a:bodyPr>
          <a:lstStyle/>
          <a:p>
            <a:pPr algn="l"/>
            <a:r>
              <a:rPr sz="900" b="0" i="0">
                <a:solidFill>
                  <a:srgbClr val="555555"/>
                </a:solidFill>
                <a:latin typeface="Segoe UI"/>
              </a:rPr>
              <a:t>10:50 AM</a:t>
            </a:r>
          </a:p>
        </p:txBody>
      </p:sp>
      <p:sp>
        <p:nvSpPr>
          <p:cNvPr id="65" name="TextBox 64"/>
          <p:cNvSpPr txBox="1"/>
          <p:nvPr/>
        </p:nvSpPr>
        <p:spPr>
          <a:xfrm>
            <a:off x="7863840" y="4590288"/>
            <a:ext cx="3931920" cy="292608"/>
          </a:xfrm>
          <a:prstGeom prst="rect">
            <a:avLst/>
          </a:prstGeom>
          <a:noFill/>
        </p:spPr>
        <p:txBody>
          <a:bodyPr wrap="square">
            <a:spAutoFit/>
          </a:bodyPr>
          <a:lstStyle/>
          <a:p>
            <a:pPr algn="l"/>
            <a:r>
              <a:rPr sz="1000" b="1" i="0">
                <a:solidFill>
                  <a:srgbClr val="30D158"/>
                </a:solidFill>
                <a:latin typeface="Segoe UI"/>
              </a:rPr>
              <a:t>Guardian Box reads GREEN ✅</a:t>
            </a:r>
          </a:p>
        </p:txBody>
      </p:sp>
      <p:sp>
        <p:nvSpPr>
          <p:cNvPr id="66" name="TextBox 65"/>
          <p:cNvSpPr txBox="1"/>
          <p:nvPr/>
        </p:nvSpPr>
        <p:spPr>
          <a:xfrm>
            <a:off x="11795760" y="4590288"/>
            <a:ext cx="822960" cy="256032"/>
          </a:xfrm>
          <a:prstGeom prst="rect">
            <a:avLst/>
          </a:prstGeom>
          <a:noFill/>
        </p:spPr>
        <p:txBody>
          <a:bodyPr wrap="square">
            <a:spAutoFit/>
          </a:bodyPr>
          <a:lstStyle/>
          <a:p>
            <a:pPr algn="r"/>
            <a:r>
              <a:rPr sz="900" b="0" i="0">
                <a:solidFill>
                  <a:srgbClr val="30D158"/>
                </a:solidFill>
                <a:latin typeface="Segoe UI"/>
              </a:rPr>
              <a:t>20 min in</a:t>
            </a:r>
          </a:p>
        </p:txBody>
      </p:sp>
      <p:sp>
        <p:nvSpPr>
          <p:cNvPr id="67" name="Rectangle 66"/>
          <p:cNvSpPr/>
          <p:nvPr/>
        </p:nvSpPr>
        <p:spPr>
          <a:xfrm>
            <a:off x="6400800" y="5074920"/>
            <a:ext cx="1325880" cy="347472"/>
          </a:xfrm>
          <a:prstGeom prst="rect">
            <a:avLst/>
          </a:prstGeom>
          <a:solidFill>
            <a:srgbClr val="222222"/>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92240" y="5111496"/>
            <a:ext cx="1280160" cy="256032"/>
          </a:xfrm>
          <a:prstGeom prst="rect">
            <a:avLst/>
          </a:prstGeom>
          <a:noFill/>
        </p:spPr>
        <p:txBody>
          <a:bodyPr wrap="square">
            <a:spAutoFit/>
          </a:bodyPr>
          <a:lstStyle/>
          <a:p>
            <a:pPr algn="l"/>
            <a:r>
              <a:rPr sz="900" b="0" i="0">
                <a:solidFill>
                  <a:srgbClr val="555555"/>
                </a:solidFill>
                <a:latin typeface="Segoe UI"/>
              </a:rPr>
              <a:t>10:51 AM</a:t>
            </a:r>
          </a:p>
        </p:txBody>
      </p:sp>
      <p:sp>
        <p:nvSpPr>
          <p:cNvPr id="69" name="TextBox 68"/>
          <p:cNvSpPr txBox="1"/>
          <p:nvPr/>
        </p:nvSpPr>
        <p:spPr>
          <a:xfrm>
            <a:off x="7863840" y="5111496"/>
            <a:ext cx="3931920" cy="292608"/>
          </a:xfrm>
          <a:prstGeom prst="rect">
            <a:avLst/>
          </a:prstGeom>
          <a:noFill/>
        </p:spPr>
        <p:txBody>
          <a:bodyPr wrap="square">
            <a:spAutoFit/>
          </a:bodyPr>
          <a:lstStyle/>
          <a:p>
            <a:pPr algn="l"/>
            <a:r>
              <a:rPr sz="1000" b="1" i="0">
                <a:solidFill>
                  <a:srgbClr val="30D158"/>
                </a:solidFill>
                <a:latin typeface="Segoe UI"/>
              </a:rPr>
              <a:t>R-47 back online 🟢  TOTAL DOWNTIME: 21 MINUTES</a:t>
            </a:r>
          </a:p>
        </p:txBody>
      </p:sp>
      <p:sp>
        <p:nvSpPr>
          <p:cNvPr id="70" name="TextBox 69"/>
          <p:cNvSpPr txBox="1"/>
          <p:nvPr/>
        </p:nvSpPr>
        <p:spPr>
          <a:xfrm>
            <a:off x="11795760" y="5111496"/>
            <a:ext cx="822960" cy="256032"/>
          </a:xfrm>
          <a:prstGeom prst="rect">
            <a:avLst/>
          </a:prstGeom>
          <a:noFill/>
        </p:spPr>
        <p:txBody>
          <a:bodyPr wrap="square">
            <a:spAutoFit/>
          </a:bodyPr>
          <a:lstStyle/>
          <a:p>
            <a:pPr algn="r"/>
            <a:r>
              <a:rPr sz="900" b="0" i="0">
                <a:solidFill>
                  <a:srgbClr val="30D158"/>
                </a:solidFill>
                <a:latin typeface="Segoe UI"/>
              </a:rPr>
              <a:t>21 min</a:t>
            </a:r>
          </a:p>
        </p:txBody>
      </p:sp>
      <p:sp>
        <p:nvSpPr>
          <p:cNvPr id="71" name="Rectangle 70"/>
          <p:cNvSpPr/>
          <p:nvPr/>
        </p:nvSpPr>
        <p:spPr>
          <a:xfrm>
            <a:off x="365760" y="6199632"/>
            <a:ext cx="11430000" cy="5029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40" y="6245352"/>
            <a:ext cx="10972800" cy="429768"/>
          </a:xfrm>
          <a:prstGeom prst="rect">
            <a:avLst/>
          </a:prstGeom>
          <a:noFill/>
        </p:spPr>
        <p:txBody>
          <a:bodyPr wrap="square">
            <a:spAutoFit/>
          </a:bodyPr>
          <a:lstStyle/>
          <a:p>
            <a:pPr algn="l"/>
            <a:r>
              <a:rPr sz="900" b="0" i="1">
                <a:solidFill>
                  <a:srgbClr val="888888"/>
                </a:solidFill>
                <a:latin typeface="Segoe UI"/>
              </a:rPr>
              <a:t>SPEAKER SCRIPT: "Let me walk you through every minute. [Walk through timeline slowly.] By 7:00 AM — thirteen minutes after startup — the line is still running. The operator is briefed. Parts are already on their way. Carlos knows exactly what he's going to do at the 10:30 break. And at 10:51 AM — twenty-one minutes after the scheduled stop began — R-47 is back online. Green. Cleared. And the Guardian Box has already updated its model based on what it learned this morning."</a:t>
            </a:r>
          </a:p>
        </p:txBody>
      </p:sp>
      <p:sp>
        <p:nvSpPr>
          <p:cNvPr id="73" name="TextBox 72"/>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74" name="TextBox 73"/>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4096511" cy="292608"/>
          </a:xfrm>
          <a:prstGeom prst="rect">
            <a:avLst/>
          </a:prstGeom>
          <a:solidFill>
            <a:srgbClr val="02213F"/>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4005072" cy="256032"/>
          </a:xfrm>
          <a:prstGeom prst="rect">
            <a:avLst/>
          </a:prstGeom>
          <a:noFill/>
        </p:spPr>
        <p:txBody>
          <a:bodyPr wrap="square">
            <a:spAutoFit/>
          </a:bodyPr>
          <a:lstStyle/>
          <a:p>
            <a:pPr algn="l"/>
            <a:r>
              <a:rPr sz="900" b="1" i="0">
                <a:solidFill>
                  <a:srgbClr val="0A84FF"/>
                </a:solidFill>
                <a:latin typeface="Segoe UI"/>
              </a:rPr>
              <a:t>ACT 4  —  TWO REALITIES  —  ONE CHOICE</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400" b="1" i="0">
                <a:solidFill>
                  <a:srgbClr val="F0F0F0"/>
                </a:solidFill>
                <a:latin typeface="Segoe UI"/>
              </a:rPr>
              <a:t>Side by Side. The Numbers Speak.</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65760" y="1371600"/>
            <a:ext cx="5303520" cy="4754880"/>
          </a:xfrm>
          <a:prstGeom prst="rect">
            <a:avLst/>
          </a:prstGeom>
          <a:solidFill>
            <a:srgbClr val="140000"/>
          </a:solidFill>
          <a:ln w="2540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08760"/>
            <a:ext cx="4846320" cy="365760"/>
          </a:xfrm>
          <a:prstGeom prst="rect">
            <a:avLst/>
          </a:prstGeom>
          <a:noFill/>
        </p:spPr>
        <p:txBody>
          <a:bodyPr wrap="square">
            <a:spAutoFit/>
          </a:bodyPr>
          <a:lstStyle/>
          <a:p>
            <a:pPr algn="l"/>
            <a:r>
              <a:rPr sz="1300" b="1" i="0">
                <a:solidFill>
                  <a:srgbClr val="FF3B30"/>
                </a:solidFill>
                <a:latin typeface="Segoe UI"/>
              </a:rPr>
              <a:t>❌  WITHOUT GUARDIAN BOX</a:t>
            </a:r>
          </a:p>
        </p:txBody>
      </p:sp>
      <p:sp>
        <p:nvSpPr>
          <p:cNvPr id="10" name="Rectangle 9"/>
          <p:cNvSpPr/>
          <p:nvPr/>
        </p:nvSpPr>
        <p:spPr>
          <a:xfrm>
            <a:off x="6492240" y="1371600"/>
            <a:ext cx="5303520" cy="4754880"/>
          </a:xfrm>
          <a:prstGeom prst="rect">
            <a:avLst/>
          </a:prstGeom>
          <a:solidFill>
            <a:srgbClr val="001400"/>
          </a:solidFill>
          <a:ln w="2540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1508760"/>
            <a:ext cx="4846320" cy="365760"/>
          </a:xfrm>
          <a:prstGeom prst="rect">
            <a:avLst/>
          </a:prstGeom>
          <a:noFill/>
        </p:spPr>
        <p:txBody>
          <a:bodyPr wrap="square">
            <a:spAutoFit/>
          </a:bodyPr>
          <a:lstStyle/>
          <a:p>
            <a:pPr algn="l"/>
            <a:r>
              <a:rPr sz="1300" b="1" i="0">
                <a:solidFill>
                  <a:srgbClr val="30D158"/>
                </a:solidFill>
                <a:latin typeface="Segoe UI"/>
              </a:rPr>
              <a:t>✅  WITH GUARDIAN BOX</a:t>
            </a:r>
          </a:p>
        </p:txBody>
      </p:sp>
      <p:sp>
        <p:nvSpPr>
          <p:cNvPr id="12" name="TextBox 11"/>
          <p:cNvSpPr txBox="1"/>
          <p:nvPr/>
        </p:nvSpPr>
        <p:spPr>
          <a:xfrm>
            <a:off x="594360" y="2011680"/>
            <a:ext cx="1828800" cy="347472"/>
          </a:xfrm>
          <a:prstGeom prst="rect">
            <a:avLst/>
          </a:prstGeom>
          <a:noFill/>
        </p:spPr>
        <p:txBody>
          <a:bodyPr wrap="square">
            <a:spAutoFit/>
          </a:bodyPr>
          <a:lstStyle/>
          <a:p>
            <a:pPr algn="l"/>
            <a:r>
              <a:rPr sz="1000" b="0" i="0">
                <a:solidFill>
                  <a:srgbClr val="888888"/>
                </a:solidFill>
                <a:latin typeface="Segoe UI"/>
              </a:rPr>
              <a:t>⏱ Detection:</a:t>
            </a:r>
          </a:p>
        </p:txBody>
      </p:sp>
      <p:sp>
        <p:nvSpPr>
          <p:cNvPr id="13" name="TextBox 12"/>
          <p:cNvSpPr txBox="1"/>
          <p:nvPr/>
        </p:nvSpPr>
        <p:spPr>
          <a:xfrm>
            <a:off x="2560320" y="2011680"/>
            <a:ext cx="2926080" cy="347472"/>
          </a:xfrm>
          <a:prstGeom prst="rect">
            <a:avLst/>
          </a:prstGeom>
          <a:noFill/>
        </p:spPr>
        <p:txBody>
          <a:bodyPr wrap="square">
            <a:spAutoFit/>
          </a:bodyPr>
          <a:lstStyle/>
          <a:p>
            <a:pPr algn="l"/>
            <a:r>
              <a:rPr sz="1200" b="1" i="0">
                <a:solidFill>
                  <a:srgbClr val="FF3B30"/>
                </a:solidFill>
                <a:latin typeface="Segoe UI"/>
              </a:rPr>
              <a:t>0 minutes</a:t>
            </a:r>
          </a:p>
        </p:txBody>
      </p:sp>
      <p:sp>
        <p:nvSpPr>
          <p:cNvPr id="14" name="TextBox 13"/>
          <p:cNvSpPr txBox="1"/>
          <p:nvPr/>
        </p:nvSpPr>
        <p:spPr>
          <a:xfrm>
            <a:off x="6720840" y="2011680"/>
            <a:ext cx="1828800" cy="347472"/>
          </a:xfrm>
          <a:prstGeom prst="rect">
            <a:avLst/>
          </a:prstGeom>
          <a:noFill/>
        </p:spPr>
        <p:txBody>
          <a:bodyPr wrap="square">
            <a:spAutoFit/>
          </a:bodyPr>
          <a:lstStyle/>
          <a:p>
            <a:pPr algn="l"/>
            <a:r>
              <a:rPr sz="1000" b="0" i="0">
                <a:solidFill>
                  <a:srgbClr val="888888"/>
                </a:solidFill>
                <a:latin typeface="Segoe UI"/>
              </a:rPr>
              <a:t>⏱ Detection:</a:t>
            </a:r>
          </a:p>
        </p:txBody>
      </p:sp>
      <p:sp>
        <p:nvSpPr>
          <p:cNvPr id="15" name="TextBox 14"/>
          <p:cNvSpPr txBox="1"/>
          <p:nvPr/>
        </p:nvSpPr>
        <p:spPr>
          <a:xfrm>
            <a:off x="8686800" y="2011680"/>
            <a:ext cx="2926080" cy="347472"/>
          </a:xfrm>
          <a:prstGeom prst="rect">
            <a:avLst/>
          </a:prstGeom>
          <a:noFill/>
        </p:spPr>
        <p:txBody>
          <a:bodyPr wrap="square">
            <a:spAutoFit/>
          </a:bodyPr>
          <a:lstStyle/>
          <a:p>
            <a:pPr algn="l"/>
            <a:r>
              <a:rPr sz="1200" b="1" i="0">
                <a:solidFill>
                  <a:srgbClr val="30D158"/>
                </a:solidFill>
                <a:latin typeface="Segoe UI"/>
              </a:rPr>
              <a:t>2 minutes</a:t>
            </a:r>
          </a:p>
        </p:txBody>
      </p:sp>
      <p:sp>
        <p:nvSpPr>
          <p:cNvPr id="16" name="TextBox 15"/>
          <p:cNvSpPr txBox="1"/>
          <p:nvPr/>
        </p:nvSpPr>
        <p:spPr>
          <a:xfrm>
            <a:off x="594360" y="2523744"/>
            <a:ext cx="1828800" cy="347472"/>
          </a:xfrm>
          <a:prstGeom prst="rect">
            <a:avLst/>
          </a:prstGeom>
          <a:noFill/>
        </p:spPr>
        <p:txBody>
          <a:bodyPr wrap="square">
            <a:spAutoFit/>
          </a:bodyPr>
          <a:lstStyle/>
          <a:p>
            <a:pPr algn="l"/>
            <a:r>
              <a:rPr sz="1000" b="0" i="0">
                <a:solidFill>
                  <a:srgbClr val="888888"/>
                </a:solidFill>
                <a:latin typeface="Segoe UI"/>
              </a:rPr>
              <a:t>⚠ Warning:</a:t>
            </a:r>
          </a:p>
        </p:txBody>
      </p:sp>
      <p:sp>
        <p:nvSpPr>
          <p:cNvPr id="17" name="TextBox 16"/>
          <p:cNvSpPr txBox="1"/>
          <p:nvPr/>
        </p:nvSpPr>
        <p:spPr>
          <a:xfrm>
            <a:off x="2560320" y="2523744"/>
            <a:ext cx="2926080" cy="347472"/>
          </a:xfrm>
          <a:prstGeom prst="rect">
            <a:avLst/>
          </a:prstGeom>
          <a:noFill/>
        </p:spPr>
        <p:txBody>
          <a:bodyPr wrap="square">
            <a:spAutoFit/>
          </a:bodyPr>
          <a:lstStyle/>
          <a:p>
            <a:pPr algn="l"/>
            <a:r>
              <a:rPr sz="1200" b="1" i="0">
                <a:solidFill>
                  <a:srgbClr val="FF3B30"/>
                </a:solidFill>
                <a:latin typeface="Segoe UI"/>
              </a:rPr>
              <a:t>None — zero</a:t>
            </a:r>
          </a:p>
        </p:txBody>
      </p:sp>
      <p:sp>
        <p:nvSpPr>
          <p:cNvPr id="18" name="TextBox 17"/>
          <p:cNvSpPr txBox="1"/>
          <p:nvPr/>
        </p:nvSpPr>
        <p:spPr>
          <a:xfrm>
            <a:off x="6720840" y="2523744"/>
            <a:ext cx="1828800" cy="347472"/>
          </a:xfrm>
          <a:prstGeom prst="rect">
            <a:avLst/>
          </a:prstGeom>
          <a:noFill/>
        </p:spPr>
        <p:txBody>
          <a:bodyPr wrap="square">
            <a:spAutoFit/>
          </a:bodyPr>
          <a:lstStyle/>
          <a:p>
            <a:pPr algn="l"/>
            <a:r>
              <a:rPr sz="1000" b="0" i="0">
                <a:solidFill>
                  <a:srgbClr val="888888"/>
                </a:solidFill>
                <a:latin typeface="Segoe UI"/>
              </a:rPr>
              <a:t>⚠ Warning:</a:t>
            </a:r>
          </a:p>
        </p:txBody>
      </p:sp>
      <p:sp>
        <p:nvSpPr>
          <p:cNvPr id="19" name="TextBox 18"/>
          <p:cNvSpPr txBox="1"/>
          <p:nvPr/>
        </p:nvSpPr>
        <p:spPr>
          <a:xfrm>
            <a:off x="8686800" y="2523744"/>
            <a:ext cx="2926080" cy="347472"/>
          </a:xfrm>
          <a:prstGeom prst="rect">
            <a:avLst/>
          </a:prstGeom>
          <a:noFill/>
        </p:spPr>
        <p:txBody>
          <a:bodyPr wrap="square">
            <a:spAutoFit/>
          </a:bodyPr>
          <a:lstStyle/>
          <a:p>
            <a:pPr algn="l"/>
            <a:r>
              <a:rPr sz="1200" b="1" i="0">
                <a:solidFill>
                  <a:srgbClr val="30D158"/>
                </a:solidFill>
                <a:latin typeface="Segoe UI"/>
              </a:rPr>
              <a:t>2.5 hrs early</a:t>
            </a:r>
          </a:p>
        </p:txBody>
      </p:sp>
      <p:sp>
        <p:nvSpPr>
          <p:cNvPr id="20" name="TextBox 19"/>
          <p:cNvSpPr txBox="1"/>
          <p:nvPr/>
        </p:nvSpPr>
        <p:spPr>
          <a:xfrm>
            <a:off x="594360" y="3035808"/>
            <a:ext cx="1828800" cy="347472"/>
          </a:xfrm>
          <a:prstGeom prst="rect">
            <a:avLst/>
          </a:prstGeom>
          <a:noFill/>
        </p:spPr>
        <p:txBody>
          <a:bodyPr wrap="square">
            <a:spAutoFit/>
          </a:bodyPr>
          <a:lstStyle/>
          <a:p>
            <a:pPr algn="l"/>
            <a:r>
              <a:rPr sz="1000" b="0" i="0">
                <a:solidFill>
                  <a:srgbClr val="888888"/>
                </a:solidFill>
                <a:latin typeface="Segoe UI"/>
              </a:rPr>
              <a:t>🔧 Diagnosis:</a:t>
            </a:r>
          </a:p>
        </p:txBody>
      </p:sp>
      <p:sp>
        <p:nvSpPr>
          <p:cNvPr id="21" name="TextBox 20"/>
          <p:cNvSpPr txBox="1"/>
          <p:nvPr/>
        </p:nvSpPr>
        <p:spPr>
          <a:xfrm>
            <a:off x="2560320" y="3035808"/>
            <a:ext cx="2926080" cy="347472"/>
          </a:xfrm>
          <a:prstGeom prst="rect">
            <a:avLst/>
          </a:prstGeom>
          <a:noFill/>
        </p:spPr>
        <p:txBody>
          <a:bodyPr wrap="square">
            <a:spAutoFit/>
          </a:bodyPr>
          <a:lstStyle/>
          <a:p>
            <a:pPr algn="l"/>
            <a:r>
              <a:rPr sz="1200" b="1" i="0">
                <a:solidFill>
                  <a:srgbClr val="FF3B30"/>
                </a:solidFill>
                <a:latin typeface="Segoe UI"/>
              </a:rPr>
              <a:t>3 hours guessing</a:t>
            </a:r>
          </a:p>
        </p:txBody>
      </p:sp>
      <p:sp>
        <p:nvSpPr>
          <p:cNvPr id="22" name="TextBox 21"/>
          <p:cNvSpPr txBox="1"/>
          <p:nvPr/>
        </p:nvSpPr>
        <p:spPr>
          <a:xfrm>
            <a:off x="6720840" y="3035808"/>
            <a:ext cx="1828800" cy="347472"/>
          </a:xfrm>
          <a:prstGeom prst="rect">
            <a:avLst/>
          </a:prstGeom>
          <a:noFill/>
        </p:spPr>
        <p:txBody>
          <a:bodyPr wrap="square">
            <a:spAutoFit/>
          </a:bodyPr>
          <a:lstStyle/>
          <a:p>
            <a:pPr algn="l"/>
            <a:r>
              <a:rPr sz="1000" b="0" i="0">
                <a:solidFill>
                  <a:srgbClr val="888888"/>
                </a:solidFill>
                <a:latin typeface="Segoe UI"/>
              </a:rPr>
              <a:t>🔧 Diagnosis:</a:t>
            </a:r>
          </a:p>
        </p:txBody>
      </p:sp>
      <p:sp>
        <p:nvSpPr>
          <p:cNvPr id="23" name="TextBox 22"/>
          <p:cNvSpPr txBox="1"/>
          <p:nvPr/>
        </p:nvSpPr>
        <p:spPr>
          <a:xfrm>
            <a:off x="8686800" y="3035808"/>
            <a:ext cx="2926080" cy="347472"/>
          </a:xfrm>
          <a:prstGeom prst="rect">
            <a:avLst/>
          </a:prstGeom>
          <a:noFill/>
        </p:spPr>
        <p:txBody>
          <a:bodyPr wrap="square">
            <a:spAutoFit/>
          </a:bodyPr>
          <a:lstStyle/>
          <a:p>
            <a:pPr algn="l"/>
            <a:r>
              <a:rPr sz="1200" b="1" i="0">
                <a:solidFill>
                  <a:srgbClr val="30D158"/>
                </a:solidFill>
                <a:latin typeface="Segoe UI"/>
              </a:rPr>
              <a:t>Instant — AI</a:t>
            </a:r>
          </a:p>
        </p:txBody>
      </p:sp>
      <p:sp>
        <p:nvSpPr>
          <p:cNvPr id="24" name="TextBox 23"/>
          <p:cNvSpPr txBox="1"/>
          <p:nvPr/>
        </p:nvSpPr>
        <p:spPr>
          <a:xfrm>
            <a:off x="594360" y="3547872"/>
            <a:ext cx="1828800" cy="347472"/>
          </a:xfrm>
          <a:prstGeom prst="rect">
            <a:avLst/>
          </a:prstGeom>
          <a:noFill/>
        </p:spPr>
        <p:txBody>
          <a:bodyPr wrap="square">
            <a:spAutoFit/>
          </a:bodyPr>
          <a:lstStyle/>
          <a:p>
            <a:pPr algn="l"/>
            <a:r>
              <a:rPr sz="1000" b="0" i="0">
                <a:solidFill>
                  <a:srgbClr val="888888"/>
                </a:solidFill>
                <a:latin typeface="Segoe UI"/>
              </a:rPr>
              <a:t>📦 Parts:</a:t>
            </a:r>
          </a:p>
        </p:txBody>
      </p:sp>
      <p:sp>
        <p:nvSpPr>
          <p:cNvPr id="25" name="TextBox 24"/>
          <p:cNvSpPr txBox="1"/>
          <p:nvPr/>
        </p:nvSpPr>
        <p:spPr>
          <a:xfrm>
            <a:off x="2560320" y="3547872"/>
            <a:ext cx="2926080" cy="347472"/>
          </a:xfrm>
          <a:prstGeom prst="rect">
            <a:avLst/>
          </a:prstGeom>
          <a:noFill/>
        </p:spPr>
        <p:txBody>
          <a:bodyPr wrap="square">
            <a:spAutoFit/>
          </a:bodyPr>
          <a:lstStyle/>
          <a:p>
            <a:pPr algn="l"/>
            <a:r>
              <a:rPr sz="1200" b="1" i="0">
                <a:solidFill>
                  <a:srgbClr val="FF3B30"/>
                </a:solidFill>
                <a:latin typeface="Segoe UI"/>
              </a:rPr>
              <a:t>18 hrs — rush order</a:t>
            </a:r>
          </a:p>
        </p:txBody>
      </p:sp>
      <p:sp>
        <p:nvSpPr>
          <p:cNvPr id="26" name="TextBox 25"/>
          <p:cNvSpPr txBox="1"/>
          <p:nvPr/>
        </p:nvSpPr>
        <p:spPr>
          <a:xfrm>
            <a:off x="6720840" y="3547872"/>
            <a:ext cx="1828800" cy="347472"/>
          </a:xfrm>
          <a:prstGeom prst="rect">
            <a:avLst/>
          </a:prstGeom>
          <a:noFill/>
        </p:spPr>
        <p:txBody>
          <a:bodyPr wrap="square">
            <a:spAutoFit/>
          </a:bodyPr>
          <a:lstStyle/>
          <a:p>
            <a:pPr algn="l"/>
            <a:r>
              <a:rPr sz="1000" b="0" i="0">
                <a:solidFill>
                  <a:srgbClr val="888888"/>
                </a:solidFill>
                <a:latin typeface="Segoe UI"/>
              </a:rPr>
              <a:t>📦 Parts:</a:t>
            </a:r>
          </a:p>
        </p:txBody>
      </p:sp>
      <p:sp>
        <p:nvSpPr>
          <p:cNvPr id="27" name="TextBox 26"/>
          <p:cNvSpPr txBox="1"/>
          <p:nvPr/>
        </p:nvSpPr>
        <p:spPr>
          <a:xfrm>
            <a:off x="8686800" y="3547872"/>
            <a:ext cx="2926080" cy="347472"/>
          </a:xfrm>
          <a:prstGeom prst="rect">
            <a:avLst/>
          </a:prstGeom>
          <a:noFill/>
        </p:spPr>
        <p:txBody>
          <a:bodyPr wrap="square">
            <a:spAutoFit/>
          </a:bodyPr>
          <a:lstStyle/>
          <a:p>
            <a:pPr algn="l"/>
            <a:r>
              <a:rPr sz="1200" b="1" i="0">
                <a:solidFill>
                  <a:srgbClr val="30D158"/>
                </a:solidFill>
                <a:latin typeface="Segoe UI"/>
              </a:rPr>
              <a:t>Pre-ordered</a:t>
            </a:r>
          </a:p>
        </p:txBody>
      </p:sp>
      <p:sp>
        <p:nvSpPr>
          <p:cNvPr id="28" name="TextBox 27"/>
          <p:cNvSpPr txBox="1"/>
          <p:nvPr/>
        </p:nvSpPr>
        <p:spPr>
          <a:xfrm>
            <a:off x="594360" y="4059936"/>
            <a:ext cx="1828800" cy="347472"/>
          </a:xfrm>
          <a:prstGeom prst="rect">
            <a:avLst/>
          </a:prstGeom>
          <a:noFill/>
        </p:spPr>
        <p:txBody>
          <a:bodyPr wrap="square">
            <a:spAutoFit/>
          </a:bodyPr>
          <a:lstStyle/>
          <a:p>
            <a:pPr algn="l"/>
            <a:r>
              <a:rPr sz="1000" b="0" i="0">
                <a:solidFill>
                  <a:srgbClr val="888888"/>
                </a:solidFill>
                <a:latin typeface="Segoe UI"/>
              </a:rPr>
              <a:t>🛑 Downtime:</a:t>
            </a:r>
          </a:p>
        </p:txBody>
      </p:sp>
      <p:sp>
        <p:nvSpPr>
          <p:cNvPr id="29" name="TextBox 28"/>
          <p:cNvSpPr txBox="1"/>
          <p:nvPr/>
        </p:nvSpPr>
        <p:spPr>
          <a:xfrm>
            <a:off x="2560320" y="4059936"/>
            <a:ext cx="2926080" cy="347472"/>
          </a:xfrm>
          <a:prstGeom prst="rect">
            <a:avLst/>
          </a:prstGeom>
          <a:noFill/>
        </p:spPr>
        <p:txBody>
          <a:bodyPr wrap="square">
            <a:spAutoFit/>
          </a:bodyPr>
          <a:lstStyle/>
          <a:p>
            <a:pPr algn="l"/>
            <a:r>
              <a:rPr sz="1200" b="1" i="0">
                <a:solidFill>
                  <a:srgbClr val="FF3B30"/>
                </a:solidFill>
                <a:latin typeface="Segoe UI"/>
              </a:rPr>
              <a:t>27 HOURS</a:t>
            </a:r>
          </a:p>
        </p:txBody>
      </p:sp>
      <p:sp>
        <p:nvSpPr>
          <p:cNvPr id="30" name="TextBox 29"/>
          <p:cNvSpPr txBox="1"/>
          <p:nvPr/>
        </p:nvSpPr>
        <p:spPr>
          <a:xfrm>
            <a:off x="6720840" y="4059936"/>
            <a:ext cx="1828800" cy="347472"/>
          </a:xfrm>
          <a:prstGeom prst="rect">
            <a:avLst/>
          </a:prstGeom>
          <a:noFill/>
        </p:spPr>
        <p:txBody>
          <a:bodyPr wrap="square">
            <a:spAutoFit/>
          </a:bodyPr>
          <a:lstStyle/>
          <a:p>
            <a:pPr algn="l"/>
            <a:r>
              <a:rPr sz="1000" b="0" i="0">
                <a:solidFill>
                  <a:srgbClr val="888888"/>
                </a:solidFill>
                <a:latin typeface="Segoe UI"/>
              </a:rPr>
              <a:t>🛑 Downtime:</a:t>
            </a:r>
          </a:p>
        </p:txBody>
      </p:sp>
      <p:sp>
        <p:nvSpPr>
          <p:cNvPr id="31" name="TextBox 30"/>
          <p:cNvSpPr txBox="1"/>
          <p:nvPr/>
        </p:nvSpPr>
        <p:spPr>
          <a:xfrm>
            <a:off x="8686800" y="4059936"/>
            <a:ext cx="2926080" cy="347472"/>
          </a:xfrm>
          <a:prstGeom prst="rect">
            <a:avLst/>
          </a:prstGeom>
          <a:noFill/>
        </p:spPr>
        <p:txBody>
          <a:bodyPr wrap="square">
            <a:spAutoFit/>
          </a:bodyPr>
          <a:lstStyle/>
          <a:p>
            <a:pPr algn="l"/>
            <a:r>
              <a:rPr sz="1200" b="1" i="0">
                <a:solidFill>
                  <a:srgbClr val="30D158"/>
                </a:solidFill>
                <a:latin typeface="Segoe UI"/>
              </a:rPr>
              <a:t>21 MINUTES</a:t>
            </a:r>
          </a:p>
        </p:txBody>
      </p:sp>
      <p:sp>
        <p:nvSpPr>
          <p:cNvPr id="32" name="TextBox 31"/>
          <p:cNvSpPr txBox="1"/>
          <p:nvPr/>
        </p:nvSpPr>
        <p:spPr>
          <a:xfrm>
            <a:off x="594360" y="4572000"/>
            <a:ext cx="1828800" cy="347472"/>
          </a:xfrm>
          <a:prstGeom prst="rect">
            <a:avLst/>
          </a:prstGeom>
          <a:noFill/>
        </p:spPr>
        <p:txBody>
          <a:bodyPr wrap="square">
            <a:spAutoFit/>
          </a:bodyPr>
          <a:lstStyle/>
          <a:p>
            <a:pPr algn="l"/>
            <a:r>
              <a:rPr sz="1000" b="0" i="0">
                <a:solidFill>
                  <a:srgbClr val="888888"/>
                </a:solidFill>
                <a:latin typeface="Segoe UI"/>
              </a:rPr>
              <a:t>💸 Cost:</a:t>
            </a:r>
          </a:p>
        </p:txBody>
      </p:sp>
      <p:sp>
        <p:nvSpPr>
          <p:cNvPr id="33" name="TextBox 32"/>
          <p:cNvSpPr txBox="1"/>
          <p:nvPr/>
        </p:nvSpPr>
        <p:spPr>
          <a:xfrm>
            <a:off x="2560320" y="4572000"/>
            <a:ext cx="2926080" cy="347472"/>
          </a:xfrm>
          <a:prstGeom prst="rect">
            <a:avLst/>
          </a:prstGeom>
          <a:noFill/>
        </p:spPr>
        <p:txBody>
          <a:bodyPr wrap="square">
            <a:spAutoFit/>
          </a:bodyPr>
          <a:lstStyle/>
          <a:p>
            <a:pPr algn="l"/>
            <a:r>
              <a:rPr sz="1200" b="1" i="0">
                <a:solidFill>
                  <a:srgbClr val="FF3B30"/>
                </a:solidFill>
                <a:latin typeface="Segoe UI"/>
              </a:rPr>
              <a:t>$1,750,000</a:t>
            </a:r>
          </a:p>
        </p:txBody>
      </p:sp>
      <p:sp>
        <p:nvSpPr>
          <p:cNvPr id="34" name="TextBox 33"/>
          <p:cNvSpPr txBox="1"/>
          <p:nvPr/>
        </p:nvSpPr>
        <p:spPr>
          <a:xfrm>
            <a:off x="6720840" y="4572000"/>
            <a:ext cx="1828800" cy="347472"/>
          </a:xfrm>
          <a:prstGeom prst="rect">
            <a:avLst/>
          </a:prstGeom>
          <a:noFill/>
        </p:spPr>
        <p:txBody>
          <a:bodyPr wrap="square">
            <a:spAutoFit/>
          </a:bodyPr>
          <a:lstStyle/>
          <a:p>
            <a:pPr algn="l"/>
            <a:r>
              <a:rPr sz="1000" b="0" i="0">
                <a:solidFill>
                  <a:srgbClr val="888888"/>
                </a:solidFill>
                <a:latin typeface="Segoe UI"/>
              </a:rPr>
              <a:t>💸 Cost:</a:t>
            </a:r>
          </a:p>
        </p:txBody>
      </p:sp>
      <p:sp>
        <p:nvSpPr>
          <p:cNvPr id="35" name="TextBox 34"/>
          <p:cNvSpPr txBox="1"/>
          <p:nvPr/>
        </p:nvSpPr>
        <p:spPr>
          <a:xfrm>
            <a:off x="8686800" y="4572000"/>
            <a:ext cx="2926080" cy="347472"/>
          </a:xfrm>
          <a:prstGeom prst="rect">
            <a:avLst/>
          </a:prstGeom>
          <a:noFill/>
        </p:spPr>
        <p:txBody>
          <a:bodyPr wrap="square">
            <a:spAutoFit/>
          </a:bodyPr>
          <a:lstStyle/>
          <a:p>
            <a:pPr algn="l"/>
            <a:r>
              <a:rPr sz="1200" b="1" i="0">
                <a:solidFill>
                  <a:srgbClr val="30D158"/>
                </a:solidFill>
                <a:latin typeface="Segoe UI"/>
              </a:rPr>
              <a:t>$12,000</a:t>
            </a:r>
          </a:p>
        </p:txBody>
      </p:sp>
      <p:sp>
        <p:nvSpPr>
          <p:cNvPr id="36" name="TextBox 35"/>
          <p:cNvSpPr txBox="1"/>
          <p:nvPr/>
        </p:nvSpPr>
        <p:spPr>
          <a:xfrm>
            <a:off x="594360" y="5084064"/>
            <a:ext cx="1828800" cy="347472"/>
          </a:xfrm>
          <a:prstGeom prst="rect">
            <a:avLst/>
          </a:prstGeom>
          <a:noFill/>
        </p:spPr>
        <p:txBody>
          <a:bodyPr wrap="square">
            <a:spAutoFit/>
          </a:bodyPr>
          <a:lstStyle/>
          <a:p>
            <a:pPr algn="l"/>
            <a:r>
              <a:rPr sz="1000" b="0" i="0">
                <a:solidFill>
                  <a:srgbClr val="888888"/>
                </a:solidFill>
                <a:latin typeface="Segoe UI"/>
              </a:rPr>
              <a:t>😤 Customers:</a:t>
            </a:r>
          </a:p>
        </p:txBody>
      </p:sp>
      <p:sp>
        <p:nvSpPr>
          <p:cNvPr id="37" name="TextBox 36"/>
          <p:cNvSpPr txBox="1"/>
          <p:nvPr/>
        </p:nvSpPr>
        <p:spPr>
          <a:xfrm>
            <a:off x="2560320" y="5084064"/>
            <a:ext cx="2926080" cy="347472"/>
          </a:xfrm>
          <a:prstGeom prst="rect">
            <a:avLst/>
          </a:prstGeom>
          <a:noFill/>
        </p:spPr>
        <p:txBody>
          <a:bodyPr wrap="square">
            <a:spAutoFit/>
          </a:bodyPr>
          <a:lstStyle/>
          <a:p>
            <a:pPr algn="l"/>
            <a:r>
              <a:rPr sz="1200" b="1" i="0">
                <a:solidFill>
                  <a:srgbClr val="FF3B30"/>
                </a:solidFill>
                <a:latin typeface="Segoe UI"/>
              </a:rPr>
              <a:t>Angry + delayed</a:t>
            </a:r>
          </a:p>
        </p:txBody>
      </p:sp>
      <p:sp>
        <p:nvSpPr>
          <p:cNvPr id="38" name="TextBox 37"/>
          <p:cNvSpPr txBox="1"/>
          <p:nvPr/>
        </p:nvSpPr>
        <p:spPr>
          <a:xfrm>
            <a:off x="6720840" y="5084064"/>
            <a:ext cx="1828800" cy="347472"/>
          </a:xfrm>
          <a:prstGeom prst="rect">
            <a:avLst/>
          </a:prstGeom>
          <a:noFill/>
        </p:spPr>
        <p:txBody>
          <a:bodyPr wrap="square">
            <a:spAutoFit/>
          </a:bodyPr>
          <a:lstStyle/>
          <a:p>
            <a:pPr algn="l"/>
            <a:r>
              <a:rPr sz="1000" b="0" i="0">
                <a:solidFill>
                  <a:srgbClr val="888888"/>
                </a:solidFill>
                <a:latin typeface="Segoe UI"/>
              </a:rPr>
              <a:t>😤 Customers:</a:t>
            </a:r>
          </a:p>
        </p:txBody>
      </p:sp>
      <p:sp>
        <p:nvSpPr>
          <p:cNvPr id="39" name="TextBox 38"/>
          <p:cNvSpPr txBox="1"/>
          <p:nvPr/>
        </p:nvSpPr>
        <p:spPr>
          <a:xfrm>
            <a:off x="8686800" y="5084064"/>
            <a:ext cx="2926080" cy="347472"/>
          </a:xfrm>
          <a:prstGeom prst="rect">
            <a:avLst/>
          </a:prstGeom>
          <a:noFill/>
        </p:spPr>
        <p:txBody>
          <a:bodyPr wrap="square">
            <a:spAutoFit/>
          </a:bodyPr>
          <a:lstStyle/>
          <a:p>
            <a:pPr algn="l"/>
            <a:r>
              <a:rPr sz="1200" b="1" i="0">
                <a:solidFill>
                  <a:srgbClr val="30D158"/>
                </a:solidFill>
                <a:latin typeface="Segoe UI"/>
              </a:rPr>
              <a:t>On schedule</a:t>
            </a:r>
          </a:p>
        </p:txBody>
      </p:sp>
      <p:sp>
        <p:nvSpPr>
          <p:cNvPr id="40" name="TextBox 39"/>
          <p:cNvSpPr txBox="1"/>
          <p:nvPr/>
        </p:nvSpPr>
        <p:spPr>
          <a:xfrm>
            <a:off x="594360" y="5596128"/>
            <a:ext cx="1828800" cy="347472"/>
          </a:xfrm>
          <a:prstGeom prst="rect">
            <a:avLst/>
          </a:prstGeom>
          <a:noFill/>
        </p:spPr>
        <p:txBody>
          <a:bodyPr wrap="square">
            <a:spAutoFit/>
          </a:bodyPr>
          <a:lstStyle/>
          <a:p>
            <a:pPr algn="l"/>
            <a:r>
              <a:rPr sz="1000" b="0" i="0">
                <a:solidFill>
                  <a:srgbClr val="888888"/>
                </a:solidFill>
                <a:latin typeface="Segoe UI"/>
              </a:rPr>
              <a:t>🏭 Plant:</a:t>
            </a:r>
          </a:p>
        </p:txBody>
      </p:sp>
      <p:sp>
        <p:nvSpPr>
          <p:cNvPr id="41" name="TextBox 40"/>
          <p:cNvSpPr txBox="1"/>
          <p:nvPr/>
        </p:nvSpPr>
        <p:spPr>
          <a:xfrm>
            <a:off x="2560320" y="5596128"/>
            <a:ext cx="2926080" cy="347472"/>
          </a:xfrm>
          <a:prstGeom prst="rect">
            <a:avLst/>
          </a:prstGeom>
          <a:noFill/>
        </p:spPr>
        <p:txBody>
          <a:bodyPr wrap="square">
            <a:spAutoFit/>
          </a:bodyPr>
          <a:lstStyle/>
          <a:p>
            <a:pPr algn="l"/>
            <a:r>
              <a:rPr sz="1200" b="1" i="0">
                <a:solidFill>
                  <a:srgbClr val="FF3B30"/>
                </a:solidFill>
                <a:latin typeface="Segoe UI"/>
              </a:rPr>
              <a:t>Reputation damaged</a:t>
            </a:r>
          </a:p>
        </p:txBody>
      </p:sp>
      <p:sp>
        <p:nvSpPr>
          <p:cNvPr id="42" name="TextBox 41"/>
          <p:cNvSpPr txBox="1"/>
          <p:nvPr/>
        </p:nvSpPr>
        <p:spPr>
          <a:xfrm>
            <a:off x="6720840" y="5596128"/>
            <a:ext cx="1828800" cy="347472"/>
          </a:xfrm>
          <a:prstGeom prst="rect">
            <a:avLst/>
          </a:prstGeom>
          <a:noFill/>
        </p:spPr>
        <p:txBody>
          <a:bodyPr wrap="square">
            <a:spAutoFit/>
          </a:bodyPr>
          <a:lstStyle/>
          <a:p>
            <a:pPr algn="l"/>
            <a:r>
              <a:rPr sz="1000" b="0" i="0">
                <a:solidFill>
                  <a:srgbClr val="888888"/>
                </a:solidFill>
                <a:latin typeface="Segoe UI"/>
              </a:rPr>
              <a:t>🏭 Plant:</a:t>
            </a:r>
          </a:p>
        </p:txBody>
      </p:sp>
      <p:sp>
        <p:nvSpPr>
          <p:cNvPr id="43" name="TextBox 42"/>
          <p:cNvSpPr txBox="1"/>
          <p:nvPr/>
        </p:nvSpPr>
        <p:spPr>
          <a:xfrm>
            <a:off x="8686800" y="5596128"/>
            <a:ext cx="2926080" cy="347472"/>
          </a:xfrm>
          <a:prstGeom prst="rect">
            <a:avLst/>
          </a:prstGeom>
          <a:noFill/>
        </p:spPr>
        <p:txBody>
          <a:bodyPr wrap="square">
            <a:spAutoFit/>
          </a:bodyPr>
          <a:lstStyle/>
          <a:p>
            <a:pPr algn="l"/>
            <a:r>
              <a:rPr sz="1200" b="1" i="0">
                <a:solidFill>
                  <a:srgbClr val="30D158"/>
                </a:solidFill>
                <a:latin typeface="Segoe UI"/>
              </a:rPr>
              <a:t>Thriving</a:t>
            </a:r>
          </a:p>
        </p:txBody>
      </p:sp>
      <p:sp>
        <p:nvSpPr>
          <p:cNvPr id="44" name="TextBox 43"/>
          <p:cNvSpPr txBox="1"/>
          <p:nvPr/>
        </p:nvSpPr>
        <p:spPr>
          <a:xfrm>
            <a:off x="5623560" y="3108960"/>
            <a:ext cx="822960" cy="548640"/>
          </a:xfrm>
          <a:prstGeom prst="rect">
            <a:avLst/>
          </a:prstGeom>
          <a:noFill/>
        </p:spPr>
        <p:txBody>
          <a:bodyPr wrap="square">
            <a:spAutoFit/>
          </a:bodyPr>
          <a:lstStyle/>
          <a:p>
            <a:pPr algn="ctr"/>
            <a:r>
              <a:rPr sz="2400" b="1" i="0">
                <a:solidFill>
                  <a:srgbClr val="555555"/>
                </a:solidFill>
                <a:latin typeface="Segoe UI"/>
              </a:rPr>
              <a:t>VS</a:t>
            </a:r>
          </a:p>
        </p:txBody>
      </p:sp>
      <p:sp>
        <p:nvSpPr>
          <p:cNvPr id="45" name="Rectangle 44"/>
          <p:cNvSpPr/>
          <p:nvPr/>
        </p:nvSpPr>
        <p:spPr>
          <a:xfrm>
            <a:off x="365760" y="6199632"/>
            <a:ext cx="11430000" cy="502920"/>
          </a:xfrm>
          <a:prstGeom prst="rect">
            <a:avLst/>
          </a:prstGeom>
          <a:solidFill>
            <a:srgbClr val="1A1A1A"/>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6245352"/>
            <a:ext cx="10972800" cy="429768"/>
          </a:xfrm>
          <a:prstGeom prst="rect">
            <a:avLst/>
          </a:prstGeom>
          <a:noFill/>
        </p:spPr>
        <p:txBody>
          <a:bodyPr wrap="square">
            <a:spAutoFit/>
          </a:bodyPr>
          <a:lstStyle/>
          <a:p>
            <a:pPr algn="l"/>
            <a:r>
              <a:rPr sz="900" b="0" i="1">
                <a:solidFill>
                  <a:srgbClr val="888888"/>
                </a:solidFill>
                <a:latin typeface="Segoe UI"/>
              </a:rPr>
              <a:t>SPEAKER SCRIPT: "I'm going to let these numbers do the talking. [Pause. Let audience read.] Twenty-seven hours versus twenty-one minutes. $1.75 million versus $12,000. Angry customers versus on-schedule delivery. [Pause.] Same plant. Same robot. Same morning. The only difference — is whether something was listening."</a:t>
            </a:r>
          </a:p>
        </p:txBody>
      </p:sp>
      <p:sp>
        <p:nvSpPr>
          <p:cNvPr id="47" name="TextBox 46"/>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48" name="TextBox 47"/>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0A8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28016"/>
            <a:ext cx="3493008" cy="292608"/>
          </a:xfrm>
          <a:prstGeom prst="rect">
            <a:avLst/>
          </a:prstGeom>
          <a:solidFill>
            <a:srgbClr val="02213F"/>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5448"/>
            <a:ext cx="3401568" cy="256032"/>
          </a:xfrm>
          <a:prstGeom prst="rect">
            <a:avLst/>
          </a:prstGeom>
          <a:noFill/>
        </p:spPr>
        <p:txBody>
          <a:bodyPr wrap="square">
            <a:spAutoFit/>
          </a:bodyPr>
          <a:lstStyle/>
          <a:p>
            <a:pPr algn="l"/>
            <a:r>
              <a:rPr sz="900" b="1" i="0">
                <a:solidFill>
                  <a:srgbClr val="0A84FF"/>
                </a:solidFill>
                <a:latin typeface="Segoe UI"/>
              </a:rPr>
              <a:t>FINAL ACT  —  THE BIGGER PICTURE</a:t>
            </a:r>
          </a:p>
        </p:txBody>
      </p:sp>
      <p:sp>
        <p:nvSpPr>
          <p:cNvPr id="6" name="TextBox 5"/>
          <p:cNvSpPr txBox="1"/>
          <p:nvPr/>
        </p:nvSpPr>
        <p:spPr>
          <a:xfrm>
            <a:off x="365760" y="502920"/>
            <a:ext cx="9144000" cy="594360"/>
          </a:xfrm>
          <a:prstGeom prst="rect">
            <a:avLst/>
          </a:prstGeom>
          <a:noFill/>
        </p:spPr>
        <p:txBody>
          <a:bodyPr wrap="square">
            <a:spAutoFit/>
          </a:bodyPr>
          <a:lstStyle/>
          <a:p>
            <a:pPr algn="l"/>
            <a:r>
              <a:rPr sz="3400" b="1" i="0">
                <a:solidFill>
                  <a:srgbClr val="F0F0F0"/>
                </a:solidFill>
                <a:latin typeface="Segoe UI"/>
              </a:rPr>
              <a:t>The 4 Root Causes: Solved.</a:t>
            </a:r>
          </a:p>
        </p:txBody>
      </p:sp>
      <p:cxnSp>
        <p:nvCxnSpPr>
          <p:cNvPr id="7" name="Connector 6"/>
          <p:cNvCxnSpPr/>
          <p:nvPr/>
        </p:nvCxnSpPr>
        <p:spPr>
          <a:xfrm>
            <a:off x="365760" y="123444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20040" y="1371600"/>
            <a:ext cx="2834640" cy="4389120"/>
          </a:xfrm>
          <a:prstGeom prst="rect">
            <a:avLst/>
          </a:prstGeom>
          <a:solidFill>
            <a:srgbClr val="1A1A1A"/>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371600"/>
            <a:ext cx="2834640" cy="640080"/>
          </a:xfrm>
          <a:prstGeom prst="rect">
            <a:avLst/>
          </a:prstGeom>
          <a:solidFill>
            <a:srgbClr val="330B09"/>
          </a:solidFill>
          <a:ln w="19050">
            <a:solidFill>
              <a:srgbClr val="FF3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11" name="TextBox 10"/>
          <p:cNvSpPr txBox="1"/>
          <p:nvPr/>
        </p:nvSpPr>
        <p:spPr>
          <a:xfrm>
            <a:off x="914400" y="1481328"/>
            <a:ext cx="2103120" cy="292608"/>
          </a:xfrm>
          <a:prstGeom prst="rect">
            <a:avLst/>
          </a:prstGeom>
          <a:noFill/>
        </p:spPr>
        <p:txBody>
          <a:bodyPr wrap="square">
            <a:spAutoFit/>
          </a:bodyPr>
          <a:lstStyle/>
          <a:p>
            <a:pPr algn="l"/>
            <a:r>
              <a:rPr sz="1200" b="1" i="0">
                <a:solidFill>
                  <a:srgbClr val="FF3B30"/>
                </a:solidFill>
                <a:latin typeface="Segoe UI"/>
              </a:rPr>
              <a:t>HUMAN</a:t>
            </a:r>
          </a:p>
        </p:txBody>
      </p:sp>
      <p:sp>
        <p:nvSpPr>
          <p:cNvPr id="12" name="TextBox 11"/>
          <p:cNvSpPr txBox="1"/>
          <p:nvPr/>
        </p:nvSpPr>
        <p:spPr>
          <a:xfrm>
            <a:off x="457200" y="2148840"/>
            <a:ext cx="2560320" cy="411480"/>
          </a:xfrm>
          <a:prstGeom prst="rect">
            <a:avLst/>
          </a:prstGeom>
          <a:noFill/>
        </p:spPr>
        <p:txBody>
          <a:bodyPr wrap="square">
            <a:spAutoFit/>
          </a:bodyPr>
          <a:lstStyle/>
          <a:p>
            <a:pPr algn="l"/>
            <a:r>
              <a:rPr sz="1000" b="0" i="0">
                <a:solidFill>
                  <a:srgbClr val="F0F0F0"/>
                </a:solidFill>
                <a:latin typeface="Segoe UI"/>
              </a:rPr>
              <a:t>✅  Digital shift handoffs enforced</a:t>
            </a:r>
          </a:p>
        </p:txBody>
      </p:sp>
      <p:sp>
        <p:nvSpPr>
          <p:cNvPr id="13" name="TextBox 12"/>
          <p:cNvSpPr txBox="1"/>
          <p:nvPr/>
        </p:nvSpPr>
        <p:spPr>
          <a:xfrm>
            <a:off x="457200" y="2697480"/>
            <a:ext cx="2560320" cy="411480"/>
          </a:xfrm>
          <a:prstGeom prst="rect">
            <a:avLst/>
          </a:prstGeom>
          <a:noFill/>
        </p:spPr>
        <p:txBody>
          <a:bodyPr wrap="square">
            <a:spAutoFit/>
          </a:bodyPr>
          <a:lstStyle/>
          <a:p>
            <a:pPr algn="l"/>
            <a:r>
              <a:rPr sz="1000" b="0" i="0">
                <a:solidFill>
                  <a:srgbClr val="888888"/>
                </a:solidFill>
                <a:latin typeface="Segoe UI"/>
              </a:rPr>
              <a:t>✅  Operator alerts sent automatically</a:t>
            </a:r>
          </a:p>
        </p:txBody>
      </p:sp>
      <p:sp>
        <p:nvSpPr>
          <p:cNvPr id="14" name="TextBox 13"/>
          <p:cNvSpPr txBox="1"/>
          <p:nvPr/>
        </p:nvSpPr>
        <p:spPr>
          <a:xfrm>
            <a:off x="457200" y="3246120"/>
            <a:ext cx="2560320" cy="411480"/>
          </a:xfrm>
          <a:prstGeom prst="rect">
            <a:avLst/>
          </a:prstGeom>
          <a:noFill/>
        </p:spPr>
        <p:txBody>
          <a:bodyPr wrap="square">
            <a:spAutoFit/>
          </a:bodyPr>
          <a:lstStyle/>
          <a:p>
            <a:pPr algn="l"/>
            <a:r>
              <a:rPr sz="1000" b="0" i="0">
                <a:solidFill>
                  <a:srgbClr val="F0F0F0"/>
                </a:solidFill>
                <a:latin typeface="Segoe UI"/>
              </a:rPr>
              <a:t>✅  Training gaps flagged instantly</a:t>
            </a:r>
          </a:p>
        </p:txBody>
      </p:sp>
      <p:sp>
        <p:nvSpPr>
          <p:cNvPr id="15" name="TextBox 14"/>
          <p:cNvSpPr txBox="1"/>
          <p:nvPr/>
        </p:nvSpPr>
        <p:spPr>
          <a:xfrm>
            <a:off x="457200" y="3794760"/>
            <a:ext cx="2560320" cy="411480"/>
          </a:xfrm>
          <a:prstGeom prst="rect">
            <a:avLst/>
          </a:prstGeom>
          <a:noFill/>
        </p:spPr>
        <p:txBody>
          <a:bodyPr wrap="square">
            <a:spAutoFit/>
          </a:bodyPr>
          <a:lstStyle/>
          <a:p>
            <a:pPr algn="l"/>
            <a:r>
              <a:rPr sz="1000" b="0" i="0">
                <a:solidFill>
                  <a:srgbClr val="888888"/>
                </a:solidFill>
                <a:latin typeface="Segoe UI"/>
              </a:rPr>
              <a:t>✅  Human error caught before impact</a:t>
            </a:r>
          </a:p>
        </p:txBody>
      </p:sp>
      <p:sp>
        <p:nvSpPr>
          <p:cNvPr id="16" name="Rectangle 15"/>
          <p:cNvSpPr/>
          <p:nvPr/>
        </p:nvSpPr>
        <p:spPr>
          <a:xfrm>
            <a:off x="3264408" y="1371600"/>
            <a:ext cx="2834640" cy="4389120"/>
          </a:xfrm>
          <a:prstGeom prst="rect">
            <a:avLst/>
          </a:prstGeom>
          <a:solidFill>
            <a:srgbClr val="1A1A1A"/>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64408" y="1371600"/>
            <a:ext cx="2834640" cy="640080"/>
          </a:xfrm>
          <a:prstGeom prst="rect">
            <a:avLst/>
          </a:prstGeom>
          <a:solidFill>
            <a:srgbClr val="331F02"/>
          </a:solidFill>
          <a:ln w="19050">
            <a:solidFill>
              <a:srgbClr val="FF9F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55848"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19" name="TextBox 18"/>
          <p:cNvSpPr txBox="1"/>
          <p:nvPr/>
        </p:nvSpPr>
        <p:spPr>
          <a:xfrm>
            <a:off x="3858768" y="1481328"/>
            <a:ext cx="2103120" cy="292608"/>
          </a:xfrm>
          <a:prstGeom prst="rect">
            <a:avLst/>
          </a:prstGeom>
          <a:noFill/>
        </p:spPr>
        <p:txBody>
          <a:bodyPr wrap="square">
            <a:spAutoFit/>
          </a:bodyPr>
          <a:lstStyle/>
          <a:p>
            <a:pPr algn="l"/>
            <a:r>
              <a:rPr sz="1200" b="1" i="0">
                <a:solidFill>
                  <a:srgbClr val="FF9F0A"/>
                </a:solidFill>
                <a:latin typeface="Segoe UI"/>
              </a:rPr>
              <a:t>MATERIAL</a:t>
            </a:r>
          </a:p>
        </p:txBody>
      </p:sp>
      <p:sp>
        <p:nvSpPr>
          <p:cNvPr id="20" name="TextBox 19"/>
          <p:cNvSpPr txBox="1"/>
          <p:nvPr/>
        </p:nvSpPr>
        <p:spPr>
          <a:xfrm>
            <a:off x="3401568" y="2148840"/>
            <a:ext cx="2560320" cy="411480"/>
          </a:xfrm>
          <a:prstGeom prst="rect">
            <a:avLst/>
          </a:prstGeom>
          <a:noFill/>
        </p:spPr>
        <p:txBody>
          <a:bodyPr wrap="square">
            <a:spAutoFit/>
          </a:bodyPr>
          <a:lstStyle/>
          <a:p>
            <a:pPr algn="l"/>
            <a:r>
              <a:rPr sz="1000" b="0" i="0">
                <a:solidFill>
                  <a:srgbClr val="F0F0F0"/>
                </a:solidFill>
                <a:latin typeface="Segoe UI"/>
              </a:rPr>
              <a:t>✅  Degradation tracked in real time</a:t>
            </a:r>
          </a:p>
        </p:txBody>
      </p:sp>
      <p:sp>
        <p:nvSpPr>
          <p:cNvPr id="21" name="TextBox 20"/>
          <p:cNvSpPr txBox="1"/>
          <p:nvPr/>
        </p:nvSpPr>
        <p:spPr>
          <a:xfrm>
            <a:off x="3401568" y="2697480"/>
            <a:ext cx="2560320" cy="411480"/>
          </a:xfrm>
          <a:prstGeom prst="rect">
            <a:avLst/>
          </a:prstGeom>
          <a:noFill/>
        </p:spPr>
        <p:txBody>
          <a:bodyPr wrap="square">
            <a:spAutoFit/>
          </a:bodyPr>
          <a:lstStyle/>
          <a:p>
            <a:pPr algn="l"/>
            <a:r>
              <a:rPr sz="1000" b="0" i="0">
                <a:solidFill>
                  <a:srgbClr val="888888"/>
                </a:solidFill>
                <a:latin typeface="Segoe UI"/>
              </a:rPr>
              <a:t>✅  Parts ordered before they fail</a:t>
            </a:r>
          </a:p>
        </p:txBody>
      </p:sp>
      <p:sp>
        <p:nvSpPr>
          <p:cNvPr id="22" name="TextBox 21"/>
          <p:cNvSpPr txBox="1"/>
          <p:nvPr/>
        </p:nvSpPr>
        <p:spPr>
          <a:xfrm>
            <a:off x="3401568" y="3246120"/>
            <a:ext cx="2560320" cy="411480"/>
          </a:xfrm>
          <a:prstGeom prst="rect">
            <a:avLst/>
          </a:prstGeom>
          <a:noFill/>
        </p:spPr>
        <p:txBody>
          <a:bodyPr wrap="square">
            <a:spAutoFit/>
          </a:bodyPr>
          <a:lstStyle/>
          <a:p>
            <a:pPr algn="l"/>
            <a:r>
              <a:rPr sz="1000" b="0" i="0">
                <a:solidFill>
                  <a:srgbClr val="F0F0F0"/>
                </a:solidFill>
                <a:latin typeface="Segoe UI"/>
              </a:rPr>
              <a:t>✅  Fluid levels monitored continuously</a:t>
            </a:r>
          </a:p>
        </p:txBody>
      </p:sp>
      <p:sp>
        <p:nvSpPr>
          <p:cNvPr id="23" name="TextBox 22"/>
          <p:cNvSpPr txBox="1"/>
          <p:nvPr/>
        </p:nvSpPr>
        <p:spPr>
          <a:xfrm>
            <a:off x="3401568" y="3794760"/>
            <a:ext cx="2560320" cy="411480"/>
          </a:xfrm>
          <a:prstGeom prst="rect">
            <a:avLst/>
          </a:prstGeom>
          <a:noFill/>
        </p:spPr>
        <p:txBody>
          <a:bodyPr wrap="square">
            <a:spAutoFit/>
          </a:bodyPr>
          <a:lstStyle/>
          <a:p>
            <a:pPr algn="l"/>
            <a:r>
              <a:rPr sz="1000" b="0" i="0">
                <a:solidFill>
                  <a:srgbClr val="888888"/>
                </a:solidFill>
                <a:latin typeface="Segoe UI"/>
              </a:rPr>
              <a:t>✅  Wear patterns detected early</a:t>
            </a:r>
          </a:p>
        </p:txBody>
      </p:sp>
      <p:sp>
        <p:nvSpPr>
          <p:cNvPr id="24" name="Rectangle 23"/>
          <p:cNvSpPr/>
          <p:nvPr/>
        </p:nvSpPr>
        <p:spPr>
          <a:xfrm>
            <a:off x="6208776" y="1371600"/>
            <a:ext cx="2834640" cy="4389120"/>
          </a:xfrm>
          <a:prstGeom prst="rect">
            <a:avLst/>
          </a:prstGeom>
          <a:solidFill>
            <a:srgbClr val="1A1A1A"/>
          </a:solidFill>
          <a:ln w="1905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1371600"/>
            <a:ext cx="2834640" cy="640080"/>
          </a:xfrm>
          <a:prstGeom prst="rect">
            <a:avLst/>
          </a:prstGeom>
          <a:solidFill>
            <a:srgbClr val="021A33"/>
          </a:solidFill>
          <a:ln w="1905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0216"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27" name="TextBox 26"/>
          <p:cNvSpPr txBox="1"/>
          <p:nvPr/>
        </p:nvSpPr>
        <p:spPr>
          <a:xfrm>
            <a:off x="6803136" y="1481328"/>
            <a:ext cx="2103120" cy="292608"/>
          </a:xfrm>
          <a:prstGeom prst="rect">
            <a:avLst/>
          </a:prstGeom>
          <a:noFill/>
        </p:spPr>
        <p:txBody>
          <a:bodyPr wrap="square">
            <a:spAutoFit/>
          </a:bodyPr>
          <a:lstStyle/>
          <a:p>
            <a:pPr algn="l"/>
            <a:r>
              <a:rPr sz="1200" b="1" i="0">
                <a:solidFill>
                  <a:srgbClr val="0A84FF"/>
                </a:solidFill>
                <a:latin typeface="Segoe UI"/>
              </a:rPr>
              <a:t>METHODS</a:t>
            </a:r>
          </a:p>
        </p:txBody>
      </p:sp>
      <p:sp>
        <p:nvSpPr>
          <p:cNvPr id="28" name="TextBox 27"/>
          <p:cNvSpPr txBox="1"/>
          <p:nvPr/>
        </p:nvSpPr>
        <p:spPr>
          <a:xfrm>
            <a:off x="6345936" y="2148840"/>
            <a:ext cx="2560320" cy="411480"/>
          </a:xfrm>
          <a:prstGeom prst="rect">
            <a:avLst/>
          </a:prstGeom>
          <a:noFill/>
        </p:spPr>
        <p:txBody>
          <a:bodyPr wrap="square">
            <a:spAutoFit/>
          </a:bodyPr>
          <a:lstStyle/>
          <a:p>
            <a:pPr algn="l"/>
            <a:r>
              <a:rPr sz="1000" b="0" i="0">
                <a:solidFill>
                  <a:srgbClr val="F0F0F0"/>
                </a:solidFill>
                <a:latin typeface="Segoe UI"/>
              </a:rPr>
              <a:t>✅  Manufacturer manual built into system</a:t>
            </a:r>
          </a:p>
        </p:txBody>
      </p:sp>
      <p:sp>
        <p:nvSpPr>
          <p:cNvPr id="29" name="TextBox 28"/>
          <p:cNvSpPr txBox="1"/>
          <p:nvPr/>
        </p:nvSpPr>
        <p:spPr>
          <a:xfrm>
            <a:off x="6345936" y="2697480"/>
            <a:ext cx="2560320" cy="411480"/>
          </a:xfrm>
          <a:prstGeom prst="rect">
            <a:avLst/>
          </a:prstGeom>
          <a:noFill/>
        </p:spPr>
        <p:txBody>
          <a:bodyPr wrap="square">
            <a:spAutoFit/>
          </a:bodyPr>
          <a:lstStyle/>
          <a:p>
            <a:pPr algn="l"/>
            <a:r>
              <a:rPr sz="1000" b="0" i="0">
                <a:solidFill>
                  <a:srgbClr val="888888"/>
                </a:solidFill>
                <a:latin typeface="Segoe UI"/>
              </a:rPr>
              <a:t>✅  Step-by-step guides auto-generated</a:t>
            </a:r>
          </a:p>
        </p:txBody>
      </p:sp>
      <p:sp>
        <p:nvSpPr>
          <p:cNvPr id="30" name="TextBox 29"/>
          <p:cNvSpPr txBox="1"/>
          <p:nvPr/>
        </p:nvSpPr>
        <p:spPr>
          <a:xfrm>
            <a:off x="6345936" y="3246120"/>
            <a:ext cx="2560320" cy="411480"/>
          </a:xfrm>
          <a:prstGeom prst="rect">
            <a:avLst/>
          </a:prstGeom>
          <a:noFill/>
        </p:spPr>
        <p:txBody>
          <a:bodyPr wrap="square">
            <a:spAutoFit/>
          </a:bodyPr>
          <a:lstStyle/>
          <a:p>
            <a:pPr algn="l"/>
            <a:r>
              <a:rPr sz="1000" b="0" i="0">
                <a:solidFill>
                  <a:srgbClr val="F0F0F0"/>
                </a:solidFill>
                <a:latin typeface="Segoe UI"/>
              </a:rPr>
              <a:t>✅  Maintenance schedules auto-updated</a:t>
            </a:r>
          </a:p>
        </p:txBody>
      </p:sp>
      <p:sp>
        <p:nvSpPr>
          <p:cNvPr id="31" name="TextBox 30"/>
          <p:cNvSpPr txBox="1"/>
          <p:nvPr/>
        </p:nvSpPr>
        <p:spPr>
          <a:xfrm>
            <a:off x="6345936" y="3794760"/>
            <a:ext cx="2560320" cy="411480"/>
          </a:xfrm>
          <a:prstGeom prst="rect">
            <a:avLst/>
          </a:prstGeom>
          <a:noFill/>
        </p:spPr>
        <p:txBody>
          <a:bodyPr wrap="square">
            <a:spAutoFit/>
          </a:bodyPr>
          <a:lstStyle/>
          <a:p>
            <a:pPr algn="l"/>
            <a:r>
              <a:rPr sz="1000" b="0" i="0">
                <a:solidFill>
                  <a:srgbClr val="888888"/>
                </a:solidFill>
                <a:latin typeface="Segoe UI"/>
              </a:rPr>
              <a:t>✅  Best practices enforced by system</a:t>
            </a:r>
          </a:p>
        </p:txBody>
      </p:sp>
      <p:sp>
        <p:nvSpPr>
          <p:cNvPr id="32" name="Rectangle 31"/>
          <p:cNvSpPr/>
          <p:nvPr/>
        </p:nvSpPr>
        <p:spPr>
          <a:xfrm>
            <a:off x="9153144" y="1371600"/>
            <a:ext cx="2834640" cy="4389120"/>
          </a:xfrm>
          <a:prstGeom prst="rect">
            <a:avLst/>
          </a:prstGeom>
          <a:solidFill>
            <a:srgbClr val="1A1A1A"/>
          </a:solidFill>
          <a:ln w="1905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53144" y="1371600"/>
            <a:ext cx="2834640" cy="640080"/>
          </a:xfrm>
          <a:prstGeom prst="rect">
            <a:avLst/>
          </a:prstGeom>
          <a:solidFill>
            <a:srgbClr val="092911"/>
          </a:solidFill>
          <a:ln w="19050">
            <a:solidFill>
              <a:srgbClr val="30D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44584" y="1408176"/>
            <a:ext cx="502920" cy="475488"/>
          </a:xfrm>
          <a:prstGeom prst="rect">
            <a:avLst/>
          </a:prstGeom>
          <a:noFill/>
        </p:spPr>
        <p:txBody>
          <a:bodyPr wrap="square">
            <a:spAutoFit/>
          </a:bodyPr>
          <a:lstStyle/>
          <a:p>
            <a:pPr algn="l"/>
            <a:r>
              <a:rPr sz="2200" b="0" i="0">
                <a:solidFill>
                  <a:srgbClr val="F0F0F0"/>
                </a:solidFill>
                <a:latin typeface="Segoe UI"/>
              </a:rPr>
              <a:t>⚙</a:t>
            </a:r>
          </a:p>
        </p:txBody>
      </p:sp>
      <p:sp>
        <p:nvSpPr>
          <p:cNvPr id="35" name="TextBox 34"/>
          <p:cNvSpPr txBox="1"/>
          <p:nvPr/>
        </p:nvSpPr>
        <p:spPr>
          <a:xfrm>
            <a:off x="9747504" y="1481328"/>
            <a:ext cx="2103120" cy="292608"/>
          </a:xfrm>
          <a:prstGeom prst="rect">
            <a:avLst/>
          </a:prstGeom>
          <a:noFill/>
        </p:spPr>
        <p:txBody>
          <a:bodyPr wrap="square">
            <a:spAutoFit/>
          </a:bodyPr>
          <a:lstStyle/>
          <a:p>
            <a:pPr algn="l"/>
            <a:r>
              <a:rPr sz="1200" b="1" i="0">
                <a:solidFill>
                  <a:srgbClr val="30D158"/>
                </a:solidFill>
                <a:latin typeface="Segoe UI"/>
              </a:rPr>
              <a:t>MACHINE</a:t>
            </a:r>
          </a:p>
        </p:txBody>
      </p:sp>
      <p:sp>
        <p:nvSpPr>
          <p:cNvPr id="36" name="TextBox 35"/>
          <p:cNvSpPr txBox="1"/>
          <p:nvPr/>
        </p:nvSpPr>
        <p:spPr>
          <a:xfrm>
            <a:off x="9290304" y="2148840"/>
            <a:ext cx="2560320" cy="411480"/>
          </a:xfrm>
          <a:prstGeom prst="rect">
            <a:avLst/>
          </a:prstGeom>
          <a:noFill/>
        </p:spPr>
        <p:txBody>
          <a:bodyPr wrap="square">
            <a:spAutoFit/>
          </a:bodyPr>
          <a:lstStyle/>
          <a:p>
            <a:pPr algn="l"/>
            <a:r>
              <a:rPr sz="1000" b="0" i="0">
                <a:solidFill>
                  <a:srgbClr val="F0F0F0"/>
                </a:solidFill>
                <a:latin typeface="Segoe UI"/>
              </a:rPr>
              <a:t>✅  Heat anomalies caught in minutes</a:t>
            </a:r>
          </a:p>
        </p:txBody>
      </p:sp>
      <p:sp>
        <p:nvSpPr>
          <p:cNvPr id="37" name="TextBox 36"/>
          <p:cNvSpPr txBox="1"/>
          <p:nvPr/>
        </p:nvSpPr>
        <p:spPr>
          <a:xfrm>
            <a:off x="9290304" y="2697480"/>
            <a:ext cx="2560320" cy="411480"/>
          </a:xfrm>
          <a:prstGeom prst="rect">
            <a:avLst/>
          </a:prstGeom>
          <a:noFill/>
        </p:spPr>
        <p:txBody>
          <a:bodyPr wrap="square">
            <a:spAutoFit/>
          </a:bodyPr>
          <a:lstStyle/>
          <a:p>
            <a:pPr algn="l"/>
            <a:r>
              <a:rPr sz="1000" b="0" i="0">
                <a:solidFill>
                  <a:srgbClr val="888888"/>
                </a:solidFill>
                <a:latin typeface="Segoe UI"/>
              </a:rPr>
              <a:t>✅  Vibration patterns analysed by AI</a:t>
            </a:r>
          </a:p>
        </p:txBody>
      </p:sp>
      <p:sp>
        <p:nvSpPr>
          <p:cNvPr id="38" name="TextBox 37"/>
          <p:cNvSpPr txBox="1"/>
          <p:nvPr/>
        </p:nvSpPr>
        <p:spPr>
          <a:xfrm>
            <a:off x="9290304" y="3246120"/>
            <a:ext cx="2560320" cy="411480"/>
          </a:xfrm>
          <a:prstGeom prst="rect">
            <a:avLst/>
          </a:prstGeom>
          <a:noFill/>
        </p:spPr>
        <p:txBody>
          <a:bodyPr wrap="square">
            <a:spAutoFit/>
          </a:bodyPr>
          <a:lstStyle/>
          <a:p>
            <a:pPr algn="l"/>
            <a:r>
              <a:rPr sz="1000" b="0" i="0">
                <a:solidFill>
                  <a:srgbClr val="F0F0F0"/>
                </a:solidFill>
                <a:latin typeface="Segoe UI"/>
              </a:rPr>
              <a:t>✅  6-gear system fully monitored</a:t>
            </a:r>
          </a:p>
        </p:txBody>
      </p:sp>
      <p:sp>
        <p:nvSpPr>
          <p:cNvPr id="39" name="TextBox 38"/>
          <p:cNvSpPr txBox="1"/>
          <p:nvPr/>
        </p:nvSpPr>
        <p:spPr>
          <a:xfrm>
            <a:off x="9290304" y="3794760"/>
            <a:ext cx="2560320" cy="411480"/>
          </a:xfrm>
          <a:prstGeom prst="rect">
            <a:avLst/>
          </a:prstGeom>
          <a:noFill/>
        </p:spPr>
        <p:txBody>
          <a:bodyPr wrap="square">
            <a:spAutoFit/>
          </a:bodyPr>
          <a:lstStyle/>
          <a:p>
            <a:pPr algn="l"/>
            <a:r>
              <a:rPr sz="1000" b="0" i="0">
                <a:solidFill>
                  <a:srgbClr val="888888"/>
                </a:solidFill>
                <a:latin typeface="Segoe UI"/>
              </a:rPr>
              <a:t>✅  Failures predicted — not reacted to</a:t>
            </a:r>
          </a:p>
        </p:txBody>
      </p:sp>
      <p:sp>
        <p:nvSpPr>
          <p:cNvPr id="40" name="Rectangle 39"/>
          <p:cNvSpPr/>
          <p:nvPr/>
        </p:nvSpPr>
        <p:spPr>
          <a:xfrm>
            <a:off x="365760" y="5897880"/>
            <a:ext cx="11430000" cy="685800"/>
          </a:xfrm>
          <a:prstGeom prst="rect">
            <a:avLst/>
          </a:prstGeom>
          <a:solidFill>
            <a:srgbClr val="1A1A1A"/>
          </a:solidFill>
          <a:ln w="12700">
            <a:solidFill>
              <a:srgbClr val="0A8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6016752"/>
            <a:ext cx="11064240" cy="438912"/>
          </a:xfrm>
          <a:prstGeom prst="rect">
            <a:avLst/>
          </a:prstGeom>
          <a:noFill/>
        </p:spPr>
        <p:txBody>
          <a:bodyPr wrap="square">
            <a:spAutoFit/>
          </a:bodyPr>
          <a:lstStyle/>
          <a:p>
            <a:pPr algn="ctr"/>
            <a:r>
              <a:rPr sz="1200" b="1" i="0">
                <a:solidFill>
                  <a:srgbClr val="0A84FF"/>
                </a:solidFill>
                <a:latin typeface="Segoe UI"/>
              </a:rPr>
              <a:t>50 robots  ×  12 sensors  =  600 data points  ·  Updated every 30 seconds  =  72,000 readings/hour  ·  No human team can do this alone.</a:t>
            </a:r>
          </a:p>
        </p:txBody>
      </p:sp>
      <p:sp>
        <p:nvSpPr>
          <p:cNvPr id="42" name="TextBox 41"/>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43" name="TextBox 42"/>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93992"/>
            <a:ext cx="12188952" cy="64008"/>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
            <a:ext cx="12188952" cy="6729984"/>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05840"/>
            <a:ext cx="12188952" cy="594360"/>
          </a:xfrm>
          <a:prstGeom prst="rect">
            <a:avLst/>
          </a:prstGeom>
          <a:noFill/>
        </p:spPr>
        <p:txBody>
          <a:bodyPr wrap="square">
            <a:spAutoFit/>
          </a:bodyPr>
          <a:lstStyle/>
          <a:p>
            <a:pPr algn="ctr"/>
            <a:r>
              <a:rPr sz="2800" b="0" i="1">
                <a:solidFill>
                  <a:srgbClr val="888888"/>
                </a:solidFill>
                <a:latin typeface="Segoe UI"/>
              </a:rPr>
              <a:t>Robot R-47 didn't have to fail.</a:t>
            </a:r>
          </a:p>
        </p:txBody>
      </p:sp>
      <p:sp>
        <p:nvSpPr>
          <p:cNvPr id="6" name="TextBox 5"/>
          <p:cNvSpPr txBox="1"/>
          <p:nvPr/>
        </p:nvSpPr>
        <p:spPr>
          <a:xfrm>
            <a:off x="0" y="1600200"/>
            <a:ext cx="12188952" cy="502920"/>
          </a:xfrm>
          <a:prstGeom prst="rect">
            <a:avLst/>
          </a:prstGeom>
          <a:noFill/>
        </p:spPr>
        <p:txBody>
          <a:bodyPr wrap="square">
            <a:spAutoFit/>
          </a:bodyPr>
          <a:lstStyle/>
          <a:p>
            <a:pPr algn="ctr"/>
            <a:r>
              <a:rPr sz="2200" b="0" i="1">
                <a:solidFill>
                  <a:srgbClr val="888888"/>
                </a:solidFill>
                <a:latin typeface="Segoe UI"/>
              </a:rPr>
              <a:t>The signs were always there.</a:t>
            </a:r>
          </a:p>
        </p:txBody>
      </p:sp>
      <p:cxnSp>
        <p:nvCxnSpPr>
          <p:cNvPr id="7" name="Connector 6"/>
          <p:cNvCxnSpPr/>
          <p:nvPr/>
        </p:nvCxnSpPr>
        <p:spPr>
          <a:xfrm>
            <a:off x="365760" y="2240280"/>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0" y="2377440"/>
            <a:ext cx="12188952" cy="411480"/>
          </a:xfrm>
          <a:prstGeom prst="rect">
            <a:avLst/>
          </a:prstGeom>
          <a:noFill/>
        </p:spPr>
        <p:txBody>
          <a:bodyPr wrap="square">
            <a:spAutoFit/>
          </a:bodyPr>
          <a:lstStyle/>
          <a:p>
            <a:pPr algn="ctr"/>
            <a:r>
              <a:rPr sz="1800" b="0" i="0">
                <a:solidFill>
                  <a:srgbClr val="FF3B30"/>
                </a:solidFill>
                <a:latin typeface="Segoe UI"/>
              </a:rPr>
              <a:t>The heat was rising.</a:t>
            </a:r>
          </a:p>
        </p:txBody>
      </p:sp>
      <p:sp>
        <p:nvSpPr>
          <p:cNvPr id="9" name="TextBox 8"/>
          <p:cNvSpPr txBox="1"/>
          <p:nvPr/>
        </p:nvSpPr>
        <p:spPr>
          <a:xfrm>
            <a:off x="0" y="2788920"/>
            <a:ext cx="12188952" cy="411480"/>
          </a:xfrm>
          <a:prstGeom prst="rect">
            <a:avLst/>
          </a:prstGeom>
          <a:noFill/>
        </p:spPr>
        <p:txBody>
          <a:bodyPr wrap="square">
            <a:spAutoFit/>
          </a:bodyPr>
          <a:lstStyle/>
          <a:p>
            <a:pPr algn="ctr"/>
            <a:r>
              <a:rPr sz="1800" b="0" i="0">
                <a:solidFill>
                  <a:srgbClr val="FF9F0A"/>
                </a:solidFill>
                <a:latin typeface="Segoe UI"/>
              </a:rPr>
              <a:t>The gears were struggling.</a:t>
            </a:r>
          </a:p>
        </p:txBody>
      </p:sp>
      <p:sp>
        <p:nvSpPr>
          <p:cNvPr id="10" name="TextBox 9"/>
          <p:cNvSpPr txBox="1"/>
          <p:nvPr/>
        </p:nvSpPr>
        <p:spPr>
          <a:xfrm>
            <a:off x="0" y="3200400"/>
            <a:ext cx="12188952" cy="411480"/>
          </a:xfrm>
          <a:prstGeom prst="rect">
            <a:avLst/>
          </a:prstGeom>
          <a:noFill/>
        </p:spPr>
        <p:txBody>
          <a:bodyPr wrap="square">
            <a:spAutoFit/>
          </a:bodyPr>
          <a:lstStyle/>
          <a:p>
            <a:pPr algn="ctr"/>
            <a:r>
              <a:rPr sz="1800" b="0" i="0">
                <a:solidFill>
                  <a:srgbClr val="FF3B30"/>
                </a:solidFill>
                <a:latin typeface="Segoe UI"/>
              </a:rPr>
              <a:t>The vibration was building.</a:t>
            </a:r>
          </a:p>
        </p:txBody>
      </p:sp>
      <p:cxnSp>
        <p:nvCxnSpPr>
          <p:cNvPr id="11" name="Connector 10"/>
          <p:cNvCxnSpPr/>
          <p:nvPr/>
        </p:nvCxnSpPr>
        <p:spPr>
          <a:xfrm>
            <a:off x="365760" y="3749039"/>
            <a:ext cx="11457432" cy="0"/>
          </a:xfrm>
          <a:prstGeom prst="line">
            <a:avLst/>
          </a:prstGeom>
          <a:ln w="9525">
            <a:solidFill>
              <a:srgbClr val="33333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0" y="3886200"/>
            <a:ext cx="12188952" cy="457200"/>
          </a:xfrm>
          <a:prstGeom prst="rect">
            <a:avLst/>
          </a:prstGeom>
          <a:noFill/>
        </p:spPr>
        <p:txBody>
          <a:bodyPr wrap="square">
            <a:spAutoFit/>
          </a:bodyPr>
          <a:lstStyle/>
          <a:p>
            <a:pPr algn="ctr"/>
            <a:r>
              <a:rPr sz="2000" b="0" i="1">
                <a:solidFill>
                  <a:srgbClr val="888888"/>
                </a:solidFill>
                <a:latin typeface="Segoe UI"/>
              </a:rPr>
              <a:t>All it needed...</a:t>
            </a:r>
          </a:p>
        </p:txBody>
      </p:sp>
      <p:sp>
        <p:nvSpPr>
          <p:cNvPr id="13" name="TextBox 12"/>
          <p:cNvSpPr txBox="1"/>
          <p:nvPr/>
        </p:nvSpPr>
        <p:spPr>
          <a:xfrm>
            <a:off x="0" y="4343400"/>
            <a:ext cx="12188952" cy="594360"/>
          </a:xfrm>
          <a:prstGeom prst="rect">
            <a:avLst/>
          </a:prstGeom>
          <a:noFill/>
        </p:spPr>
        <p:txBody>
          <a:bodyPr wrap="square">
            <a:spAutoFit/>
          </a:bodyPr>
          <a:lstStyle/>
          <a:p>
            <a:pPr algn="ctr"/>
            <a:r>
              <a:rPr sz="2600" b="1" i="0">
                <a:solidFill>
                  <a:srgbClr val="F0F0F0"/>
                </a:solidFill>
                <a:latin typeface="Segoe UI"/>
              </a:rPr>
              <a:t>was something that would LISTEN.</a:t>
            </a:r>
          </a:p>
        </p:txBody>
      </p:sp>
      <p:cxnSp>
        <p:nvCxnSpPr>
          <p:cNvPr id="14" name="Connector 13"/>
          <p:cNvCxnSpPr/>
          <p:nvPr/>
        </p:nvCxnSpPr>
        <p:spPr>
          <a:xfrm>
            <a:off x="365760" y="5074920"/>
            <a:ext cx="11457432" cy="0"/>
          </a:xfrm>
          <a:prstGeom prst="line">
            <a:avLst/>
          </a:prstGeom>
          <a:ln w="9525">
            <a:solidFill>
              <a:srgbClr val="0A84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0" y="5212080"/>
            <a:ext cx="12188952" cy="594360"/>
          </a:xfrm>
          <a:prstGeom prst="rect">
            <a:avLst/>
          </a:prstGeom>
          <a:noFill/>
        </p:spPr>
        <p:txBody>
          <a:bodyPr wrap="square">
            <a:spAutoFit/>
          </a:bodyPr>
          <a:lstStyle/>
          <a:p>
            <a:pPr algn="ctr"/>
            <a:r>
              <a:rPr sz="2400" b="1" i="0">
                <a:solidFill>
                  <a:srgbClr val="0A84FF"/>
                </a:solidFill>
                <a:latin typeface="Segoe UI"/>
              </a:rPr>
              <a:t>🖤  THE GUARDIAN BOX LISTENS.</a:t>
            </a:r>
          </a:p>
        </p:txBody>
      </p:sp>
      <p:sp>
        <p:nvSpPr>
          <p:cNvPr id="16" name="TextBox 15"/>
          <p:cNvSpPr txBox="1"/>
          <p:nvPr/>
        </p:nvSpPr>
        <p:spPr>
          <a:xfrm>
            <a:off x="0" y="5806440"/>
            <a:ext cx="12188952" cy="411480"/>
          </a:xfrm>
          <a:prstGeom prst="rect">
            <a:avLst/>
          </a:prstGeom>
          <a:noFill/>
        </p:spPr>
        <p:txBody>
          <a:bodyPr wrap="square">
            <a:spAutoFit/>
          </a:bodyPr>
          <a:lstStyle/>
          <a:p>
            <a:pPr algn="ctr"/>
            <a:r>
              <a:rPr sz="1600" b="0" i="1">
                <a:solidFill>
                  <a:srgbClr val="888888"/>
                </a:solidFill>
                <a:latin typeface="Segoe UI"/>
              </a:rPr>
              <a:t>When robots talk...  The Guardian Box answers.</a:t>
            </a:r>
          </a:p>
        </p:txBody>
      </p:sp>
      <p:sp>
        <p:nvSpPr>
          <p:cNvPr id="17" name="TextBox 16"/>
          <p:cNvSpPr txBox="1"/>
          <p:nvPr/>
        </p:nvSpPr>
        <p:spPr>
          <a:xfrm>
            <a:off x="0" y="6236208"/>
            <a:ext cx="12188952" cy="411480"/>
          </a:xfrm>
          <a:prstGeom prst="rect">
            <a:avLst/>
          </a:prstGeom>
          <a:noFill/>
        </p:spPr>
        <p:txBody>
          <a:bodyPr wrap="square">
            <a:spAutoFit/>
          </a:bodyPr>
          <a:lstStyle/>
          <a:p>
            <a:pPr algn="ctr"/>
            <a:r>
              <a:rPr sz="1400" b="1" i="0">
                <a:solidFill>
                  <a:srgbClr val="F0F0F0"/>
                </a:solidFill>
                <a:latin typeface="Segoe UI"/>
              </a:rPr>
              <a:t>And your assembly line  NEVER. STOPS. AGAIN.</a:t>
            </a:r>
          </a:p>
        </p:txBody>
      </p:sp>
      <p:sp>
        <p:nvSpPr>
          <p:cNvPr id="18" name="TextBox 17"/>
          <p:cNvSpPr txBox="1"/>
          <p:nvPr/>
        </p:nvSpPr>
        <p:spPr>
          <a:xfrm>
            <a:off x="365760" y="6537960"/>
            <a:ext cx="8229600" cy="256032"/>
          </a:xfrm>
          <a:prstGeom prst="rect">
            <a:avLst/>
          </a:prstGeom>
          <a:noFill/>
        </p:spPr>
        <p:txBody>
          <a:bodyPr wrap="square">
            <a:spAutoFit/>
          </a:bodyPr>
          <a:lstStyle/>
          <a:p>
            <a:pPr algn="l"/>
            <a:r>
              <a:rPr sz="800" b="0" i="0">
                <a:solidFill>
                  <a:srgbClr val="555555"/>
                </a:solidFill>
                <a:latin typeface="Segoe UI"/>
              </a:rPr>
              <a:t>THE GUARDIAN BOX  ·  Honda/OVIN Hackathon 2026</a:t>
            </a:r>
          </a:p>
        </p:txBody>
      </p:sp>
      <p:sp>
        <p:nvSpPr>
          <p:cNvPr id="19" name="TextBox 18"/>
          <p:cNvSpPr txBox="1"/>
          <p:nvPr/>
        </p:nvSpPr>
        <p:spPr>
          <a:xfrm>
            <a:off x="11612880" y="6537960"/>
            <a:ext cx="457200" cy="256032"/>
          </a:xfrm>
          <a:prstGeom prst="rect">
            <a:avLst/>
          </a:prstGeom>
          <a:noFill/>
        </p:spPr>
        <p:txBody>
          <a:bodyPr wrap="square">
            <a:spAutoFit/>
          </a:bodyPr>
          <a:lstStyle/>
          <a:p>
            <a:pPr algn="r"/>
            <a:r>
              <a:rPr sz="800" b="0" i="0">
                <a:solidFill>
                  <a:srgbClr val="555555"/>
                </a:solidFill>
                <a:latin typeface="Segoe U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