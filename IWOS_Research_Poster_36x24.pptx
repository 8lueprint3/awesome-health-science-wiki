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21945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2834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329184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365760"/>
            <a:ext cx="3200400" cy="19202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365760"/>
            <a:ext cx="32004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B4D8"/>
                </a:solidFill>
              </a:rPr>
              <a:t>GEORGIAN
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446078"/>
                </a:solidFill>
              </a:rPr>
              <a:t>← upload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56032"/>
            <a:ext cx="24231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INTELLIGENT WORKFORCE OPTIMIZATION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508760"/>
            <a:ext cx="24231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4D8"/>
                </a:solidFill>
              </a:rPr>
              <a:t>A Closed-Loop Framework for Skill Assessment, Team Formation, and Adaptive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267712"/>
            <a:ext cx="2423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D0DFEE"/>
                </a:solidFill>
              </a:rPr>
              <a:t>Femachi Ajoku  &amp;  Peter Egessa   ·   Georgian College  ·  RISE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620720" y="365760"/>
            <a:ext cx="3931920" cy="1920240"/>
          </a:xfrm>
          <a:prstGeom prst="rect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57880" y="475488"/>
            <a:ext cx="365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RISE
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57880" y="153619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DFEE"/>
                </a:solidFill>
              </a:rPr>
              <a:t>Innovation Showcase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3035808"/>
            <a:ext cx="54864" cy="17903952"/>
          </a:xfrm>
          <a:prstGeom prst="rect">
            <a:avLst/>
          </a:prstGeom>
          <a:solidFill>
            <a:srgbClr val="D0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002000" y="3035808"/>
            <a:ext cx="54864" cy="17903952"/>
          </a:xfrm>
          <a:prstGeom prst="rect">
            <a:avLst/>
          </a:prstGeom>
          <a:solidFill>
            <a:srgbClr val="D0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77320" y="3035808"/>
            <a:ext cx="54864" cy="17903952"/>
          </a:xfrm>
          <a:prstGeom prst="rect">
            <a:avLst/>
          </a:prstGeom>
          <a:solidFill>
            <a:srgbClr val="D0DF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18688"/>
            <a:ext cx="7223760" cy="50292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273552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Background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13048"/>
            <a:ext cx="6995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Organizations struggle to match the right people to the right projects. Traditional talent allocation depends on static proxies — résumés, job titles, and years of experience — that fail to reflect actual, current capability.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" y="4910328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Problems for Members / Employees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49240"/>
            <a:ext cx="6995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•  Cannot view real-time skill demand for active projects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769864"/>
            <a:ext cx="6995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•  No personalized guidance on which skills to develop 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190488"/>
            <a:ext cx="6995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•  Assigned work rarely aligns with actual technical strengths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611112"/>
            <a:ext cx="6995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•  No visibility into how their performance impacts future opportunities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7031736"/>
            <a:ext cx="6995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•  Generic training programs waste time on already-mastered skills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75895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Problems for Organizations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8028432"/>
            <a:ext cx="6995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•  Skill matching is keyword-based, not competency-based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8449056"/>
            <a:ext cx="6995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•  Project allocation lacks dynamic adaptability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8869680"/>
            <a:ext cx="6995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•  Misaligned teams → reduced productivity &amp; higher failure rates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9290304"/>
            <a:ext cx="6995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•  Underutilization of skilled individuals across departments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9710928"/>
            <a:ext cx="6995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•  No feedback mechanism to learn from past project outcomes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10131552"/>
            <a:ext cx="6995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•  Existing platforms (Jira, Asana) track tasks — not talent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10826496"/>
            <a:ext cx="7223760" cy="50292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1088136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35" name="Oval 34"/>
          <p:cNvSpPr/>
          <p:nvPr/>
        </p:nvSpPr>
        <p:spPr>
          <a:xfrm>
            <a:off x="457200" y="11466576"/>
            <a:ext cx="292608" cy="292608"/>
          </a:xfrm>
          <a:prstGeom prst="ellipse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114665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11420856"/>
            <a:ext cx="6629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How can we accurately evaluate real technical competency beyond résumés and titles?</a:t>
            </a:r>
          </a:p>
        </p:txBody>
      </p:sp>
      <p:sp>
        <p:nvSpPr>
          <p:cNvPr id="38" name="Oval 37"/>
          <p:cNvSpPr/>
          <p:nvPr/>
        </p:nvSpPr>
        <p:spPr>
          <a:xfrm>
            <a:off x="457200" y="11923776"/>
            <a:ext cx="292608" cy="292608"/>
          </a:xfrm>
          <a:prstGeom prst="ellipse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119237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11878056"/>
            <a:ext cx="6629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Is it possible to dynamically match individuals to projects based on live skill profiles?</a:t>
            </a:r>
          </a:p>
        </p:txBody>
      </p:sp>
      <p:sp>
        <p:nvSpPr>
          <p:cNvPr id="41" name="Oval 40"/>
          <p:cNvSpPr/>
          <p:nvPr/>
        </p:nvSpPr>
        <p:spPr>
          <a:xfrm>
            <a:off x="457200" y="12380976"/>
            <a:ext cx="292608" cy="292608"/>
          </a:xfrm>
          <a:prstGeom prst="ellipse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123809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12335256"/>
            <a:ext cx="6629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How can personalized learning pathways accelerate expertise development?</a:t>
            </a:r>
          </a:p>
        </p:txBody>
      </p:sp>
      <p:sp>
        <p:nvSpPr>
          <p:cNvPr id="44" name="Oval 43"/>
          <p:cNvSpPr/>
          <p:nvPr/>
        </p:nvSpPr>
        <p:spPr>
          <a:xfrm>
            <a:off x="457200" y="12838176"/>
            <a:ext cx="292608" cy="292608"/>
          </a:xfrm>
          <a:prstGeom prst="ellipse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128381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12792456"/>
            <a:ext cx="6629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Can a closed-loop feedback system improve team formation accuracy over time?</a:t>
            </a:r>
          </a:p>
        </p:txBody>
      </p:sp>
      <p:sp>
        <p:nvSpPr>
          <p:cNvPr id="47" name="Oval 46"/>
          <p:cNvSpPr/>
          <p:nvPr/>
        </p:nvSpPr>
        <p:spPr>
          <a:xfrm>
            <a:off x="457200" y="13295376"/>
            <a:ext cx="292608" cy="292608"/>
          </a:xfrm>
          <a:prstGeom prst="ellipse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1329537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13249656"/>
            <a:ext cx="6629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How can we reduce the time and cost of building high-performing project teams?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63840" y="3218688"/>
            <a:ext cx="8046720" cy="502920"/>
          </a:xfrm>
          <a:prstGeom prst="rect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28432" y="327355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3813048"/>
            <a:ext cx="7818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6078"/>
                </a:solidFill>
              </a:rPr>
              <a:t>We designed and prototyped an intelligent workforce optimization system built on three methodological components: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73568" y="4617720"/>
            <a:ext cx="7845552" cy="1737360"/>
          </a:xfrm>
          <a:prstGeom prst="rect">
            <a:avLst/>
          </a:prstGeom>
          <a:solidFill>
            <a:srgbClr val="EAF4FA"/>
          </a:solidFill>
          <a:ln w="12700">
            <a:solidFill>
              <a:srgbClr val="D0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973568" y="4617720"/>
            <a:ext cx="73152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38160" y="470916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◉  Competency Assessment Framework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56448" y="516636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Structured, multi-dimensional evaluation of technical skills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56448" y="555040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Measures depth and breadth — not just credentials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56448" y="593445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Produces normalized skill scores across 6+ dimensions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73568" y="6519672"/>
            <a:ext cx="7845552" cy="1737360"/>
          </a:xfrm>
          <a:prstGeom prst="rect">
            <a:avLst/>
          </a:prstGeom>
          <a:solidFill>
            <a:srgbClr val="EAF4FA"/>
          </a:solidFill>
          <a:ln w="12700">
            <a:solidFill>
              <a:srgbClr val="D0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973568" y="6519672"/>
            <a:ext cx="73152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38160" y="6611112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⬡  Skill-Based Matching Model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56448" y="706831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Structured skill-to-requirement representation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56448" y="745236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Identifies optimal team compositions for each project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56448" y="783640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Scores candidates against active project requirements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73568" y="8421624"/>
            <a:ext cx="7845552" cy="1737360"/>
          </a:xfrm>
          <a:prstGeom prst="rect">
            <a:avLst/>
          </a:prstGeom>
          <a:solidFill>
            <a:srgbClr val="EAF4FA"/>
          </a:solidFill>
          <a:ln w="12700">
            <a:solidFill>
              <a:srgbClr val="D0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973568" y="8421624"/>
            <a:ext cx="73152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38160" y="8513064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↗  Adaptive Learning Mechanism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56448" y="8970264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Identifies gaps between current profile and project needs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56448" y="935431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Recommends targeted learning pathways per individual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56448" y="973836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Performance data feeds back to refine future matching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63840" y="10506456"/>
            <a:ext cx="8046720" cy="50292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28432" y="10561320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01000" y="11100816"/>
            <a:ext cx="1645920" cy="1143000"/>
          </a:xfrm>
          <a:prstGeom prst="rect">
            <a:avLst/>
          </a:prstGeom>
          <a:solidFill>
            <a:srgbClr val="44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074152" y="11192256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INPUT LAYER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74152" y="1172260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Skills &amp; requirements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665208" y="11448288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48088" y="11100816"/>
            <a:ext cx="1645920" cy="1143000"/>
          </a:xfrm>
          <a:prstGeom prst="rect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921240" y="11192256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COMPETENCY
EVAL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921240" y="1172260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Multi-factor scoring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512296" y="11448288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695176" y="11100816"/>
            <a:ext cx="1645920" cy="1143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768328" y="11192256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MATCHING
ENGINE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768328" y="1172260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Profile alignment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359384" y="11448288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</a:rPr>
              <a:t>→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542264" y="11100816"/>
            <a:ext cx="1645920" cy="11430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615416" y="11192256"/>
            <a:ext cx="14996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3615416" y="1172260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Teams + paths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875520" y="12426696"/>
            <a:ext cx="4023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01000" y="12518136"/>
            <a:ext cx="7790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7E9B"/>
                </a:solidFill>
              </a:rPr>
              <a:t>↑  Feedback Loop — project outcomes continuously refine the model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6139159" y="3218688"/>
            <a:ext cx="804672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6303751" y="327355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6248887" y="3813048"/>
            <a:ext cx="7845552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6248887" y="3813048"/>
            <a:ext cx="64008" cy="229514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6431767" y="3904488"/>
            <a:ext cx="7571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🎯  Accurate Skill Assessment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450055" y="4343400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Multi-dimensional profiles built from real performance data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6450055" y="4736592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6 skill dimensions evaluated per candidate per assessment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6450055" y="5129784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Profiles update continuously — not just at hire time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6450055" y="5522976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Privacy-preserving: only aggregated scores are shared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6248887" y="6272784"/>
            <a:ext cx="7845552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6248887" y="6272784"/>
            <a:ext cx="64008" cy="2295144"/>
          </a:xfrm>
          <a:prstGeom prst="rect">
            <a:avLst/>
          </a:prstGeom>
          <a:solidFill>
            <a:srgbClr val="007E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431767" y="6364224"/>
            <a:ext cx="7571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🔗  Optimized Team Matching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450055" y="6803136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Best-fit candidate scoring against each project requirement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6450055" y="7196328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Teams assembled with full skill coverage across all roles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6450055" y="7589520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Match accuracy improves with each project cycle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6450055" y="7982712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Reduces time-to-team-formation vs. manual assignment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248887" y="8732520"/>
            <a:ext cx="7845552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6248887" y="8732520"/>
            <a:ext cx="64008" cy="229514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6431767" y="8823960"/>
            <a:ext cx="7571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📈  Improved Facility / Workforce Utilization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450055" y="9262872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Estimated ~24% increase in effective talent utilization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450055" y="9656064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Fewer mismatches → fewer project delays and restarts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6450055" y="10049256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Underutilized talent surfaced and placed appropriately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6450055" y="10442448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Data-driven decisions replace gut-feel allocations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6248887" y="11192256"/>
            <a:ext cx="7845552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6248887" y="11192256"/>
            <a:ext cx="64008" cy="2295144"/>
          </a:xfrm>
          <a:prstGeom prst="rect">
            <a:avLst/>
          </a:prstGeom>
          <a:solidFill>
            <a:srgbClr val="02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6431767" y="11283696"/>
            <a:ext cx="7571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⚡  Adaptive Learning Outcomes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6450055" y="11722608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Personalized learning paths reduce time-to-expertise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450055" y="12115800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Targeted modules close specific gaps — not generic courses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6450055" y="12508992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Learner progress feeds back into skill profile in real time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6450055" y="12902184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Employees reach next seniority band faster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248887" y="13651992"/>
            <a:ext cx="7845552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6248887" y="13651992"/>
            <a:ext cx="64008" cy="2295144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6431767" y="13743432"/>
            <a:ext cx="7571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💬  Reduced Administrative Overhead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6450055" y="14182344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Automated skill profile updates eliminate manual HR forms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450055" y="14575536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AI-assisted team recommendations cut coordinator workload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6450055" y="14968728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Common assignment questions resolved instantly 24/7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6450055" y="15361920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Staff freed to focus on complex, high-value decisions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6248887" y="16111728"/>
            <a:ext cx="7845552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6248887" y="16111728"/>
            <a:ext cx="64008" cy="229514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6431767" y="16203168"/>
            <a:ext cx="7571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💰  Cost &amp; Scalability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6450055" y="16642080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Local-first architecture reduces long-term SaaS dependency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6450055" y="17035272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System scales across teams, departments, and organizations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6450055" y="17428464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Compatible with existing project management ecosystems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6450055" y="17821656"/>
            <a:ext cx="7525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Designed for enterprise, SMB, and training institutions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4414480" y="3218688"/>
            <a:ext cx="8138160" cy="50292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4579072" y="3273552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4524208" y="3813048"/>
            <a:ext cx="7936992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4615648" y="38496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For Individuals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4551640" y="4251960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Work assignments match actual skills and interests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4551640" y="4672584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Targeted learning paths accelerate expertise growth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4551640" y="5093208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Faster career progression through merit-based matching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4551640" y="5513832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Inclusive opportunities regardless of title or tenure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4524208" y="6099048"/>
            <a:ext cx="7936992" cy="38404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4615648" y="61356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For Organizations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4551640" y="6537960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Higher project success rates through optimal team formation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4551640" y="6958584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Reduced time to build qualified, well-matched teams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4551640" y="7379208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Better utilization of existing internal talent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4551640" y="7799832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Data-driven workforce decisions at scale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4524208" y="8385048"/>
            <a:ext cx="7936992" cy="384048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4615648" y="842162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For the Workforce Ecosystem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4551640" y="8823960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Bridges gap between learning platforms &amp; talent management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4551640" y="9244584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Applicable across tech, healthcare, education, government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4551640" y="9665208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Supports continuous reskilling for a changing job market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24551640" y="10085832"/>
            <a:ext cx="7909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6078"/>
                </a:solidFill>
              </a:rPr>
              <a:t>•  Creates a new category: intelligent workforce optimization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24414480" y="10762488"/>
            <a:ext cx="8138160" cy="502920"/>
          </a:xfrm>
          <a:prstGeom prst="rect">
            <a:avLst/>
          </a:prstGeom>
          <a:solidFill>
            <a:srgbClr val="1A6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24579072" y="10817352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Sustainable Development Goals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4524208" y="11356848"/>
            <a:ext cx="960120" cy="841248"/>
          </a:xfrm>
          <a:prstGeom prst="rect">
            <a:avLst/>
          </a:prstGeom>
          <a:solidFill>
            <a:srgbClr val="A21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4524208" y="11402568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SDG 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5584912" y="11393424"/>
            <a:ext cx="6812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Decent Work &amp; Growth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25584912" y="11768328"/>
            <a:ext cx="6812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6078"/>
                </a:solidFill>
              </a:rPr>
              <a:t>Optimized workforce allocation supports productive employment and inclusive economic growth.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4524208" y="12326112"/>
            <a:ext cx="960120" cy="841248"/>
          </a:xfrm>
          <a:prstGeom prst="rect">
            <a:avLst/>
          </a:prstGeom>
          <a:solidFill>
            <a:srgbClr val="FD6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4524208" y="12371832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SDG 9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5584912" y="12362688"/>
            <a:ext cx="6812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Industry &amp; Innovation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5584912" y="12737592"/>
            <a:ext cx="6812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6078"/>
                </a:solidFill>
              </a:rPr>
              <a:t>Introduces AI-driven methodology that transforms how organizations build and deploy technical teams.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4524208" y="13295376"/>
            <a:ext cx="960120" cy="841248"/>
          </a:xfrm>
          <a:prstGeom prst="rect">
            <a:avLst/>
          </a:prstGeom>
          <a:solidFill>
            <a:srgbClr val="C5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4524208" y="13341096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SDG 4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25584912" y="13331952"/>
            <a:ext cx="6812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Quality Education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5584912" y="13706856"/>
            <a:ext cx="6812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6078"/>
                </a:solidFill>
              </a:rPr>
              <a:t>Adaptive learning pathways accelerate skill development and close capability gaps for every individual.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4524208" y="14264640"/>
            <a:ext cx="960120" cy="841248"/>
          </a:xfrm>
          <a:prstGeom prst="rect">
            <a:avLst/>
          </a:prstGeom>
          <a:solidFill>
            <a:srgbClr val="DD1B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4524208" y="14310360"/>
            <a:ext cx="960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SDG 10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5584912" y="14301216"/>
            <a:ext cx="6812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Reduced Inequalities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25584912" y="14676120"/>
            <a:ext cx="6812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6078"/>
                </a:solidFill>
              </a:rPr>
              <a:t>Merit-based matching creates fair, inclusive opportunities regardless of background, title, or tenure.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414480" y="15371064"/>
            <a:ext cx="8138160" cy="502920"/>
          </a:xfrm>
          <a:prstGeom prst="rect">
            <a:avLst/>
          </a:prstGeom>
          <a:solidFill>
            <a:srgbClr val="446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24579072" y="15425928"/>
            <a:ext cx="7863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4524208" y="15965424"/>
            <a:ext cx="7936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6078"/>
                </a:solidFill>
              </a:rPr>
              <a:t>1.  Roboflow (n.d.). People counting CV software. roboflow.com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4524208" y="16331184"/>
            <a:ext cx="7936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6078"/>
                </a:solidFill>
              </a:rPr>
              <a:t>2.  McKinsey (2023). AI in workforce optimization. mckinsey.com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4524208" y="16696944"/>
            <a:ext cx="7936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6078"/>
                </a:solidFill>
              </a:rPr>
              <a:t>3.  HBR (2021). Reskilling in the age of automation. hbr.org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24524208" y="17062704"/>
            <a:ext cx="7936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6078"/>
                </a:solidFill>
              </a:rPr>
              <a:t>4.  Gartner (2023). Future of Work Trends. gartner.com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4524208" y="17428464"/>
            <a:ext cx="7936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6078"/>
                </a:solidFill>
              </a:rPr>
              <a:t>5.  UN (2015). Sustainable Development Goals. un.org/sdgs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4524208" y="17794224"/>
            <a:ext cx="7936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6078"/>
                </a:solidFill>
              </a:rPr>
              <a:t>6.  Teneo AI (2024). Intelligent matching systems. teneo.ai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4524208" y="18159984"/>
            <a:ext cx="7936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6078"/>
                </a:solidFill>
              </a:rPr>
              <a:t>7.  ResearchGate (2022). Competency-based talent management.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4524208" y="18525744"/>
            <a:ext cx="7936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6078"/>
                </a:solidFill>
              </a:rPr>
              <a:t>8.  IEEE (2023). Adaptive learning systems in enterprise.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4524208" y="18891504"/>
            <a:ext cx="7936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6078"/>
                </a:solidFill>
              </a:rPr>
              <a:t>9.  Fuel Innovation Orillia (2025). Bright Minds Challenge.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4524208" y="19257264"/>
            <a:ext cx="79369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46078"/>
                </a:solidFill>
              </a:rPr>
              <a:t>10.  Georgian College RISE (2026). Project submission guidelines.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0" y="20939760"/>
            <a:ext cx="3291840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0" y="20939760"/>
            <a:ext cx="3291840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57200" y="21076920"/>
            <a:ext cx="2743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FEE"/>
                </a:solidFill>
              </a:rPr>
              <a:t>Femachi Ajoku  &amp;  Peter Egessa   ·   Georgian College  ·  RISE 2026   ·   Intelligent Systems  ·  Workforce Development  ·  Adaptive Learning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57200" y="21534120"/>
            <a:ext cx="3200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7799"/>
                </a:solidFill>
              </a:rPr>
              <a:t>Certain technical components are proprietary and have been intentionally abstracted.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