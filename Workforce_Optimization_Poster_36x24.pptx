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3291840"/>
          </a:xfrm>
          <a:prstGeom prst="rect">
            <a:avLst/>
          </a:prstGeom>
          <a:solidFill>
            <a:srgbClr val="09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32918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3657600" cy="22860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486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GEORGIAN
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E"/>
                </a:solidFill>
              </a:rPr>
              <a:t>← upload logo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"/>
            <a:ext cx="2286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INTELLIGENT WORKFORCE OPTIMIZATION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2286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C4DE"/>
                </a:solidFill>
              </a:rPr>
              <a:t>Transforming how organizations understand talent, build teams, and develop expertise through intelligent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0" y="260604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286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7799"/>
                </a:solidFill>
              </a:rPr>
              <a:t>Intelligent Systems  ·  Workforce Development  ·  Adaptive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29280" y="365760"/>
            <a:ext cx="3931920" cy="22860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29280" y="365760"/>
            <a:ext cx="39319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6644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Presented by: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66440" y="86868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Femachi Ajoku
&amp; Peter Egessa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6644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Georgian College · RISE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0" y="2743200"/>
            <a:ext cx="3931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0" y="2788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RISE 2026  ·  Innovation Showcase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10058400" cy="17647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10058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0" y="3429000"/>
            <a:ext cx="10058400" cy="17647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3429000"/>
            <a:ext cx="10058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02800" y="3429000"/>
            <a:ext cx="10058400" cy="17647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0" y="3429000"/>
            <a:ext cx="10058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0" y="3429000"/>
            <a:ext cx="54864" cy="17647920"/>
          </a:xfrm>
          <a:prstGeom prst="rect">
            <a:avLst/>
          </a:prstGeom>
          <a:solidFill>
            <a:srgbClr val="20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1280" y="3429000"/>
            <a:ext cx="54864" cy="17647920"/>
          </a:xfrm>
          <a:prstGeom prst="rect">
            <a:avLst/>
          </a:prstGeom>
          <a:solidFill>
            <a:srgbClr val="20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5070"/>
                </a:solidFill>
              </a:rPr>
              <a:t>COLUMN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023360"/>
            <a:ext cx="9601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33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Organizations are flying blind on their own talent.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15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B0C4DE"/>
                </a:solidFill>
              </a:rPr>
              <a:t>Current methods rely on </a:t>
            </a:r>
            <a:r>
              <a:rPr sz="1800" b="1">
                <a:solidFill>
                  <a:srgbClr val="FF6B6B"/>
                </a:solidFill>
              </a:rPr>
              <a:t>STATIC</a:t>
            </a:r>
            <a:r>
              <a:rPr sz="1600">
                <a:solidFill>
                  <a:srgbClr val="B0C4DE"/>
                </a:solidFill>
              </a:rPr>
              <a:t> indicators: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00800"/>
            <a:ext cx="9601200" cy="10058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6400800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649224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📄  Résumés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90372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Past snapshots — not current capability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7543800"/>
            <a:ext cx="9601200" cy="10058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7543800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763524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🏷️  Job Titles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804672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Org hierarchy ≠ real skill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8686800"/>
            <a:ext cx="9601200" cy="10058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8686800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877824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🕐  Years of Exp.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9189720"/>
            <a:ext cx="9372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Time served ≠ expertise earned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9966960"/>
            <a:ext cx="9601200" cy="868680"/>
          </a:xfrm>
          <a:prstGeom prst="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9966960"/>
            <a:ext cx="96012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10058400"/>
            <a:ext cx="9464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Result:  Mismatched teams  ·  Generic training  ·  Underutilized talent  ·  Slower delivery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11155680"/>
            <a:ext cx="9601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112654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MARKET OPPORTUNITY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1887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 new category waiting to be built.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12664440"/>
            <a:ext cx="4389120" cy="219456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12664440"/>
            <a:ext cx="4389120" cy="64008"/>
          </a:xfrm>
          <a:prstGeom prst="rect">
            <a:avLst/>
          </a:prstGeom>
          <a:solidFill>
            <a:srgbClr val="00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2801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📘 LEARNING
PLATFORMS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136245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Teach skills in isolation.
No team awareness.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12664440"/>
            <a:ext cx="4389120" cy="219456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0" y="12664440"/>
            <a:ext cx="4389120" cy="64008"/>
          </a:xfrm>
          <a:prstGeom prst="rect">
            <a:avLst/>
          </a:prstGeom>
          <a:solidFill>
            <a:srgbClr val="00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06440" y="12801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TALENT
MANAGEMENT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136245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Assign roles by title.
No real skill visibility.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13167360"/>
            <a:ext cx="594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✕
GAP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15133320"/>
            <a:ext cx="9601200" cy="1097280"/>
          </a:xfrm>
          <a:prstGeom prst="rect">
            <a:avLst/>
          </a:prstGeom>
          <a:solidFill>
            <a:srgbClr val="0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" y="15133320"/>
            <a:ext cx="9601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15224760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🗡️  OUR SYSTEM BRIDGES BOTH WORLDS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15727680"/>
            <a:ext cx="9464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Applicable across industries — especially tech-driven environments.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58600" y="3657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5070"/>
                </a:solidFill>
              </a:rPr>
              <a:t>COLUMN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658600" y="4023360"/>
            <a:ext cx="9601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58600" y="4133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 CLOSED-LOOP INTELLIGENCE SYSTEM</a:t>
            </a:r>
          </a:p>
        </p:txBody>
      </p:sp>
      <p:sp>
        <p:nvSpPr>
          <p:cNvPr id="66" name="Oval 65"/>
          <p:cNvSpPr/>
          <p:nvPr/>
        </p:nvSpPr>
        <p:spPr>
          <a:xfrm>
            <a:off x="14173200" y="5394960"/>
            <a:ext cx="4572000" cy="4572000"/>
          </a:xfrm>
          <a:prstGeom prst="ellipse">
            <a:avLst/>
          </a:prstGeom>
          <a:noFill/>
          <a:ln w="25400">
            <a:solidFill>
              <a:srgbClr val="20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5544800" y="7086600"/>
            <a:ext cx="1828800" cy="1188720"/>
          </a:xfrm>
          <a:prstGeom prst="ellipse">
            <a:avLst/>
          </a:prstGeom>
          <a:solidFill>
            <a:srgbClr val="00304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590520" y="7223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↺ LOOP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224759" y="4754880"/>
            <a:ext cx="2468880" cy="14630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224759" y="4754880"/>
            <a:ext cx="24688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334488" y="4864608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01
ASSESS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334488" y="56235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Structured skill
evaluation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419319" y="6949440"/>
            <a:ext cx="2468880" cy="14630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419319" y="6949440"/>
            <a:ext cx="246888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529048" y="7059168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8CAE4"/>
                </a:solidFill>
              </a:rPr>
              <a:t>02
PROFILE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29048" y="78181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Dynamic capability
profiles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5224759" y="9144000"/>
            <a:ext cx="2468880" cy="14630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224759" y="9144000"/>
            <a:ext cx="2468880" cy="6400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34488" y="9253728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C7"/>
                </a:solidFill>
              </a:rPr>
              <a:t>03
MATCH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334488" y="10012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Optimized team
formation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030200" y="6949440"/>
            <a:ext cx="2468880" cy="14630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3030200" y="6949440"/>
            <a:ext cx="2468880" cy="64008"/>
          </a:xfrm>
          <a:prstGeom prst="rect">
            <a:avLst/>
          </a:prstGeom>
          <a:solidFill>
            <a:srgbClr val="02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139928" y="7059168"/>
            <a:ext cx="2240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77A8"/>
                </a:solidFill>
              </a:rPr>
              <a:t>04
DEVELOP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39928" y="78181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Personalized
learning paths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775936" y="6364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775936" y="85587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703551" y="85587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↙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703551" y="63642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58600" y="10789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↺  The loop self-improves — project performance feeds back into the assessment model.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658600" y="11567160"/>
            <a:ext cx="960120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658600" y="116768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0E0EF"/>
                </a:solidFill>
              </a:rPr>
              <a:t>METHODOLOGY — THREE PILLARS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58600" y="12252960"/>
            <a:ext cx="210312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658600" y="12252960"/>
            <a:ext cx="2103120" cy="6400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750040" y="1234440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</a:rPr>
              <a:t>INPUT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750040" y="12847320"/>
            <a:ext cx="1920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Raw data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07440" y="12710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4081760" y="12252960"/>
            <a:ext cx="210312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081760" y="12252960"/>
            <a:ext cx="21031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173200" y="1234440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173200" y="12847320"/>
            <a:ext cx="1920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Skill eval
&amp; scoring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230600" y="12710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504920" y="12252960"/>
            <a:ext cx="210312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504920" y="12252960"/>
            <a:ext cx="210312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596360" y="1234440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MATCHING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596360" y="12847320"/>
            <a:ext cx="1920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Alignment
algorithm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653760" y="127101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928080" y="12252960"/>
            <a:ext cx="2103120" cy="14630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8928080" y="12252960"/>
            <a:ext cx="21031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9019520" y="12344400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OUTPUT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019520" y="12847320"/>
            <a:ext cx="19202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Teams +
learning paths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658600" y="13944600"/>
            <a:ext cx="9601200" cy="1371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658600" y="13944600"/>
            <a:ext cx="7315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841480" y="14036040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◉  ASSESSMENT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841480" y="14538960"/>
            <a:ext cx="9372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Multi-dimensional skill evaluation across depth and breadth of technical knowledge.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658600" y="15453359"/>
            <a:ext cx="9601200" cy="1371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58600" y="15453359"/>
            <a:ext cx="73152" cy="1371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41480" y="15544800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</a:rPr>
              <a:t>⬡  MATCHING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841480" y="16047719"/>
            <a:ext cx="9372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Structured skill-to-requirement mapping for optimal team composition.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658600" y="16962119"/>
            <a:ext cx="9601200" cy="1371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658600" y="16962119"/>
            <a:ext cx="73152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841480" y="17053560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↗  LEARNING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841480" y="17556479"/>
            <a:ext cx="9372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Gaps identified → targeted content served → expertise accelerated over time.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658600" y="18562319"/>
            <a:ext cx="9601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658600" y="18672047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INNOVATION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658600" y="1924811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Static, isolated silos  →  Dynamic, data-driven decision-making across all domains simultaneously.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631400" y="3657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05070"/>
                </a:solidFill>
              </a:rPr>
              <a:t>COLUMN 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631400" y="4023360"/>
            <a:ext cx="9601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2631400" y="4133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BETTER OUTCOMES AT EVERY LEVEL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631400" y="4754880"/>
            <a:ext cx="9601200" cy="32918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2631400" y="4754880"/>
            <a:ext cx="96012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2768560" y="48920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🏢  ORGANIZATIONAL IMPACT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814280" y="557784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↑  Higher project success rates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2814280" y="617220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↓  Reduced time-to-expertise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814280" y="676656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Better utilization of existing talent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814280" y="736092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📊  Data-driven team formation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631400" y="8275320"/>
            <a:ext cx="9601200" cy="329184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2631400" y="8275320"/>
            <a:ext cx="960120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2768560" y="84124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👤  INDIVIDUAL IMPACT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2814280" y="909828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🎯  Meaningful, well-matched assignments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2814280" y="969264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📚  Targeted skill development paths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2814280" y="1028700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🚀  Faster growth toward expertise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2814280" y="10881360"/>
            <a:ext cx="9372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  Inclusive, merit-based opportunities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631400" y="11795760"/>
            <a:ext cx="9601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2631400" y="119054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SDG ALIGNMENT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631400" y="12527280"/>
            <a:ext cx="9601200" cy="2743200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2631400" y="12527280"/>
            <a:ext cx="9601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2722840" y="12755880"/>
            <a:ext cx="2286000" cy="2194560"/>
          </a:xfrm>
          <a:prstGeom prst="rect">
            <a:avLst/>
          </a:prstGeom>
          <a:solidFill>
            <a:srgbClr val="8F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2722840" y="12984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SDG
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722840" y="14218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Decent Work &amp;
Economic Growth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237440" y="12801600"/>
            <a:ext cx="6949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This system directly advances SDG 8:
productive employment, decent work,
and inclusive economic growth.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2631400" y="15499080"/>
            <a:ext cx="960120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2631400" y="1560880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0E0EF"/>
                </a:solidFill>
              </a:rPr>
              <a:t>SCAN TO LEARN MORE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631400" y="16230600"/>
            <a:ext cx="9601200" cy="32004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2768560" y="164134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2768560" y="16870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D1B2A"/>
                </a:solidFill>
              </a:rPr>
              <a:t>QR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768560" y="18059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← generate at
qr-code-generator.com
and replace this box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740360" y="1659636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Scan to learn more
or request a demo.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5740360" y="1760220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Link to project repo,
landing page, or
LinkedIn profiles.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0" y="21534120"/>
            <a:ext cx="32918400" cy="41148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0" y="21534120"/>
            <a:ext cx="32918400" cy="36576"/>
          </a:xfrm>
          <a:prstGeom prst="rect">
            <a:avLst/>
          </a:prstGeom>
          <a:solidFill>
            <a:srgbClr val="20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4400" y="21579840"/>
            <a:ext cx="3108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6078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