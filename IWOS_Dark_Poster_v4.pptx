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21945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0" cy="2834640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32918400" cy="91440"/>
          </a:xfrm>
          <a:prstGeom prst="rect">
            <a:avLst/>
          </a:prstGeom>
          <a:solidFill>
            <a:srgbClr val="2A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34640"/>
            <a:ext cx="32918400" cy="36576"/>
          </a:xfrm>
          <a:prstGeom prst="rect">
            <a:avLst/>
          </a:prstGeom>
          <a:solidFill>
            <a:srgbClr val="2A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347472"/>
            <a:ext cx="3474720" cy="2103120"/>
          </a:xfrm>
          <a:prstGeom prst="roundRect">
            <a:avLst/>
          </a:prstGeom>
          <a:solidFill>
            <a:srgbClr val="0E1F35"/>
          </a:solidFill>
          <a:ln w="19050">
            <a:solidFill>
              <a:srgbClr val="2A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ABFBF"/>
                </a:solidFill>
              </a:rPr>
              <a:t>GEORGIAN
COLLEGE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99AA"/>
                </a:solidFill>
              </a:rPr>
              <a:t>← replace with 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74320"/>
            <a:ext cx="24231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INTELLIGENT TALENT-TO-PROJECT ALIGNMENT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572768"/>
            <a:ext cx="2423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1">
                <a:solidFill>
                  <a:srgbClr val="2ABFBF"/>
                </a:solidFill>
              </a:rPr>
              <a:t>A Data-Driven Framework for Optimizing Technical Workforce Allocation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304288"/>
            <a:ext cx="2423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8D0DC"/>
                </a:solidFill>
              </a:rPr>
              <a:t>Femachi Ajoku  &amp;  Peter Egessa   ·   Georgian College   ·   RISE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12160" y="347472"/>
            <a:ext cx="3886200" cy="2103120"/>
          </a:xfrm>
          <a:prstGeom prst="roundRect">
            <a:avLst/>
          </a:prstGeom>
          <a:solidFill>
            <a:srgbClr val="0E1F35"/>
          </a:solidFill>
          <a:ln w="19050">
            <a:solidFill>
              <a:srgbClr val="2A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49320" y="475488"/>
            <a:ext cx="36118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ABFBF"/>
                </a:solidFill>
              </a:rPr>
              <a:t>RISE
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49320" y="1581912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8D0DC"/>
                </a:solidFill>
              </a:rPr>
              <a:t>Innovation Showcase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585448" y="2999232"/>
            <a:ext cx="36576" cy="18306288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969728" y="2999232"/>
            <a:ext cx="36576" cy="18306288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" y="3136392"/>
            <a:ext cx="11155680" cy="8961120"/>
          </a:xfrm>
          <a:prstGeom prst="roundRect">
            <a:avLst/>
          </a:prstGeom>
          <a:solidFill>
            <a:srgbClr val="0E1F35"/>
          </a:solidFill>
          <a:ln w="15240">
            <a:solidFill>
              <a:srgbClr val="2A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364992"/>
            <a:ext cx="10698480" cy="548640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364992"/>
            <a:ext cx="10698480" cy="36576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877056"/>
            <a:ext cx="10698480" cy="36576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410712"/>
            <a:ext cx="10469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⚠  SECTION 1 — PROBLEM STATEMENT  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0050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The Challenge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416552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Modern project environments rely on static assignment methods that fail to account for depth, adaptability, and real-world capability of technical talent.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40050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Key Issues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4416552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•  Skill matching is keyword-based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4837176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•  Allocation lacks adaptability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5257800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•  Misalignment → lower productivity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5678424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•  Higher project failure rates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6099048"/>
            <a:ext cx="3383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•  Underutilization of talent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40050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Industry Context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41655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Platforms like Jira and Asana support task tracking — not intelligent talent allocation. The gap is significant.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" y="12262104"/>
            <a:ext cx="11155680" cy="8778240"/>
          </a:xfrm>
          <a:prstGeom prst="roundRect">
            <a:avLst/>
          </a:prstGeom>
          <a:solidFill>
            <a:srgbClr val="0E1F35"/>
          </a:solidFill>
          <a:ln w="15240">
            <a:solidFill>
              <a:srgbClr val="2A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12490704"/>
            <a:ext cx="10698480" cy="548640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12490704"/>
            <a:ext cx="10698480" cy="36576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13002768"/>
            <a:ext cx="10698480" cy="36576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12536424"/>
            <a:ext cx="10469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🧩  SECTION 3 — PROPOSED SOLUTION  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13130784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Concept Overview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13130784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Core Idea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13542264"/>
            <a:ext cx="5257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We propose an intelligent allocation framework that analyzes technical capabilities and dynamically aligns individuals to project requirements.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13542264"/>
            <a:ext cx="5257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Instead of static assignment: the system continuously evaluates competency profiles and aligns them with evolving project needs.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14456664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" y="14868144"/>
            <a:ext cx="2286000" cy="1325880"/>
          </a:xfrm>
          <a:prstGeom prst="roundRect">
            <a:avLst/>
          </a:prstGeom>
          <a:solidFill>
            <a:srgbClr val="10253E"/>
          </a:solidFill>
          <a:ln w="19050">
            <a:solidFill>
              <a:srgbClr val="2A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1495958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ABFBF"/>
                </a:solidFill>
              </a:rPr>
              <a:t>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1539849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INPUT
LAYER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1587398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0DC"/>
                </a:solidFill>
              </a:rPr>
              <a:t>Raw skills &amp;
requirements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63240" y="15371064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ABFBF"/>
                </a:solidFill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429000" y="14868144"/>
            <a:ext cx="2286000" cy="1325880"/>
          </a:xfrm>
          <a:prstGeom prst="roundRect">
            <a:avLst/>
          </a:prstGeom>
          <a:solidFill>
            <a:srgbClr val="10253E"/>
          </a:solidFill>
          <a:ln w="19050">
            <a:solidFill>
              <a:srgbClr val="2A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29000" y="1495958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ABFBF"/>
                </a:solidFill>
              </a:rPr>
              <a:t>📋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1539849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COMPETENCY
EVAL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29000" y="1587398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0DC"/>
                </a:solidFill>
              </a:rPr>
              <a:t>Multi-factor
analysis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15000" y="15371064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ABFBF"/>
                </a:solidFill>
              </a:rPr>
              <a:t>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80760" y="14868144"/>
            <a:ext cx="2286000" cy="1325880"/>
          </a:xfrm>
          <a:prstGeom prst="roundRect">
            <a:avLst/>
          </a:prstGeom>
          <a:solidFill>
            <a:srgbClr val="10253E"/>
          </a:solidFill>
          <a:ln w="19050">
            <a:solidFill>
              <a:srgbClr val="2A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80760" y="1495958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ABFBF"/>
                </a:solidFill>
              </a:rPr>
              <a:t>⬡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80760" y="1539849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MATCHING
ENGINE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80760" y="1587398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0DC"/>
                </a:solidFill>
              </a:rPr>
              <a:t>Profile
alignment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66760" y="15371064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ABFBF"/>
                </a:solidFill>
              </a:rPr>
              <a:t>→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732520" y="14868144"/>
            <a:ext cx="2286000" cy="1325880"/>
          </a:xfrm>
          <a:prstGeom prst="roundRect">
            <a:avLst/>
          </a:prstGeom>
          <a:solidFill>
            <a:srgbClr val="10253E"/>
          </a:solidFill>
          <a:ln w="19050">
            <a:solidFill>
              <a:srgbClr val="2A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32520" y="1495958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ABFBF"/>
                </a:solidFill>
              </a:rPr>
              <a:t>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32520" y="1539849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ASSIGNMENT
OUTPUT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732520" y="1587398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0DC"/>
                </a:solidFill>
              </a:rPr>
              <a:t>Optimized
teams + paths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05840" y="16285464"/>
            <a:ext cx="9784080" cy="36576"/>
          </a:xfrm>
          <a:prstGeom prst="rect">
            <a:avLst/>
          </a:prstGeom>
          <a:solidFill>
            <a:srgbClr val="2A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05840" y="16285464"/>
            <a:ext cx="36576" cy="256032"/>
          </a:xfrm>
          <a:prstGeom prst="rect">
            <a:avLst/>
          </a:prstGeom>
          <a:solidFill>
            <a:srgbClr val="2A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753344" y="16285464"/>
            <a:ext cx="36576" cy="256032"/>
          </a:xfrm>
          <a:prstGeom prst="rect">
            <a:avLst/>
          </a:prstGeom>
          <a:solidFill>
            <a:srgbClr val="2A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51560" y="1628546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BFBF"/>
                </a:solidFill>
              </a:rPr>
              <a:t>↑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1628546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BFBF"/>
                </a:solidFill>
              </a:rPr>
              <a:t>↑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71600" y="16285464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ABFBF"/>
                </a:solidFill>
              </a:rPr>
              <a:t>↺  Feedback Loop — performance data continuously refines model parameters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16742664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Module Descriptions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17126712"/>
            <a:ext cx="25831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BFBF"/>
                </a:solidFill>
              </a:rPr>
              <a:t>📥  Input Layer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17474184"/>
            <a:ext cx="25831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</a:rPr>
              <a:t>Captures skills &amp; project requirements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23260" y="17126712"/>
            <a:ext cx="25831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BFBF"/>
                </a:solidFill>
              </a:rPr>
              <a:t>◉  Competency Eval.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23260" y="17474184"/>
            <a:ext cx="25831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</a:rPr>
              <a:t>Processes multi-factor capability indicators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97880" y="17126712"/>
            <a:ext cx="25831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BFBF"/>
                </a:solidFill>
              </a:rPr>
              <a:t>⬡  Matching Engine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97880" y="17474184"/>
            <a:ext cx="25831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</a:rPr>
              <a:t>Aligns individuals to tasks via profiles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572500" y="17126712"/>
            <a:ext cx="25831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BFBF"/>
                </a:solidFill>
              </a:rPr>
              <a:t>↺  Feedback Loop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72500" y="17474184"/>
            <a:ext cx="25831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99AA"/>
                </a:solidFill>
              </a:rPr>
              <a:t>Continuously improves alignment accuracy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20040" y="21204936"/>
            <a:ext cx="11155680" cy="-36576"/>
          </a:xfrm>
          <a:prstGeom prst="roundRect">
            <a:avLst/>
          </a:prstGeom>
          <a:solidFill>
            <a:srgbClr val="0E1F35"/>
          </a:solidFill>
          <a:ln w="15240">
            <a:solidFill>
              <a:srgbClr val="2A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48640" y="21433536"/>
            <a:ext cx="10698480" cy="548640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48640" y="21433536"/>
            <a:ext cx="10698480" cy="36576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48640" y="21945600"/>
            <a:ext cx="10698480" cy="36576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85800" y="21479256"/>
            <a:ext cx="10469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💡  SECTION 5 — INNOVATION  💡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48640" y="22073616"/>
            <a:ext cx="2628900" cy="384048"/>
          </a:xfrm>
          <a:prstGeom prst="rect">
            <a:avLst/>
          </a:prstGeom>
          <a:solidFill>
            <a:srgbClr val="0D3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177540" y="22073616"/>
            <a:ext cx="2628900" cy="384048"/>
          </a:xfrm>
          <a:prstGeom prst="rect">
            <a:avLst/>
          </a:prstGeom>
          <a:solidFill>
            <a:srgbClr val="0D3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21792" y="22110192"/>
            <a:ext cx="25374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Traditional Systems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250692" y="22110192"/>
            <a:ext cx="25374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BFBF"/>
                </a:solidFill>
              </a:rPr>
              <a:t>Proposed System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8640" y="22457664"/>
            <a:ext cx="5257800" cy="438912"/>
          </a:xfrm>
          <a:prstGeom prst="rect">
            <a:avLst/>
          </a:prstGeom>
          <a:solidFill>
            <a:srgbClr val="0E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48640" y="22457664"/>
            <a:ext cx="5257800" cy="9144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03504" y="22521672"/>
            <a:ext cx="25557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0DC"/>
                </a:solidFill>
              </a:rPr>
              <a:t>🔴 Static assignment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32404" y="22521672"/>
            <a:ext cx="25557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BFBF"/>
                </a:solidFill>
              </a:rPr>
              <a:t>🟢 Dynamic alignment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48640" y="22896576"/>
            <a:ext cx="5257800" cy="438912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548640" y="22896576"/>
            <a:ext cx="5257800" cy="9144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03504" y="22960584"/>
            <a:ext cx="25557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0DC"/>
                </a:solidFill>
              </a:rPr>
              <a:t>🔴 Keyword matching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232404" y="22960584"/>
            <a:ext cx="25557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BFBF"/>
                </a:solidFill>
              </a:rPr>
              <a:t>🟢 Competency-based eval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48640" y="23335488"/>
            <a:ext cx="5257800" cy="438912"/>
          </a:xfrm>
          <a:prstGeom prst="rect">
            <a:avLst/>
          </a:prstGeom>
          <a:solidFill>
            <a:srgbClr val="0E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48640" y="23335488"/>
            <a:ext cx="5257800" cy="9144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03504" y="23399496"/>
            <a:ext cx="25557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0DC"/>
                </a:solidFill>
              </a:rPr>
              <a:t>🔴 Limited adaptability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232404" y="23399496"/>
            <a:ext cx="25557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BFBF"/>
                </a:solidFill>
              </a:rPr>
              <a:t>🟢 Continuous optimization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48640" y="23774400"/>
            <a:ext cx="5257800" cy="438912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48640" y="23774400"/>
            <a:ext cx="5257800" cy="9144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03504" y="23838408"/>
            <a:ext cx="25557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0DC"/>
                </a:solidFill>
              </a:rPr>
              <a:t>🔴 Manual decisions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232404" y="23838408"/>
            <a:ext cx="25557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BFBF"/>
                </a:solidFill>
              </a:rPr>
              <a:t>🟢 Data-driven framework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989320" y="22073616"/>
            <a:ext cx="2628900" cy="384048"/>
          </a:xfrm>
          <a:prstGeom prst="rect">
            <a:avLst/>
          </a:prstGeom>
          <a:solidFill>
            <a:srgbClr val="0D3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18220" y="22073616"/>
            <a:ext cx="2628900" cy="384048"/>
          </a:xfrm>
          <a:prstGeom prst="rect">
            <a:avLst/>
          </a:prstGeom>
          <a:solidFill>
            <a:srgbClr val="0D3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062472" y="22110192"/>
            <a:ext cx="25374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Old Approach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691372" y="22110192"/>
            <a:ext cx="25374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BFBF"/>
                </a:solidFill>
              </a:rPr>
              <a:t>New Approach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989320" y="22457664"/>
            <a:ext cx="5257800" cy="438912"/>
          </a:xfrm>
          <a:prstGeom prst="rect">
            <a:avLst/>
          </a:prstGeom>
          <a:solidFill>
            <a:srgbClr val="0E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989320" y="22457664"/>
            <a:ext cx="5257800" cy="9144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044184" y="22521672"/>
            <a:ext cx="25557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0DC"/>
                </a:solidFill>
              </a:rPr>
              <a:t>🔴 Generic training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673084" y="22521672"/>
            <a:ext cx="25557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BFBF"/>
                </a:solidFill>
              </a:rPr>
              <a:t>🟢 Personalized pathways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989320" y="22896576"/>
            <a:ext cx="5257800" cy="438912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989320" y="22896576"/>
            <a:ext cx="5257800" cy="9144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044184" y="22960584"/>
            <a:ext cx="25557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0DC"/>
                </a:solidFill>
              </a:rPr>
              <a:t>🔴 Title-based roles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673084" y="22960584"/>
            <a:ext cx="25557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BFBF"/>
                </a:solidFill>
              </a:rPr>
              <a:t>🟢 Skill-based roles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989320" y="23335488"/>
            <a:ext cx="5257800" cy="438912"/>
          </a:xfrm>
          <a:prstGeom prst="rect">
            <a:avLst/>
          </a:prstGeom>
          <a:solidFill>
            <a:srgbClr val="0E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989320" y="23335488"/>
            <a:ext cx="5257800" cy="9144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044184" y="23399496"/>
            <a:ext cx="25557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0DC"/>
                </a:solidFill>
              </a:rPr>
              <a:t>🔴 No feedback loop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673084" y="23399496"/>
            <a:ext cx="25557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BFBF"/>
                </a:solidFill>
              </a:rPr>
              <a:t>🟢 Iterative refinement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989320" y="23774400"/>
            <a:ext cx="5257800" cy="438912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989320" y="23774400"/>
            <a:ext cx="5257800" cy="9144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044184" y="23838408"/>
            <a:ext cx="25557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0DC"/>
                </a:solidFill>
              </a:rPr>
              <a:t>🔴 Siloed systems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673084" y="23838408"/>
            <a:ext cx="25557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BFBF"/>
                </a:solidFill>
              </a:rPr>
              <a:t>🟢 Unified intelligence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48640" y="2439619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Key Innovations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11480" y="24780240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•  Dynamic responsiveness to evolving project complexity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11480" y="25200864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•  Unified evaluation, assignment, and adaptive training system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11704320" y="3136392"/>
            <a:ext cx="11155680" cy="5303520"/>
          </a:xfrm>
          <a:prstGeom prst="roundRect">
            <a:avLst/>
          </a:prstGeom>
          <a:solidFill>
            <a:srgbClr val="0E1F35"/>
          </a:solidFill>
          <a:ln w="15240">
            <a:solidFill>
              <a:srgbClr val="2A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1932920" y="3364992"/>
            <a:ext cx="10698480" cy="548640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1932920" y="3364992"/>
            <a:ext cx="10698480" cy="36576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1932920" y="3877056"/>
            <a:ext cx="10698480" cy="36576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2070080" y="3410712"/>
            <a:ext cx="10469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⚙  SECTION 2 — OBJECTIVES  ⚙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1932920" y="4005072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Project Goals</a:t>
            </a:r>
          </a:p>
        </p:txBody>
      </p:sp>
      <p:sp>
        <p:nvSpPr>
          <p:cNvPr id="129" name="Oval 128"/>
          <p:cNvSpPr/>
          <p:nvPr/>
        </p:nvSpPr>
        <p:spPr>
          <a:xfrm>
            <a:off x="11932920" y="4498848"/>
            <a:ext cx="274320" cy="274320"/>
          </a:xfrm>
          <a:prstGeom prst="ellipse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1932920" y="44988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🔍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2316968" y="4443984"/>
            <a:ext cx="10287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DC"/>
                </a:solidFill>
              </a:rPr>
              <a:t>Develop a system that evaluates multi-dimensional technical competencies</a:t>
            </a:r>
          </a:p>
        </p:txBody>
      </p:sp>
      <p:sp>
        <p:nvSpPr>
          <p:cNvPr id="132" name="Oval 131"/>
          <p:cNvSpPr/>
          <p:nvPr/>
        </p:nvSpPr>
        <p:spPr>
          <a:xfrm>
            <a:off x="11932920" y="4956048"/>
            <a:ext cx="274320" cy="274320"/>
          </a:xfrm>
          <a:prstGeom prst="ellipse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1932920" y="49560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👥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2316968" y="4901184"/>
            <a:ext cx="10287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DC"/>
                </a:solidFill>
              </a:rPr>
              <a:t>Enable adaptive matching between individuals and project requirements</a:t>
            </a:r>
          </a:p>
        </p:txBody>
      </p:sp>
      <p:sp>
        <p:nvSpPr>
          <p:cNvPr id="135" name="Oval 134"/>
          <p:cNvSpPr/>
          <p:nvPr/>
        </p:nvSpPr>
        <p:spPr>
          <a:xfrm>
            <a:off x="11932920" y="5413248"/>
            <a:ext cx="274320" cy="274320"/>
          </a:xfrm>
          <a:prstGeom prst="ellipse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1932920" y="54132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2316968" y="5358384"/>
            <a:ext cx="10287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DC"/>
                </a:solidFill>
              </a:rPr>
              <a:t>Improve efficiency, accuracy, and scalability in team formation</a:t>
            </a:r>
          </a:p>
        </p:txBody>
      </p:sp>
      <p:sp>
        <p:nvSpPr>
          <p:cNvPr id="138" name="Oval 137"/>
          <p:cNvSpPr/>
          <p:nvPr/>
        </p:nvSpPr>
        <p:spPr>
          <a:xfrm>
            <a:off x="11932920" y="5870448"/>
            <a:ext cx="274320" cy="274320"/>
          </a:xfrm>
          <a:prstGeom prst="ellipse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1932920" y="58704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2316968" y="5815584"/>
            <a:ext cx="10287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DC"/>
                </a:solidFill>
              </a:rPr>
              <a:t>Introduce a data-informed decision framework for project allocation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1704320" y="8604504"/>
            <a:ext cx="11155680" cy="7040880"/>
          </a:xfrm>
          <a:prstGeom prst="roundRect">
            <a:avLst/>
          </a:prstGeom>
          <a:solidFill>
            <a:srgbClr val="0E1F35"/>
          </a:solidFill>
          <a:ln w="15240">
            <a:solidFill>
              <a:srgbClr val="2A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1932920" y="8833104"/>
            <a:ext cx="10698480" cy="548640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1932920" y="8833104"/>
            <a:ext cx="10698480" cy="36576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1932920" y="9345168"/>
            <a:ext cx="10698480" cy="36576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2070080" y="8878824"/>
            <a:ext cx="10469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🔧  SECTION 4 — METHODOLOGY  🔧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1932920" y="9473184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Approach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1932920" y="9884664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A structured, multi-factor evaluation framework assesses alignment between individuals and project requirements, using iterative feedback to continuously improve matching accuracy.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1932920" y="10799064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Methodological Elements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11932920" y="11210544"/>
            <a:ext cx="10698480" cy="658368"/>
          </a:xfrm>
          <a:prstGeom prst="roundRect">
            <a:avLst/>
          </a:prstGeom>
          <a:solidFill>
            <a:srgbClr val="10253E"/>
          </a:solidFill>
          <a:ln w="12700">
            <a:solidFill>
              <a:srgbClr val="1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2070080" y="11356848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◉  Multi-dimensional competency assessment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1932920" y="11987784"/>
            <a:ext cx="10698480" cy="658368"/>
          </a:xfrm>
          <a:prstGeom prst="roundRect">
            <a:avLst/>
          </a:prstGeom>
          <a:solidFill>
            <a:srgbClr val="10253E"/>
          </a:solidFill>
          <a:ln w="12700">
            <a:solidFill>
              <a:srgbClr val="1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2070080" y="12134088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🔍  Pattern-based evaluation of skill relevance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11932920" y="12765024"/>
            <a:ext cx="10698480" cy="658368"/>
          </a:xfrm>
          <a:prstGeom prst="roundRect">
            <a:avLst/>
          </a:prstGeom>
          <a:solidFill>
            <a:srgbClr val="10253E"/>
          </a:solidFill>
          <a:ln w="12700">
            <a:solidFill>
              <a:srgbClr val="1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2070080" y="12911328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🎯  Adaptive matching based on project context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11932920" y="13542264"/>
            <a:ext cx="10698480" cy="658368"/>
          </a:xfrm>
          <a:prstGeom prst="roundRect">
            <a:avLst/>
          </a:prstGeom>
          <a:solidFill>
            <a:srgbClr val="10253E"/>
          </a:solidFill>
          <a:ln w="12700">
            <a:solidFill>
              <a:srgbClr val="1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2070080" y="13688568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↺  Iterative refinement via feedback integration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1932920" y="14410944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Rigor &amp; Feasibility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2024360" y="14822424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ABFBF"/>
                </a:solidFill>
              </a:rPr>
              <a:t>✓  Designed for scalability across teams &amp; organizations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2024360" y="15224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ABFBF"/>
                </a:solidFill>
              </a:rPr>
              <a:t>✓  Compatible with existing project management ecosystems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2024360" y="15627096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ABFBF"/>
                </a:solidFill>
              </a:rPr>
              <a:t>✓  Supports real-time decision-making environments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11932920" y="16120872"/>
            <a:ext cx="10698480" cy="685800"/>
          </a:xfrm>
          <a:prstGeom prst="roundRect">
            <a:avLst/>
          </a:prstGeom>
          <a:solidFill>
            <a:srgbClr val="0D3B4B"/>
          </a:solidFill>
          <a:ln w="15240">
            <a:solidFill>
              <a:srgbClr val="E8B9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2070080" y="16230600"/>
            <a:ext cx="10469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8B931"/>
                </a:solidFill>
              </a:rPr>
              <a:t>🔒  Certain technical components are proprietary and have been intentionally abstracted.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11704320" y="15809976"/>
            <a:ext cx="11155680" cy="5358384"/>
          </a:xfrm>
          <a:prstGeom prst="roundRect">
            <a:avLst/>
          </a:prstGeom>
          <a:solidFill>
            <a:srgbClr val="0E1F35"/>
          </a:solidFill>
          <a:ln w="15240">
            <a:solidFill>
              <a:srgbClr val="2A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11932920" y="16038576"/>
            <a:ext cx="10698480" cy="548640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11932920" y="16038576"/>
            <a:ext cx="10698480" cy="36576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11932920" y="16550640"/>
            <a:ext cx="10698480" cy="36576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2070080" y="16084296"/>
            <a:ext cx="10469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🌍  SECTION 6 — REAL-WORLD IMPACT  🌍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1932920" y="16678656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Expected Outcomes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1932920" y="17090136"/>
            <a:ext cx="3474720" cy="1234440"/>
          </a:xfrm>
          <a:prstGeom prst="roundRect">
            <a:avLst/>
          </a:prstGeom>
          <a:solidFill>
            <a:srgbClr val="10253E"/>
          </a:solidFill>
          <a:ln w="19050">
            <a:solidFill>
              <a:srgbClr val="2A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1932920" y="1713585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ABFBF"/>
                </a:solidFill>
              </a:rPr>
              <a:t>📉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1932920" y="1762048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Reduced Team
Formation Time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5425928" y="17593056"/>
            <a:ext cx="137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ABFBF"/>
                </a:solidFill>
              </a:rPr>
              <a:t>→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15544800" y="17090136"/>
            <a:ext cx="3474720" cy="1234440"/>
          </a:xfrm>
          <a:prstGeom prst="roundRect">
            <a:avLst/>
          </a:prstGeom>
          <a:solidFill>
            <a:srgbClr val="10253E"/>
          </a:solidFill>
          <a:ln w="19050">
            <a:solidFill>
              <a:srgbClr val="1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5544800" y="1713585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8A8A"/>
                </a:solidFill>
              </a:rPr>
              <a:t>⚡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5544800" y="1762048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Enhanced Workforce
Utilization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9037808" y="17593056"/>
            <a:ext cx="137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ABFBF"/>
                </a:solidFill>
              </a:rPr>
              <a:t>→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19156680" y="17090136"/>
            <a:ext cx="3474720" cy="1234440"/>
          </a:xfrm>
          <a:prstGeom prst="roundRect">
            <a:avLst/>
          </a:prstGeom>
          <a:solidFill>
            <a:srgbClr val="10253E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9156680" y="1713585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4CAF50"/>
                </a:solidFill>
              </a:rPr>
              <a:t>📈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9156680" y="17620488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Improved Project
Success Rates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1932920" y="18507456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Scalability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1795760" y="18891504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•  Software engineering teams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1795760" y="19312128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•  IT service environments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1795760" y="19732752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•  Technical training platforms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1932920" y="20244816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Societal Relevance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11932920" y="20628864"/>
            <a:ext cx="2571750" cy="1005840"/>
          </a:xfrm>
          <a:prstGeom prst="roundRect">
            <a:avLst/>
          </a:prstGeom>
          <a:solidFill>
            <a:srgbClr val="A21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1932920" y="20702016"/>
            <a:ext cx="257175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SDG 8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1932920" y="21159216"/>
            <a:ext cx="257175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Decent Work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14641830" y="20628864"/>
            <a:ext cx="2571750" cy="1005840"/>
          </a:xfrm>
          <a:prstGeom prst="roundRect">
            <a:avLst/>
          </a:prstGeom>
          <a:solidFill>
            <a:srgbClr val="FD6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14641830" y="20702016"/>
            <a:ext cx="257175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SDG 9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4641830" y="21159216"/>
            <a:ext cx="257175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Innovation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17350740" y="20628864"/>
            <a:ext cx="2571750" cy="1005840"/>
          </a:xfrm>
          <a:prstGeom prst="roundRect">
            <a:avLst/>
          </a:prstGeom>
          <a:solidFill>
            <a:srgbClr val="C5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7350740" y="20702016"/>
            <a:ext cx="257175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SDG 4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7350740" y="21159216"/>
            <a:ext cx="257175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Education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20059650" y="20628864"/>
            <a:ext cx="2571750" cy="1005840"/>
          </a:xfrm>
          <a:prstGeom prst="roundRect">
            <a:avLst/>
          </a:prstGeom>
          <a:solidFill>
            <a:srgbClr val="DD1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20059650" y="20702016"/>
            <a:ext cx="257175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SDG 10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20059650" y="21159216"/>
            <a:ext cx="257175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Equality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23088600" y="3136392"/>
            <a:ext cx="10058400" cy="9692640"/>
          </a:xfrm>
          <a:prstGeom prst="roundRect">
            <a:avLst/>
          </a:prstGeom>
          <a:solidFill>
            <a:srgbClr val="0E1F35"/>
          </a:solidFill>
          <a:ln w="15240">
            <a:solidFill>
              <a:srgbClr val="2A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23317200" y="3364992"/>
            <a:ext cx="9601200" cy="548640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23317200" y="3364992"/>
            <a:ext cx="9601200" cy="36576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23317200" y="3877056"/>
            <a:ext cx="9601200" cy="36576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23454360" y="3410712"/>
            <a:ext cx="9372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🚀  SECTION 7 — ENTREPRENEURIAL THINKING  🚀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23317200" y="400507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Problem-Solving Approach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23180040" y="4416552"/>
            <a:ext cx="9966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→  Identifies inefficiencies in workforce allocation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23180040" y="4837176"/>
            <a:ext cx="9966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→  Applies structured analytical thinking to redesign assignment processes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23180040" y="5257800"/>
            <a:ext cx="9966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0DC"/>
                </a:solidFill>
              </a:rPr>
              <a:t>→  Bridges gap between technical capability and project demand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23317200" y="5861304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Market Opportunity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23317200" y="6272784"/>
            <a:ext cx="9601200" cy="822960"/>
          </a:xfrm>
          <a:prstGeom prst="roundRect">
            <a:avLst/>
          </a:prstGeom>
          <a:solidFill>
            <a:srgbClr val="10253E"/>
          </a:solidFill>
          <a:ln w="12700">
            <a:solidFill>
              <a:srgbClr val="1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23454360" y="6455664"/>
            <a:ext cx="9372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DC"/>
                </a:solidFill>
              </a:rPr>
              <a:t>📈  Growing demand for intelligent workforce systems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23317200" y="7232904"/>
            <a:ext cx="9601200" cy="822960"/>
          </a:xfrm>
          <a:prstGeom prst="roundRect">
            <a:avLst/>
          </a:prstGeom>
          <a:solidFill>
            <a:srgbClr val="10253E"/>
          </a:solidFill>
          <a:ln w="12700">
            <a:solidFill>
              <a:srgbClr val="1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23454360" y="7415784"/>
            <a:ext cx="9372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DC"/>
                </a:solidFill>
              </a:rPr>
              <a:t>🔌  Potential integration into enterprise platforms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23317200" y="8193024"/>
            <a:ext cx="9601200" cy="822960"/>
          </a:xfrm>
          <a:prstGeom prst="roundRect">
            <a:avLst/>
          </a:prstGeom>
          <a:solidFill>
            <a:srgbClr val="10253E"/>
          </a:solidFill>
          <a:ln w="12700">
            <a:solidFill>
              <a:srgbClr val="1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23454360" y="8375904"/>
            <a:ext cx="9372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DC"/>
                </a:solidFill>
              </a:rPr>
              <a:t>☁️  Scalable SaaS-based deployment model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23317200" y="9290304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Analogies to Existing Systems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23317200" y="9701784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D0DC"/>
                </a:solidFill>
              </a:rPr>
              <a:t>This system bridges the capability gap left open between talent management platforms and learning platforms — creating a new category of intelligent workforce optimization tools.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31501080" y="10479024"/>
            <a:ext cx="109728" cy="457200"/>
          </a:xfrm>
          <a:prstGeom prst="roundRect">
            <a:avLst/>
          </a:prstGeom>
          <a:solidFill>
            <a:srgbClr val="2A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ounded Rectangle 215"/>
          <p:cNvSpPr/>
          <p:nvPr/>
        </p:nvSpPr>
        <p:spPr>
          <a:xfrm>
            <a:off x="31958280" y="10369296"/>
            <a:ext cx="109728" cy="548640"/>
          </a:xfrm>
          <a:prstGeom prst="roundRect">
            <a:avLst/>
          </a:prstGeom>
          <a:solidFill>
            <a:srgbClr val="2A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ounded Rectangle 216"/>
          <p:cNvSpPr/>
          <p:nvPr/>
        </p:nvSpPr>
        <p:spPr>
          <a:xfrm>
            <a:off x="32415480" y="10259568"/>
            <a:ext cx="109728" cy="640080"/>
          </a:xfrm>
          <a:prstGeom prst="roundRect">
            <a:avLst/>
          </a:prstGeom>
          <a:solidFill>
            <a:srgbClr val="2A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31135320" y="9656064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2ABFBF"/>
                </a:solidFill>
              </a:rPr>
              <a:t>🚀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23088600" y="12993624"/>
            <a:ext cx="10058400" cy="5029200"/>
          </a:xfrm>
          <a:prstGeom prst="roundRect">
            <a:avLst/>
          </a:prstGeom>
          <a:solidFill>
            <a:srgbClr val="0E1F35"/>
          </a:solidFill>
          <a:ln w="15240">
            <a:solidFill>
              <a:srgbClr val="2A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23317200" y="13222224"/>
            <a:ext cx="9601200" cy="548640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23317200" y="13222224"/>
            <a:ext cx="9601200" cy="36576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23317200" y="13734288"/>
            <a:ext cx="9601200" cy="36576"/>
          </a:xfrm>
          <a:prstGeom prst="rect">
            <a:avLst/>
          </a:prstGeom>
          <a:solidFill>
            <a:srgbClr val="1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23454360" y="13267944"/>
            <a:ext cx="9372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🎯  SECTION 8 — FUTURE WORK  🎯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23317200" y="13862304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225" name="Oval 224"/>
          <p:cNvSpPr/>
          <p:nvPr/>
        </p:nvSpPr>
        <p:spPr>
          <a:xfrm>
            <a:off x="23317200" y="14365224"/>
            <a:ext cx="274320" cy="274320"/>
          </a:xfrm>
          <a:prstGeom prst="ellipse">
            <a:avLst/>
          </a:prstGeom>
          <a:solidFill>
            <a:srgbClr val="2A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23317200" y="1436522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628"/>
                </a:solidFill>
              </a:rPr>
              <a:t>1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23701248" y="14301216"/>
            <a:ext cx="9189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DC"/>
                </a:solidFill>
              </a:rPr>
              <a:t>Refinement of proprietary evaluation models</a:t>
            </a:r>
          </a:p>
        </p:txBody>
      </p:sp>
      <p:sp>
        <p:nvSpPr>
          <p:cNvPr id="228" name="Oval 227"/>
          <p:cNvSpPr/>
          <p:nvPr/>
        </p:nvSpPr>
        <p:spPr>
          <a:xfrm>
            <a:off x="23317200" y="14859000"/>
            <a:ext cx="274320" cy="274320"/>
          </a:xfrm>
          <a:prstGeom prst="ellipse">
            <a:avLst/>
          </a:prstGeom>
          <a:solidFill>
            <a:srgbClr val="2A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23317200" y="14859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628"/>
                </a:solidFill>
              </a:rPr>
              <a:t>2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23701248" y="14794992"/>
            <a:ext cx="9189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DC"/>
                </a:solidFill>
              </a:rPr>
              <a:t>Expansion through real-world testing &amp; validation</a:t>
            </a:r>
          </a:p>
        </p:txBody>
      </p:sp>
      <p:sp>
        <p:nvSpPr>
          <p:cNvPr id="231" name="Oval 230"/>
          <p:cNvSpPr/>
          <p:nvPr/>
        </p:nvSpPr>
        <p:spPr>
          <a:xfrm>
            <a:off x="23317200" y="15352776"/>
            <a:ext cx="274320" cy="274320"/>
          </a:xfrm>
          <a:prstGeom prst="ellipse">
            <a:avLst/>
          </a:prstGeom>
          <a:solidFill>
            <a:srgbClr val="2A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23317200" y="1535277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628"/>
                </a:solidFill>
              </a:rPr>
              <a:t>3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23701248" y="15288768"/>
            <a:ext cx="9189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DC"/>
                </a:solidFill>
              </a:rPr>
              <a:t>Integration with existing enterprise tools</a:t>
            </a:r>
          </a:p>
        </p:txBody>
      </p:sp>
      <p:sp>
        <p:nvSpPr>
          <p:cNvPr id="234" name="Oval 233"/>
          <p:cNvSpPr/>
          <p:nvPr/>
        </p:nvSpPr>
        <p:spPr>
          <a:xfrm>
            <a:off x="23317200" y="15846552"/>
            <a:ext cx="274320" cy="274320"/>
          </a:xfrm>
          <a:prstGeom prst="ellipse">
            <a:avLst/>
          </a:prstGeom>
          <a:solidFill>
            <a:srgbClr val="2A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23317200" y="158465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628"/>
                </a:solidFill>
              </a:rPr>
              <a:t>4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3701248" y="15782544"/>
            <a:ext cx="9189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0DC"/>
                </a:solidFill>
              </a:rPr>
              <a:t>Performance optimization using live datasets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23088600" y="18187416"/>
            <a:ext cx="10058400" cy="2980944"/>
          </a:xfrm>
          <a:prstGeom prst="roundRect">
            <a:avLst/>
          </a:prstGeom>
          <a:solidFill>
            <a:srgbClr val="0E1F35"/>
          </a:solidFill>
          <a:ln w="15240">
            <a:solidFill>
              <a:srgbClr val="2A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23317200" y="18416016"/>
            <a:ext cx="9601200" cy="548640"/>
          </a:xfrm>
          <a:prstGeom prst="rect">
            <a:avLst/>
          </a:prstGeom>
          <a:solidFill>
            <a:srgbClr val="10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23317200" y="18416016"/>
            <a:ext cx="9601200" cy="3657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23317200" y="18928080"/>
            <a:ext cx="9601200" cy="36576"/>
          </a:xfrm>
          <a:prstGeom prst="rect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23454360" y="18461736"/>
            <a:ext cx="9372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📚  REFERENCES  📚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23317200" y="19056096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99AA"/>
                </a:solidFill>
              </a:rPr>
              <a:t>1. Roboflow (n.d.). People counting CV software. roboflow.com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23317200" y="19421856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99AA"/>
                </a:solidFill>
              </a:rPr>
              <a:t>2. McKinsey &amp; Co. (2023). AI in workforce optimization. mckinsey.com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23317200" y="19787616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99AA"/>
                </a:solidFill>
              </a:rPr>
              <a:t>3. HBR (2021). Reskilling in the age of automation. hbr.org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23317200" y="20153376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99AA"/>
                </a:solidFill>
              </a:rPr>
              <a:t>4. Gartner (2023). Future of Work Trends. gartner.com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23317200" y="20519136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99AA"/>
                </a:solidFill>
              </a:rPr>
              <a:t>5. UN (2015). Sustainable Development Goals. un.org/sdgs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23317200" y="20884896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99AA"/>
                </a:solidFill>
              </a:rPr>
              <a:t>6. Teneo AI (2024). Intelligent matching systems. teneo.ai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23317200" y="21250656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99AA"/>
                </a:solidFill>
              </a:rPr>
              <a:t>7. ResearchGate (2022). Competency-based talent management.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23317200" y="21616416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99AA"/>
                </a:solidFill>
              </a:rPr>
              <a:t>8. IEEE (2023). Adaptive learning systems in enterprise.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23317200" y="21982176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99AA"/>
                </a:solidFill>
              </a:rPr>
              <a:t>9. Fuel Innovation Orillia (2025). Bright Minds Challenge.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23317200" y="22347936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899AA"/>
                </a:solidFill>
              </a:rPr>
              <a:t>10. Georgian College RISE (2026). Project submission guidelines.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0" y="21305520"/>
            <a:ext cx="32918400" cy="640080"/>
          </a:xfrm>
          <a:prstGeom prst="rect">
            <a:avLst/>
          </a:prstGeom>
          <a:solidFill>
            <a:srgbClr val="0F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0" y="21305520"/>
            <a:ext cx="32918400" cy="73152"/>
          </a:xfrm>
          <a:prstGeom prst="rect">
            <a:avLst/>
          </a:prstGeom>
          <a:solidFill>
            <a:srgbClr val="2A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457200" y="21415248"/>
            <a:ext cx="2743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0DC"/>
                </a:solidFill>
              </a:rPr>
              <a:t>Femachi Ajoku  &amp;  Peter Egessa   ·   Georgian College  ·  RISE 2026   ·   Intelligent Systems  ·  Workforce Development  ·  Adaptive Learning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457200" y="21781008"/>
            <a:ext cx="3200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99AA"/>
                </a:solidFill>
              </a:rPr>
              <a:t>Certain technical components are proprietary and have been intentionally abstracted.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